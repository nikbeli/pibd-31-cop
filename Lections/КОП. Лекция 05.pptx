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56" r:id="rId2"/>
    <p:sldId id="269" r:id="rId3"/>
    <p:sldId id="271" r:id="rId4"/>
    <p:sldId id="318" r:id="rId5"/>
    <p:sldId id="320" r:id="rId6"/>
    <p:sldId id="317" r:id="rId7"/>
    <p:sldId id="321" r:id="rId8"/>
    <p:sldId id="322" r:id="rId9"/>
    <p:sldId id="323" r:id="rId10"/>
    <p:sldId id="342" r:id="rId11"/>
    <p:sldId id="324" r:id="rId12"/>
    <p:sldId id="326" r:id="rId13"/>
    <p:sldId id="325" r:id="rId14"/>
    <p:sldId id="327" r:id="rId15"/>
    <p:sldId id="343" r:id="rId16"/>
    <p:sldId id="328" r:id="rId17"/>
    <p:sldId id="329" r:id="rId18"/>
    <p:sldId id="330" r:id="rId19"/>
    <p:sldId id="344" r:id="rId20"/>
    <p:sldId id="331" r:id="rId21"/>
    <p:sldId id="332" r:id="rId22"/>
    <p:sldId id="333" r:id="rId23"/>
    <p:sldId id="334" r:id="rId24"/>
    <p:sldId id="345" r:id="rId25"/>
    <p:sldId id="335" r:id="rId26"/>
    <p:sldId id="336" r:id="rId27"/>
    <p:sldId id="337" r:id="rId28"/>
    <p:sldId id="346" r:id="rId29"/>
    <p:sldId id="338" r:id="rId30"/>
    <p:sldId id="339" r:id="rId31"/>
    <p:sldId id="340" r:id="rId32"/>
    <p:sldId id="341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384" r:id="rId56"/>
    <p:sldId id="385" r:id="rId57"/>
    <p:sldId id="369" r:id="rId58"/>
    <p:sldId id="370" r:id="rId59"/>
    <p:sldId id="371" r:id="rId60"/>
    <p:sldId id="372" r:id="rId61"/>
    <p:sldId id="373" r:id="rId62"/>
    <p:sldId id="374" r:id="rId63"/>
    <p:sldId id="375" r:id="rId64"/>
    <p:sldId id="376" r:id="rId65"/>
    <p:sldId id="377" r:id="rId66"/>
    <p:sldId id="378" r:id="rId67"/>
    <p:sldId id="379" r:id="rId68"/>
    <p:sldId id="380" r:id="rId69"/>
    <p:sldId id="381" r:id="rId70"/>
    <p:sldId id="382" r:id="rId71"/>
    <p:sldId id="383" r:id="rId72"/>
    <p:sldId id="260" r:id="rId73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9F7A72-7903-4791-9B02-03B0CC4EBD96}">
          <p14:sldIdLst>
            <p14:sldId id="256"/>
          </p14:sldIdLst>
        </p14:section>
        <p14:section name="Структурные паттерны" id="{E08CC9DD-223C-4625-B723-68B607D9346D}">
          <p14:sldIdLst>
            <p14:sldId id="269"/>
            <p14:sldId id="271"/>
            <p14:sldId id="318"/>
            <p14:sldId id="320"/>
            <p14:sldId id="317"/>
          </p14:sldIdLst>
        </p14:section>
        <p14:section name="Adapter" id="{050786E3-E017-40FE-A3B2-D2F9F983019C}">
          <p14:sldIdLst>
            <p14:sldId id="321"/>
            <p14:sldId id="322"/>
            <p14:sldId id="323"/>
            <p14:sldId id="342"/>
            <p14:sldId id="324"/>
            <p14:sldId id="326"/>
            <p14:sldId id="325"/>
            <p14:sldId id="327"/>
            <p14:sldId id="343"/>
          </p14:sldIdLst>
        </p14:section>
        <p14:section name="Bridge" id="{B1116924-06E3-48B5-9F0E-BBE140DC726D}">
          <p14:sldIdLst>
            <p14:sldId id="328"/>
            <p14:sldId id="329"/>
            <p14:sldId id="330"/>
            <p14:sldId id="344"/>
            <p14:sldId id="331"/>
            <p14:sldId id="332"/>
            <p14:sldId id="333"/>
            <p14:sldId id="334"/>
            <p14:sldId id="345"/>
          </p14:sldIdLst>
        </p14:section>
        <p14:section name="Composite" id="{FFBDFD64-0215-427B-9528-B2433F264553}">
          <p14:sldIdLst>
            <p14:sldId id="335"/>
            <p14:sldId id="336"/>
            <p14:sldId id="337"/>
            <p14:sldId id="346"/>
            <p14:sldId id="338"/>
            <p14:sldId id="339"/>
            <p14:sldId id="340"/>
            <p14:sldId id="341"/>
            <p14:sldId id="347"/>
          </p14:sldIdLst>
        </p14:section>
        <p14:section name="Decorator" id="{9E6DCAF6-0312-4360-B9D0-D4E60FC75171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Facade" id="{21682C70-E0BB-48DE-85D8-6F9F387AD6B6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</p14:sldIdLst>
        </p14:section>
        <p14:section name="Flyweight" id="{236842C3-5092-4413-B939-284F9E81E4C4}">
          <p14:sldIdLst>
            <p14:sldId id="366"/>
            <p14:sldId id="367"/>
            <p14:sldId id="368"/>
            <p14:sldId id="384"/>
            <p14:sldId id="385"/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Proxy" id="{8A885EF0-F272-46E1-B894-AD6DF3ECB735}">
          <p14:sldIdLst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</p14:sldIdLst>
        </p14:section>
        <p14:section name="Завершение" id="{57706748-57AD-45AB-9FB3-1B9A00E91AB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9156D-793D-4199-AAB2-E661653C6D60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22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884F-4143-43AF-878B-33CC48EE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9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11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4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75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95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2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99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56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5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54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72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10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7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55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95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00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51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13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82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09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77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96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45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118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658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30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1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12.11.2022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3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60000" y="719999"/>
            <a:ext cx="10080000" cy="9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800" spc="-1" dirty="0">
                <a:solidFill>
                  <a:srgbClr val="004892"/>
                </a:solidFill>
                <a:latin typeface="Montserrat Bold"/>
              </a:rPr>
              <a:t>Лекция </a:t>
            </a:r>
            <a:r>
              <a:rPr lang="en-US" sz="4800" spc="-1" dirty="0" smtClean="0">
                <a:solidFill>
                  <a:srgbClr val="004892"/>
                </a:solidFill>
                <a:latin typeface="Montserrat Bold"/>
              </a:rPr>
              <a:t>05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3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/>
            </a:r>
            <a:br>
              <a:rPr lang="en-US" sz="2000" spc="-1" dirty="0" smtClean="0">
                <a:solidFill>
                  <a:srgbClr val="004892"/>
                </a:solidFill>
                <a:latin typeface="Montserrat"/>
              </a:rPr>
            </a:b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Adapter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Bridge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Composite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Decorator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Façade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Flyweight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Proxy</a:t>
            </a:r>
            <a:endParaRPr lang="ru-RU" sz="2000" spc="-1" dirty="0" smtClean="0">
              <a:solidFill>
                <a:srgbClr val="004892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9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Структурные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Структурные паттерны предназначены для выстраивания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правильной иерархии классов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(упрощение создания новых классов, расширение существующих) и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правильного взаимодействия между классами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(уменьшение взаимосвязанности и т.п.)</a:t>
            </a:r>
          </a:p>
        </p:txBody>
      </p:sp>
    </p:spTree>
    <p:extLst>
      <p:ext uri="{BB962C8B-B14F-4D97-AF65-F5344CB8AC3E}">
        <p14:creationId xmlns:p14="http://schemas.microsoft.com/office/powerpoint/2010/main" val="40595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Структурные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Adapter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Bridge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Composite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Decorator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Facade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Flyweight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323281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Наследование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процесс, посредством которого один объект может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приобретать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свойства другого. Точнее, объект может наследовать основные свойства другого объекта и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добавлять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 ним черты, характерные только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него.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Композиция</a:t>
            </a: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заключается в том, что есть класс-контейнер, он же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агрегатор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который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включает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 себя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вызовы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других классов. В результате получается, что при создании объекта класса-контейнера, также создаются объекты других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7956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Структурные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Наследование 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vs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 Композиция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93" y="1341720"/>
            <a:ext cx="2933044" cy="30098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3565735"/>
            <a:ext cx="3603533" cy="24048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401" y="3341989"/>
            <a:ext cx="2918199" cy="2852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566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487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Адаптер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Adapter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предназначен для преобразования интерфейса одного класса в интерфейс другого. Благодаря реализации данного паттерна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можно использовать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вместе классы с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несовместимыми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интерфейсами.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Адаптер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использовать имеющийся класс, но его интерфейс не соответствует потребностям.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использовать уже существующий класс совместно с другими классами, интерфейсы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которых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совместимы.</a:t>
            </a:r>
          </a:p>
        </p:txBody>
      </p:sp>
    </p:spTree>
    <p:extLst>
      <p:ext uri="{BB962C8B-B14F-4D97-AF65-F5344CB8AC3E}">
        <p14:creationId xmlns:p14="http://schemas.microsoft.com/office/powerpoint/2010/main" val="229847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Target: представляет объекты, которые используются клиентом (лучше, если есть интерфейс, от которого он наследуется).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использует объекты Target (либо интерфейс, к которому принадлежит Target) для реализации своих задач.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Adaptee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представляет адаптируемый класс, который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хотелось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бы использовать у клиента вместо объектов Target.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Adapter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собственно адаптер (наследуется от того же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интерфейса,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что и Target), который позволяет работать с объектами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Adaptee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как с объектами Target.</a:t>
            </a:r>
          </a:p>
        </p:txBody>
      </p:sp>
    </p:spTree>
    <p:extLst>
      <p:ext uri="{BB962C8B-B14F-4D97-AF65-F5344CB8AC3E}">
        <p14:creationId xmlns:p14="http://schemas.microsoft.com/office/powerpoint/2010/main" val="346648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028" y="1682330"/>
            <a:ext cx="6794930" cy="42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8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955" y="2041282"/>
            <a:ext cx="502990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9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Target: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ICar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Интерфейс, предоставляющий метод,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имитирующий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перевозку людей из пункта А в пункт 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Traveler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 путешественник, который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посещает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ряд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пунктов, используя транспорт для перемещения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Adaptee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IAnimal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Интерфейс, предоставляющий методы, имитирующие перемещение животного.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Adapter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AdapterCar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Класс-адаптер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для применения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IAnimal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ICar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7347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12" y="1814562"/>
            <a:ext cx="3153896" cy="7376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714" y="2183383"/>
            <a:ext cx="3327150" cy="738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12" y="3122600"/>
            <a:ext cx="2701988" cy="1645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5087" y="3723919"/>
            <a:ext cx="2625642" cy="1712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257" y="2952141"/>
            <a:ext cx="3074863" cy="38435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5498" y="1080000"/>
            <a:ext cx="3900030" cy="27171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586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2050364"/>
            <a:ext cx="4045594" cy="1527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909" y="1530000"/>
            <a:ext cx="4353603" cy="46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Adapter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Отделяет и скрывает от клиента подробности преобразования различных интерфейсов.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дополнительных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0815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346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Мост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Bridge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отделить абстракцию от реализации таким образом, чтобы и абстракцию, и реализацию можно было изменять независимо друг от друга. Даже если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отделить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абстракцию от конкретных реализаций, то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все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равно все наследуемые классы будут жестко привязаны к интерфейсу, определяемому в базовом абстрактном классе. Для преодоления жестких связей и служит паттерн Мост.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Мост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избежать постоянной привязки абстракции к реализации.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наряду с реализацией надо изменять и абстракцию независимо друг от друга. То есть изменения в абстракции не должно привести к изменениям в реализации.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379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Abstraction: определяет базовый интерфейс и хранит ссылку на объект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Выполнение операций в Abstraction делегируется методам объекта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RefinedAbstraction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уточненная абстракция, наследуется от Abstraction и расширяет унаследованный интерфейс.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определяет базовый интерфейс для конкретных реализаций. Как правило,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определяет только примитивные операции. Более сложные операции, которые базируются на примитивных, определяются в Abstraction.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ConcreteImplementorA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ConcreteImplementorB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конкретные реализации, которые унаследованы от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использует объекты Abstraction.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7502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00" y="1800000"/>
            <a:ext cx="6721413" cy="42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4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963" y="1980000"/>
            <a:ext cx="7192379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2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Abstraction: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AbstractProgrammer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Абстрактный класс, представляющий работу программиста, пишущего в какой-то среде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RefinedAbstraction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CorporateProgrammer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FreelanceProgrammer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программиста, работающего в компании и пишущего в какой-то среде разработки.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программиста-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фрилансера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пишущего в какой-то среде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Implementor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IDevelopmentEnvironment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Интерйфйес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предоставляющий методы, имитирующие работу среды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ConcreteImplementorA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ConcreteImplementorB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VisualStudioDE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CPPDE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Среда разработки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VisualStudio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Среда разработки для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++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ProjectTask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проект, который следует решить команде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разработчиков.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5503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4" y="2672252"/>
            <a:ext cx="3268791" cy="13648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568" y="1755912"/>
            <a:ext cx="3882879" cy="25428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5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33" y="4970436"/>
            <a:ext cx="4483885" cy="12178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533" y="3629118"/>
            <a:ext cx="3974036" cy="1339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624" y="3453196"/>
            <a:ext cx="4721646" cy="1318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7560" y="4911570"/>
            <a:ext cx="4635405" cy="13144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1707" y="2309972"/>
            <a:ext cx="3670268" cy="2514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739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98" y="1903121"/>
            <a:ext cx="4874441" cy="29295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140" y="1080000"/>
            <a:ext cx="4322887" cy="25980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846" y="3237862"/>
            <a:ext cx="5650295" cy="33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3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Bridge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Позволяет строить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платформено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-независимые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Скрывает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лишние или опасные детали реализации от клиентского кода.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принцип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Недостатки</a:t>
            </a:r>
          </a:p>
          <a:p>
            <a:pPr>
              <a:lnSpc>
                <a:spcPct val="100000"/>
              </a:lnSpc>
            </a:pP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дополнительных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5254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216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Компоновщик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Composite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объединяет группы объектов в древовидную структуру по принципу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«часть – целое»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позволяет клиенту одинаково работать как с отдельными объектами, так и с группой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Образно реализацию паттерна можно представить в виде меню, которое имеет различные пункты. Эти пункты могут содержать подменю, в которых, в свою очередь, также имеются пункты. То есть пункт меню служит с одной стороны частью меню, а с другой стороны еще одним меню. В итоге мы однообразно можем работать как с пунктом меню, так и со всем меню в целом.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Компоновщик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объекты должны быть реализованы в виде иерархической древовидной структуры.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клиенты единообразно должны управлять как целыми объектами, так и их составными частями. То есть целое и его части должны реализовать один и тот же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06600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Component: определяет интерфейс для всех компонентов в древовидной структуре.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Composite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представляет компонент, который может содержать другие компоненты и реализует механизм для их добавления и удаления.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Leaf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представляет отдельный компонент, который не может содержать другие компоненты.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клиент, который использует компоненты.</a:t>
            </a:r>
          </a:p>
        </p:txBody>
      </p:sp>
    </p:spTree>
    <p:extLst>
      <p:ext uri="{BB962C8B-B14F-4D97-AF65-F5344CB8AC3E}">
        <p14:creationId xmlns:p14="http://schemas.microsoft.com/office/powerpoint/2010/main" val="386443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272" y="1682331"/>
            <a:ext cx="7333944" cy="45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6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914" y="2176543"/>
            <a:ext cx="5388206" cy="30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3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Component: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FileSystemComponent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элемент файловой системы (папку или файл)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Composite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FileSystemDirectory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компонент в виде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папки.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Leaf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FileSystemFile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компонент в виде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файла.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FileSystem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файловую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395567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26" y="2117493"/>
            <a:ext cx="2700900" cy="3313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871" y="1260000"/>
            <a:ext cx="2955092" cy="5013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615" y="627612"/>
            <a:ext cx="3073385" cy="21252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194" y="2580349"/>
            <a:ext cx="5727406" cy="42153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389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21" y="1704395"/>
            <a:ext cx="3819358" cy="28002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33" y="3109377"/>
            <a:ext cx="3997443" cy="29307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469" y="1053287"/>
            <a:ext cx="3934739" cy="2884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154" y="2693259"/>
            <a:ext cx="4027396" cy="29527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592" y="1259901"/>
            <a:ext cx="4129200" cy="30273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7973" y="3960413"/>
            <a:ext cx="3921258" cy="28749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389" y="2690017"/>
            <a:ext cx="3912551" cy="28685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9068" y="4084639"/>
            <a:ext cx="3390932" cy="248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6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Composite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Упрощает архитектуру клиента при работе со сложным деревом компонентов.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Облегчает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добавление новых видов компонентов.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Создает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слишком общий дизайн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2295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75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Декоратор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Decorator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представляет структурный шаблон проектирования, который позволяет динамически подключать к объекту дополнительную функциональность. Для определения нового функционала в классах нередко используется наследование. Декораторы же предоставляет наследованию более гибкую альтернативу, поскольку позволяют динамически в процессе выполнения определять новые возможности у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Декоратор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динамически добавлять к объекту новые функциональные возможности. При этом данные возможности могут быть сняты с объекта.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применение наследования неприемлемо. Например, если нам надо определить множество различных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функциональностей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для каждой функциональности наследовать отдельный класс, то структура классов может очень сильно разрастись. Еще больше она может разрастись, если нам необходимо создать классы, реализующие все возможные сочетания добавляемых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функциональностей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622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Component: абстрактный класс, который определяет интерфейс для наследуемых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ConcreteComponent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конкретная реализация компонента, в которую с помощью декоратора добавляется новая функциональность.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Decorator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собственно декоратор, реализуется в виде абстрактного класса и имеет тот же базовый класс, что и декорируемые объекты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Класс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декоратора также хранит ссылку на декорируемый объект в виде объекта базового класса Component и реализует связь с базовым классом как через наследование, так и через отношение агрегации.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ConcreteDecoratorA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ConcreteDecoratorB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классы, которые представляют дополнительные функциональности, которыми должен быть расширен объект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ConcreteComponent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(например,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новое свойство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NewState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или метод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NewMethod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()).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Подобных классов может быть множество. И они не обязательно должны что-то добавлять: свойства, методы. Они просто могут переопределять уже имеющийся функционал.</a:t>
            </a:r>
          </a:p>
        </p:txBody>
      </p:sp>
    </p:spTree>
    <p:extLst>
      <p:ext uri="{BB962C8B-B14F-4D97-AF65-F5344CB8AC3E}">
        <p14:creationId xmlns:p14="http://schemas.microsoft.com/office/powerpoint/2010/main" val="376034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60" y="1742262"/>
            <a:ext cx="6933533" cy="433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1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126" y="2223667"/>
            <a:ext cx="7687748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9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Component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AbstractVisitor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участника конференции.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ConcreteComponent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Listener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Lector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слушателя на конференции. Класс, описывающий докладчика на конференции.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Decorator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AbstractVisitorDecorator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декоратор.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ConcreteDecoratorA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ConcreteDecoratorB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PracticDecorator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RemoteDecorator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описывающий участника конференции с обсуждением докладов. Класс, описывающий участника конференции по удаленному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формату.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7836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80" y="2536762"/>
            <a:ext cx="2477594" cy="19255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4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862" y="1018316"/>
            <a:ext cx="3087901" cy="24754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9827" y="4033003"/>
            <a:ext cx="3492532" cy="27288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735" y="3412879"/>
            <a:ext cx="3570044" cy="2084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8" y="1648320"/>
            <a:ext cx="3443941" cy="20891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7330" y="5291244"/>
            <a:ext cx="4237874" cy="1470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5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98" y="1800001"/>
            <a:ext cx="3305474" cy="19865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25" y="2870040"/>
            <a:ext cx="3406049" cy="20470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571" y="1260000"/>
            <a:ext cx="3406049" cy="2047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4402" y="2867445"/>
            <a:ext cx="3406049" cy="20470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027" y="4474889"/>
            <a:ext cx="3478756" cy="20820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7219" y="1051945"/>
            <a:ext cx="3339513" cy="19987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197" y="2615321"/>
            <a:ext cx="3406048" cy="20385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5532" y="4268682"/>
            <a:ext cx="4935330" cy="295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8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Decorator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Большая гибкость, чем у наследования.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добавлять обязанности на лету.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добавлять несколько новых обязанностей сразу.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иметь несколько мелких объектов вместо одного объекта на все случаи жизни.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Недостатки</a:t>
            </a: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Трудно конфигурировать многократно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обернутые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объекты.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Обилие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крошечных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4474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961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Фасад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Facade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представляет шаблон проектирования, который позволяет скрыть сложность системы с помощью предоставления упрощенного интерфейса для взаимодействия с ней.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Фасад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имеется сложная система, и необходимо упростить с ней работу. Фасад позволит определить одну точку взаимодействия между клиентом и системой.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уменьшить количество зависимостей между клиентом и сложной системой. Фасадные объекты позволяют отделить, изолировать компоненты системы от клиента и развивать и работать с ними независимо.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нужно определить подсистемы компонентов в сложной системе. Создание фасадов для компонентов каждой отдельной подсистемы позволит упростить взаимодействие между ними и повысить их независимость друг от друга.</a:t>
            </a:r>
          </a:p>
        </p:txBody>
      </p:sp>
    </p:spTree>
    <p:extLst>
      <p:ext uri="{BB962C8B-B14F-4D97-AF65-F5344CB8AC3E}">
        <p14:creationId xmlns:p14="http://schemas.microsoft.com/office/powerpoint/2010/main" val="218400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SubsystemA,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SubsystemB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SubsystemC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т.д.: классы, которые являются компонентами сложной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системы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с которыми должен взаимодействовать клиент.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Facade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непосредственно фасад, который предоставляет интерфейс клиенту для работы с компонентами.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взаимодействует с компонентами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системы,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используя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Facade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49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435" y="1653456"/>
            <a:ext cx="6841130" cy="42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4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209" y="1706104"/>
            <a:ext cx="5576265" cy="48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SubsystemA,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SubsystemB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SubsystemC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т.д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.: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TextEditor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,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Compiller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,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CLR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UserProgramm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текстовый редактор для написания кода. Класс, описывающий компилятор. Класс, описывающий среду выполнения проекта. Класс,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описыывающий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проект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кодом.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Facade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DevelopmentEnvironment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Класс-фасад, описывающий среду разработки.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Programmer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программиста, пишущего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проекты.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4437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97" y="1905045"/>
            <a:ext cx="1643115" cy="2305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20" y="4363942"/>
            <a:ext cx="4314822" cy="2320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2852" y="1591833"/>
            <a:ext cx="3410526" cy="36984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2053" y="1080000"/>
            <a:ext cx="2681360" cy="2667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3413" y="689577"/>
            <a:ext cx="3639187" cy="6050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9839" y="4239078"/>
            <a:ext cx="4282128" cy="16674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361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980000"/>
            <a:ext cx="3206256" cy="24506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931" y="1800000"/>
            <a:ext cx="3286356" cy="25118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3128" y="3212329"/>
            <a:ext cx="4046646" cy="30930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762" y="2351254"/>
            <a:ext cx="4412918" cy="337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9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Facade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Изолирует клиентов от компонентов сложной подсистемы.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Недостатки</a:t>
            </a: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Фасад рискует стать божественным объектом, привязанным ко всем классам программы.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3057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886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Приспособленец (Flyweight)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структурный шаблон проектирования, который позволяет использовать разделяемые объекты сразу в нескольких контекстах. Данный паттерн используется преимущественно для оптимизации работы с памятью.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Приспособленец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приложение использует большое количество однообразных объектов, из-за чего происходит выделение большого количества памяти.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часть состояния объекта, которое является изменяемым, можно вынести во вне. Вынесение внешнего состояния позволяет заменить множество объектов небольшой группой общих разделяемых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334474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Flyweight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определяет интерфейс, через который приспособленцы-разделяемые объекты могут получать внешнее состояние или воздействовать на него.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ConcreteFlyweight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конкретный класс разделяемого приспособленца. Реализует интерфейс, объявленный в типе Flyweight, и при необходимости добавляет внутреннее состояние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UnsharedConcreteFlyweight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еще одна конкретная реализация интерфейса, определенного в типе Flyweight, только теперь объекты этого класса являются неразделяемыми.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FlyweightFactory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фабрика приспособленцев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создает объекты разделяемых приспособленцев. Так как приспособленцы разделяются, то клиент не должен создавать их напрямую. Все созданные объекты хранятся в пуле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использует объекты приспособленцев. Может хранить внешнее состояние и передавать его в качестве аргументов в методы приспособленцев.</a:t>
            </a:r>
          </a:p>
        </p:txBody>
      </p:sp>
    </p:spTree>
    <p:extLst>
      <p:ext uri="{BB962C8B-B14F-4D97-AF65-F5344CB8AC3E}">
        <p14:creationId xmlns:p14="http://schemas.microsoft.com/office/powerpoint/2010/main" val="9853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Внутреннее и внешнее состояние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Внутреннее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состояние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 зависит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 контекста. Внешнее состояние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зависит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от контекста, является изменчивым.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Например, использование символов в тексте. Начертание каждого символа не зависит от текста, это его внутреннее состояние, а вот расположение символа зависит от текста, это его внешнее состояние.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создании приспособленца внешнее состояние выносится. В приспособленце остается только внутреннее состояние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1192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Разделенные и неразделенные приспособленцы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разделением понимается возможность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одновременной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работы нескольких клиентов с одним и тем же приспособленцем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Например, использование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символов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тексте. Каждый отдельный символ – разделенный приспособленец. А если сделать отдельного приспособленца – набор символов, то он уже будет нераспределенным.</a:t>
            </a:r>
          </a:p>
          <a:p>
            <a:pPr algn="just">
              <a:lnSpc>
                <a:spcPct val="100000"/>
              </a:lnSpc>
            </a:pP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Клиент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работающий с приспособленцами не делает предположений об их природе, а лишь использует их в заданном контексте. Поэтому, клиенту должен быть предоставлен прозрачный механизм разделения приспособленцев.</a:t>
            </a:r>
          </a:p>
        </p:txBody>
      </p:sp>
    </p:spTree>
    <p:extLst>
      <p:ext uri="{BB962C8B-B14F-4D97-AF65-F5344CB8AC3E}">
        <p14:creationId xmlns:p14="http://schemas.microsoft.com/office/powerpoint/2010/main" val="288186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424" y="1800000"/>
            <a:ext cx="6841152" cy="42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7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074" y="1465993"/>
            <a:ext cx="6639852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4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Flyweight: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IFigure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Интерфейс, описывающий приспособленцев (прорисовку фигуры)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ConcreteFlyweight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Circle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Rectangle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окружность. Класс, описывающий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прямоугольник.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UnsharedConcreteFlyweight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Picture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сложную фигуру (неразделяемый приспособленец)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FlyweightFactory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FigureFactory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Класс-фабрика для получения объектов-приспособленцев.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Canvas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полотно.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7046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51" y="1785989"/>
            <a:ext cx="2202971" cy="2540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920" y="1153495"/>
            <a:ext cx="2941617" cy="9561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427" y="2289673"/>
            <a:ext cx="4382266" cy="25048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247" y="1153495"/>
            <a:ext cx="4089042" cy="25100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6893" y="3490532"/>
            <a:ext cx="3290003" cy="3239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357" y="2794242"/>
            <a:ext cx="3413357" cy="3853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8402" y="3490532"/>
            <a:ext cx="6428981" cy="26657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278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69" y="1828915"/>
            <a:ext cx="3619373" cy="21752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0" y="1259999"/>
            <a:ext cx="3892642" cy="23394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029" y="4189214"/>
            <a:ext cx="3901491" cy="2344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129" y="4030225"/>
            <a:ext cx="4017771" cy="24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6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Flyweight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Экономит оперативную память.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Недостатки</a:t>
            </a: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Расходует процессорное время на поиск/вычисление контекста.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Усложняет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программы из-за введения множества дополнительных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0405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56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Заместитель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предоставляет объект-заместитель, который управляет доступом к другому объекту. То есть создается объект-суррогат, который может выступать в роли другого объекта и замещать его.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Заместитель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осуществлять взаимодействие по сети, а объект-проси должен имитировать поведения объекта в другом адресном пространстве.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Использование прокси позволяет снизить накладные издержки при передачи данных через сеть.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Когда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нужно управлять доступом к ресурсу, создание которого требует больших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затрат. Реальный объект создается только тогда, когда он действительно может понадобится, а до этого все запросы к нему обрабатывает прокси-объект.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разграничить доступ к вызываемому объекту в зависимости от прав вызывающего объекта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нужно вести подсчет ссылок на объект или обеспечить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потокобезопасную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работу с реальным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объектом.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9850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определяет общий интерфейс для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Поэтому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может использоваться вместо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представляет реальный объект, для которого создается прокси.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заместитель реального объекта. Хранит ссылку на реальный объект, контролирует к нему доступ, может управлять его созданием и удалением. При необходимости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переадресует запросы объекту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использует объект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для доступа к объекту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5476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05" y="1874836"/>
            <a:ext cx="6721413" cy="42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8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165" y="2012703"/>
            <a:ext cx="4877481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5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IReaderService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Интерфейс,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описывающий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сервис предоставления книг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чтения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RealSubject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ReaderServiceClient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получение информации по книгам по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http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-запросам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сервера.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>
                <a:solidFill>
                  <a:srgbClr val="262626"/>
                </a:solidFill>
                <a:latin typeface="Montserrat"/>
              </a:rPr>
              <a:t>ReaderServiceProxy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заместитель сервиса для чтения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книг.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Reader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электронную книгу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чтения.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118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17" y="1812028"/>
            <a:ext cx="1834205" cy="1657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78" y="3676708"/>
            <a:ext cx="1858881" cy="15334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6492" y="1530000"/>
            <a:ext cx="2917010" cy="14703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037" y="3149248"/>
            <a:ext cx="3070897" cy="34523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982" y="2318969"/>
            <a:ext cx="3511558" cy="32302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766" y="925123"/>
            <a:ext cx="3621754" cy="57228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05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46" y="1800000"/>
            <a:ext cx="4176676" cy="25101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59" y="3016796"/>
            <a:ext cx="4219901" cy="2536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590" y="1200331"/>
            <a:ext cx="3716327" cy="22335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6494" y="2870047"/>
            <a:ext cx="3726106" cy="22393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9053" y="4165014"/>
            <a:ext cx="3747411" cy="225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2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Proxy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Позволяет контролировать сервисный объект незаметно для клиента.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работать, даже если сервисный </a:t>
            </a:r>
            <a:r>
              <a:rPr lang="ru-RU" sz="2000" spc="-1">
                <a:solidFill>
                  <a:srgbClr val="262626"/>
                </a:solidFill>
                <a:latin typeface="Montserrat"/>
              </a:rPr>
              <a:t>объект </a:t>
            </a: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создан.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контролировать жизненный цикл служебного объекта.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Недостатки</a:t>
            </a: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дополнительных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Увеличивает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время отклика от сервиса.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3594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</a:spPr>
      <a:bodyPr>
        <a:noAutofit/>
      </a:bodyPr>
      <a:lstStyle>
        <a:defPPr>
          <a:lnSpc>
            <a:spcPct val="100000"/>
          </a:lnSpc>
          <a:defRPr sz="1400" b="0" strike="noStrike" spc="-1">
            <a:solidFill>
              <a:srgbClr val="004892"/>
            </a:solidFill>
            <a:latin typeface="Montserra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8045</TotalTime>
  <Words>2783</Words>
  <Application>Microsoft Office PowerPoint</Application>
  <PresentationFormat>Custom</PresentationFormat>
  <Paragraphs>456</Paragraphs>
  <Slides>72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Evgenii Egov</cp:lastModifiedBy>
  <cp:revision>687</cp:revision>
  <dcterms:created xsi:type="dcterms:W3CDTF">2019-09-16T12:04:13Z</dcterms:created>
  <dcterms:modified xsi:type="dcterms:W3CDTF">2022-11-12T10:29:30Z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