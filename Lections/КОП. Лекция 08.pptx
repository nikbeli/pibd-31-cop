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371" r:id="rId3"/>
    <p:sldId id="372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413" r:id="rId12"/>
    <p:sldId id="382" r:id="rId13"/>
    <p:sldId id="383" r:id="rId14"/>
    <p:sldId id="384" r:id="rId15"/>
    <p:sldId id="385" r:id="rId16"/>
    <p:sldId id="386" r:id="rId17"/>
    <p:sldId id="388" r:id="rId18"/>
    <p:sldId id="389" r:id="rId19"/>
    <p:sldId id="390" r:id="rId20"/>
    <p:sldId id="392" r:id="rId21"/>
    <p:sldId id="393" r:id="rId22"/>
    <p:sldId id="394" r:id="rId23"/>
    <p:sldId id="401" r:id="rId24"/>
    <p:sldId id="395" r:id="rId25"/>
    <p:sldId id="396" r:id="rId26"/>
    <p:sldId id="397" r:id="rId27"/>
    <p:sldId id="398" r:id="rId28"/>
    <p:sldId id="399" r:id="rId29"/>
    <p:sldId id="400" r:id="rId30"/>
    <p:sldId id="402" r:id="rId31"/>
    <p:sldId id="403" r:id="rId32"/>
    <p:sldId id="404" r:id="rId33"/>
    <p:sldId id="405" r:id="rId34"/>
    <p:sldId id="406" r:id="rId35"/>
    <p:sldId id="408" r:id="rId36"/>
    <p:sldId id="407" r:id="rId37"/>
    <p:sldId id="409" r:id="rId38"/>
    <p:sldId id="410" r:id="rId39"/>
    <p:sldId id="411" r:id="rId40"/>
    <p:sldId id="412" r:id="rId41"/>
    <p:sldId id="260" r:id="rId42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9F7A72-7903-4791-9B02-03B0CC4EBD96}">
          <p14:sldIdLst>
            <p14:sldId id="256"/>
          </p14:sldIdLst>
        </p14:section>
        <p14:section name="Антипаттерны" id="{21682C70-E0BB-48DE-85D8-6F9F387AD6B6}">
          <p14:sldIdLst>
            <p14:sldId id="371"/>
            <p14:sldId id="372"/>
            <p14:sldId id="375"/>
            <p14:sldId id="376"/>
            <p14:sldId id="377"/>
            <p14:sldId id="378"/>
            <p14:sldId id="379"/>
            <p14:sldId id="380"/>
            <p14:sldId id="381"/>
            <p14:sldId id="413"/>
            <p14:sldId id="382"/>
            <p14:sldId id="383"/>
            <p14:sldId id="384"/>
            <p14:sldId id="385"/>
            <p14:sldId id="386"/>
            <p14:sldId id="388"/>
            <p14:sldId id="389"/>
          </p14:sldIdLst>
        </p14:section>
        <p14:section name="Проектирование системы" id="{BAEB8405-0702-4596-A3A0-DD712B9195A7}">
          <p14:sldIdLst>
            <p14:sldId id="390"/>
            <p14:sldId id="392"/>
            <p14:sldId id="393"/>
            <p14:sldId id="394"/>
          </p14:sldIdLst>
        </p14:section>
        <p14:section name="Code Review" id="{0BBFF2EC-76C6-4C33-8463-FDCB9C6EA0CE}">
          <p14:sldIdLst>
            <p14:sldId id="401"/>
            <p14:sldId id="395"/>
            <p14:sldId id="396"/>
            <p14:sldId id="397"/>
            <p14:sldId id="398"/>
            <p14:sldId id="399"/>
            <p14:sldId id="400"/>
            <p14:sldId id="402"/>
            <p14:sldId id="403"/>
          </p14:sldIdLst>
        </p14:section>
        <p14:section name="Рефакторинг" id="{9332C283-782B-428F-A5EF-FDD29E49D24D}">
          <p14:sldIdLst>
            <p14:sldId id="404"/>
            <p14:sldId id="405"/>
            <p14:sldId id="406"/>
            <p14:sldId id="408"/>
            <p14:sldId id="407"/>
            <p14:sldId id="409"/>
            <p14:sldId id="410"/>
            <p14:sldId id="411"/>
            <p14:sldId id="412"/>
          </p14:sldIdLst>
        </p14:section>
        <p14:section name="Завершение" id="{57706748-57AD-45AB-9FB3-1B9A00E91AB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9156D-793D-4199-AAB2-E661653C6D60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22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884F-4143-43AF-878B-33CC48EE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30.11.2022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60000" y="719999"/>
            <a:ext cx="10080000" cy="9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800" spc="-1" dirty="0">
                <a:solidFill>
                  <a:srgbClr val="004892"/>
                </a:solidFill>
                <a:latin typeface="Montserrat Bold"/>
              </a:rPr>
              <a:t>Лекция </a:t>
            </a:r>
            <a:r>
              <a:rPr lang="en-US" sz="4800" spc="-1" dirty="0" smtClean="0">
                <a:solidFill>
                  <a:srgbClr val="004892"/>
                </a:solidFill>
                <a:latin typeface="Montserrat Bold"/>
              </a:rPr>
              <a:t>08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3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Проектирование системы</a:t>
            </a: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Code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Review</a:t>
            </a:r>
          </a:p>
          <a:p>
            <a:pPr>
              <a:lnSpc>
                <a:spcPct val="100000"/>
              </a:lnSpc>
            </a:pPr>
            <a:r>
              <a:rPr lang="ru-RU" sz="20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54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Антипаттерны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Антипаттерны – это распространенный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подход к решению класса часто встречающихся проблем, являющийся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неэффективным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рискованным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или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непродуктивным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отличие от шаблона проектирования, рассмотрение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антипаттерна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включает в себя как неправильное решение проблемы с его признаками и последствиями, так и выход из ситуации.</a:t>
            </a:r>
          </a:p>
        </p:txBody>
      </p:sp>
    </p:spTree>
    <p:extLst>
      <p:ext uri="{BB962C8B-B14F-4D97-AF65-F5344CB8AC3E}">
        <p14:creationId xmlns:p14="http://schemas.microsoft.com/office/powerpoint/2010/main" val="86967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Программирование копи-</a:t>
            </a:r>
            <a:r>
              <a:rPr lang="ru-RU" sz="2000" spc="-1" dirty="0" err="1">
                <a:solidFill>
                  <a:srgbClr val="004892"/>
                </a:solidFill>
                <a:latin typeface="Montserrat Bold"/>
              </a:rPr>
              <a:t>пастом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ухудшается переносимость кода (при переносе в другой проект, потребуется искать все места, где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накопипастили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переносить их по отдельности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часто забывается вносить требуемые изменения в скопированный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код;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если в изначальном варианте был баг, то этот баг попадет во все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копипасты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значительно усложняется, так как кода становится больше, без видимой значительной выгоды и роста производительности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труда.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создание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общих методов,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классов;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тщательно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разрабатывать архитектуру при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проектировании.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2182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Спагетти-код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система имеет запутанную архитектуру (попробуйте объяснить стороннему программисту как все устроено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небольшое количество классов с гигантскими методами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внутри;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недостаток опыта в ООП разработке,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удаленная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работа отдельных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программистов.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переработка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архитектуры.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5019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Золотой молоток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применение одного подхода (паттерна проектирования или методологии проектирования) для всех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проектов.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выбор методологии, паттерна, исходя из поставленной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76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Магические числа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использование констант со странными числами (невозможно дать логическое объяснение зачем они, но без них не работает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применение констант описывать в документации на этапе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проектирования.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2228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Жесткое </a:t>
            </a: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кодирование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внесение данных об окружении (пути до файлов и т.п.) жестко в коде. Как следствие – проблемы с переносимостью проекта в новое место. 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выносить информация в файлы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конфигурации.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7481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Мягкое кодирование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параноидальная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боязнь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жесткого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кодирования. Конфигурируется абсолютно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все,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результате получаем объемную и сложную в понимании и настройки конфигурацию, большие затраты ресурсов на реализацию возможности настроек абсолютно всего, затраты на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развертывание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такой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системы.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проектировании определять, что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требует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настроек, а что можно кодировать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жестко.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5994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Ненужная сложность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ненужные проверки, части кода, продуцированные мягким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кодированием;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отсутствие какой-либо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оптимизации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отсутствие или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некачественность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некомпетентность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программиста.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проведение тщательного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эффективный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334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Слепая вера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недостаточная проверка корректности входных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данных;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отсутствие блоков отлавливания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исключений;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расчет, что код всегда будет в идеальных условиях, никогда не выдаст ошибки и не получит неверных входных данных или,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чего, данных неверного типа. 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ставить проверки, блоки отлавливания исключений (но без паранойи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6888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Лодочный якорь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 результатам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остаются фрагменты кода, которые уже нигде 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используются;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сохранение фрагментов кода, с расчетом, что они понадобятся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будущем.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удалять код, выносить его вне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проекта;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использовать контроль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версий.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1421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Изобретение велосипеда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разработка собственного решения, хотя существует уже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готовое.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грамотное определение, когда использовать готовые решения, а когда разрабатывать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собственные.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3185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Изобретение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одноколесного </a:t>
            </a: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велосипеда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создание своего плохого решения, при существовании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лучшего.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знать о существовании различных решений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определенных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кругов задач, ориентироваться в их преимуществах и недостатках.</a:t>
            </a:r>
          </a:p>
        </p:txBody>
      </p:sp>
    </p:spTree>
    <p:extLst>
      <p:ext uri="{BB962C8B-B14F-4D97-AF65-F5344CB8AC3E}">
        <p14:creationId xmlns:p14="http://schemas.microsoft.com/office/powerpoint/2010/main" val="301445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Поток лавы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некоторая часть кода очень давно 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менялась;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документировался;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комментарии, типа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«//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знаю, как оно работает, но оно работает. Не удалять и не менять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!».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разработке надо учитывать, что код в будущем может быть оптимизирован или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дописан;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избегать случая написания больших частей проекта одним программистом,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проводить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избавляться от ошибок в проектировании архитектуры. </a:t>
            </a:r>
          </a:p>
        </p:txBody>
      </p:sp>
    </p:spTree>
    <p:extLst>
      <p:ext uri="{BB962C8B-B14F-4D97-AF65-F5344CB8AC3E}">
        <p14:creationId xmlns:p14="http://schemas.microsoft.com/office/powerpoint/2010/main" val="104448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Программирование перебором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подбор параметров, порядка вызова функций и т.п. для поиска решения, без понимания сути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происходящего;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возможно предусмотреть все варианты развития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событий.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разбираться в механизмах работы используемых инструментов,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библиотек.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8462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Бездумное комментирование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большое количество лишних и неинформативных комментариев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ни в коем случае нельзя допускать диалога разработчиков в комментариях, выносить данную функцию с комментариев на специализированные инструменты для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или на личное обсуждение.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0348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Антипаттерны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Божественный объект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«Мне нужен такой-то функционал. — Используй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MegaCoreObject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! —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мне нужен и… — Я же сказал, используй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MegaCoreObject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!»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Признаки: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объект, берущий на себя слишком большой функционал и/или хранящий в себе практически все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данные;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сложно поддается изменениям,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модификации.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Решение: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разбивать задачи на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подзадачи;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возможность решения подзадач различными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разработчиками;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правильная архитектура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приложения.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546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Проектирование системы</a:t>
            </a: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36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Проектирование системы</a:t>
            </a: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Проектирование </a:t>
            </a: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системы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Проектирование 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поиск способа, который удовлетворяет требованиям функциональности системы средствами имеющихся технологий с учетом заданных ограничений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Считается, что сложную систему невозможно описать в принципе. Это, в частности, касается систем управления предприятием. Одним из основных аргументов является изменение условий функционирования системы, например директивное изменение тех или иных потоков информации новым руководством. Еще один аргумент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объемы технического задания, которые для крупного проекта могут составлять сотни страниц, в то время как технический проект может содержать ошибки. </a:t>
            </a:r>
          </a:p>
        </p:txBody>
      </p:sp>
    </p:spTree>
    <p:extLst>
      <p:ext uri="{BB962C8B-B14F-4D97-AF65-F5344CB8AC3E}">
        <p14:creationId xmlns:p14="http://schemas.microsoft.com/office/powerpoint/2010/main" val="185535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Проектирование системы</a:t>
            </a: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Жизненный цикл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Жизненный цикл программного обеспечения представляет собой модель его создания и использования.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Известны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следующие модели жизненного цикла: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Каскадная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модель. Переход на следующий этап означает полное завершение работ на предыдущем этапе.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Поэтапная модель с промежуточным контролем. Разработка ПО ведется итерациями с циклами обратной связи между этапами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Спиральная модель. Особое внимание уделяется начальным этапам разработки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выработке стратегии, анализу и проектированию, где реализуемость тех или иных технических решений проверяется и обосновывается посредством создания прототипов (макетирования). Каждый виток спирали предполагает создание некой версии продукта или какого-либо его компонента, при этом уточняются характеристики и цели проекта, определяется его качество и планируются работы следующего витка спирали.</a:t>
            </a:r>
          </a:p>
        </p:txBody>
      </p:sp>
    </p:spTree>
    <p:extLst>
      <p:ext uri="{BB962C8B-B14F-4D97-AF65-F5344CB8AC3E}">
        <p14:creationId xmlns:p14="http://schemas.microsoft.com/office/powerpoint/2010/main" val="157348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Проектирование системы</a:t>
            </a: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Проблемы проектирования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Следующие проблемы проектирования могут повлиять на появление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антипаттернов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ложность подробного и полного описания системы на начальном этапе разработки;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внесение изменений в архитектуру в процессе разработки;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долгий срок разработки, смена платформы в процессе разработки.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7043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Code </a:t>
            </a:r>
            <a:r>
              <a:rPr lang="en-US" sz="2000" spc="-1" dirty="0">
                <a:solidFill>
                  <a:srgbClr val="004892"/>
                </a:solidFill>
                <a:latin typeface="Montserrat Bold"/>
              </a:rPr>
              <a:t>review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процесс проверки и анализа кода задачи разработчиком перед ее релизом.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выполняется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 тем человеком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который делал задачу, а другими членами команды. Результатом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является обратная связь по выполненной задаче: необходимость внести правки, либо готовность задачи к последующему тестированию и релизу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Code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может являться частью процесса выполнения задачи (частью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workflow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). Может показаться, что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проверять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должен только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тимлид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или старший разработчик, но хорошей практикой является если в процессе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задач участвуют все разработчики. Таким образом можно не только распределить нагрузку от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но и составить у команды более широкое представление о выполняемых задачах. Также это помогает делиться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best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practices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внутри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362750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Положительные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эффекты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больше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людей в команде в курсе выполняемой задачи, в случае необходимости внесения изменений в задачу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другие члены команды смогут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сделать;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помогает найти и выявить баги и недоработки на этапе разработки задачи: так как задача сразу проверяется, это повышает вероятность нахождения упущенных кейсов;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повышается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читаемость и качество кода и как следствие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его поддержка в будущем: код понятен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всем участниками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команды, это упрощает и ускоряет разработку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будущем;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обучаемость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сотрудников: разные реализации и подходы к решению задач могут заимствоваться участниками команды друг у друга во время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code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3594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en-US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разработке задачи на реализацию тратится чуть больше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времени;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задаче задействованы как минимум два разработчика (тот, кто делал задачу и тот, кто ее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проверял).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164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Общие рекомендации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избегать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рутинных проверок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ode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s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tyle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людьми: автоматизировать такие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проверки; 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проводить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code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review </a:t>
            </a: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необходимо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для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каждого участника команды, вне зависимости от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уровня;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code review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является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частью процесса и необходим каждой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задаче, это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правило избавляет от лишних споров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насчет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небольших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проводить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code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review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перед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релизом задачи и перед передачей ее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тестирование, что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помогает избегать повторного тестирования, а также соблазна оставить все как есть, ведь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«и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так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работает»;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избегать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слишком больших объемов кода в одном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code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(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сли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задача большая, то необходимо отправлять ее на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проверку частями);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если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нет возможности внести какие-то правки после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то необходимо завести задачу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трекере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задач, а в коде оставить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ToDo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 ее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номером.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7666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Чего следует избегать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Если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code review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непостоянная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часть процесса разработки, то это приведет к нестабильному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процессу проверки кода,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его будут откладывать и команда не получит всех плюсов этого процесса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Старшие разработчики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проверяют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новых и младших разработчиков. Это создает плохую культуру в команде, а также не позволяет младшим разработчикам увидеть какие-то решения старших разработчиков, на которых они могли бы поучиться и узнать что-то новое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автоматизировать процесс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не использовать сторонние инструменты для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code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review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Никто не любит заниматься рутинными процессами. Нужно автоматизировать все, что можно автоматизировать. </a:t>
            </a:r>
          </a:p>
        </p:txBody>
      </p:sp>
    </p:spTree>
    <p:extLst>
      <p:ext uri="{BB962C8B-B14F-4D97-AF65-F5344CB8AC3E}">
        <p14:creationId xmlns:p14="http://schemas.microsoft.com/office/powerpoint/2010/main" val="14885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Действия до 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code review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что реализация соответствует всем указанным в исходной задаче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условиям;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соответствие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ode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 s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tyle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другим принятым в команде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правилам,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например, наличию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unit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-тестов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документации;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протестировать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задачу локально и убедиться, что она работает, как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нужно;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подготовить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описание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проверяющего,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если какой-то информации в задаче 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хватает;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нужны ли какие-то комментарии в самом коде и добавить при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необходимости.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41796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Действия во время 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code review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ознакомиться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понять цель и суть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общую архитектуру и подход 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решению;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 реализацию;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мелкие детали (имена функций и переменных и т.д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.);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наличие тестов и документации по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необходимости.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9268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Code Review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Действия по результатам 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code review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список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ToDo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изменения, которые необходимо внести в код после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вопросы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обозначить свои вопросы по частям кода, которые непонятны после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проверки;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предложения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 улучшению: внести свои предложения и пожелания по коду задачи и/или связанных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апример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договориться о создании задачи по обновлению старого метода в других участках кода на новый и завести на это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ToDo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задачу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трекере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задач и поставить ее в тех. долг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323815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774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>
                <a:solidFill>
                  <a:srgbClr val="004892"/>
                </a:solidFill>
                <a:latin typeface="Montserrat Bold"/>
              </a:rPr>
              <a:t>Рефакторинг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представляет собой процесс такого изменения программной системы, при котором не меняется внешнее поведение кода, но улучшается его внутренняя структура. Это способ систематического приведения кода в порядок, при котором шансы появления новых ошибок минимальны. В сущности, при проведении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кода вы улучшаете его дизайн уже после того, как он написан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Цель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сделать код программы более легким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понимания.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следует отличать от оптимизации производительности. Как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оптимизация обычно тоже не изменяет поведение программы, а только ускоряет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работу. Но оптимизация часто затрудняет понимание кода, что противоположно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рефакторингу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2297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Риск </a:t>
            </a:r>
            <a:r>
              <a:rPr lang="ru-RU" sz="2000" spc="-1" dirty="0" err="1" smtClean="0">
                <a:solidFill>
                  <a:srgbClr val="004892"/>
                </a:solidFill>
                <a:latin typeface="Montserrat Bold"/>
              </a:rPr>
              <a:t>рефакторинга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требует внести изменения в работающий код, что может привести к появлению трудно находимых ошибок в программе. Неправильно осуществляя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можно потерять дни и даже недели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большим риском чреват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осуществляемый без формальностей или эпизодически. Вы начинаете копаться в коде. Вскоре обнаруживаются новые возможности модификации, и вы начинаете копать глубже. Чем больше вы копаете, тем больше вскрывается нового и тем больше изменений вы производите. В конце концов, получится яма, из которой вы не сможете выбраться. Чтобы не рыть самому себе могилу, следует производить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на систематической основе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0936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Процесс разработки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сегодняшнем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понимании разработки программного обеспечения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сначала создается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дизайн системы, а потом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пишется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код. Сначала создается хороший дизайн, а затем происходит кодирование. Со временем код модифицируется, и целостность системы, соответствие ее структуры изначально созданному дизайну постепенно ухудшаются. Код медленно сползает от проектирования к хакерству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представляет собой противоположную практику. С ее помощью можно взять плохой проект, даже хаотический, и переделать его в хорошо спроектированный код. Каждый шаг этого процесса прост до чрезвычайности. Перемещается поле из одного класса в другой, изымается часть кода из метода и помещается в отдельный метод, какой-то код перемещается в иерархии в том или другом направлении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8654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Процесс разработки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Однако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суммарный эффект таких небольших изменений может радикально улучшить проект. Это прямо противоположно обычному явлению постепенного распада программы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проведении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оказывается, что соотношение разных этапов работ изменяется. Проектирование непрерывно осуществляется во время разработки, а не выполняется целиком заранее. При реализации системы становится ясно, как можно улучшить ее проект. Происходящее взаимодействие приводит к созданию программы, качество проекта которой остается высоким по мере продолжения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35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Правила </a:t>
            </a:r>
            <a:r>
              <a:rPr lang="ru-RU" sz="2000" spc="-1" dirty="0" err="1">
                <a:solidFill>
                  <a:srgbClr val="004892"/>
                </a:solidFill>
                <a:latin typeface="Montserrat Bold"/>
              </a:rPr>
              <a:t>рефакторинга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Обнаружив, что в программу необходимо добавить новую функциональность, но код программы не структурирован удобным для добавления этой функциональности образом, сначала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производится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программы, чтобы упростить внесение необходимых изменений, а только потом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добавляется функция.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Перед началом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 убедиться,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что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имеется надежный комплект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тестов. Эти тесты должны быть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самопроверяющимися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применении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программа модифицируется небольшими шагами. Ошибку нетрудно обнаружить.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Написать код, понятный компьютеру, может каждый, но только хорошие программисты пишут код, понятный людям.</a:t>
            </a:r>
          </a:p>
        </p:txBody>
      </p:sp>
    </p:spTree>
    <p:extLst>
      <p:ext uri="{BB962C8B-B14F-4D97-AF65-F5344CB8AC3E}">
        <p14:creationId xmlns:p14="http://schemas.microsoft.com/office/powerpoint/2010/main" val="191792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Цели </a:t>
            </a:r>
            <a:r>
              <a:rPr lang="ru-RU" sz="2000" spc="-1" dirty="0" err="1">
                <a:solidFill>
                  <a:srgbClr val="004892"/>
                </a:solidFill>
                <a:latin typeface="Montserrat Bold"/>
              </a:rPr>
              <a:t>рефакторинга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улучшает композицию программного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обеспечения.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облегчает понимание программного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обеспечения.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помогает найти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ошибки.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позволяет быстрее писать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программы.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3132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Когда проводится </a:t>
            </a:r>
            <a:r>
              <a:rPr lang="ru-RU" sz="2000" spc="-1" dirty="0" err="1" smtClean="0">
                <a:solidFill>
                  <a:srgbClr val="004892"/>
                </a:solidFill>
                <a:latin typeface="Montserrat Bold"/>
              </a:rPr>
              <a:t>рефакторинг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Рефакторингом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следует заниматься постоянно понемногу. Надо не решать проводить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а проводить его, потому что необходимо сделать что-то еще, а поможет в этом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правило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трех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ударов: делая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что-то в первый раз, вы просто это делаете. Делая что-то аналогичное во второй раз, вы морщитесь от необходимости повторения, но все-таки повторяете то же самое. Делая что-то похожее в третий раз, вы начинаете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применять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при добавлении новой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функции;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применять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если требуется исправить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ошибку;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применять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при разборе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кода.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9380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Рефакторинг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Когда не проводится </a:t>
            </a:r>
            <a:r>
              <a:rPr lang="ru-RU" sz="2000" spc="-1" dirty="0" err="1" smtClean="0">
                <a:solidFill>
                  <a:srgbClr val="004892"/>
                </a:solidFill>
                <a:latin typeface="Montserrat Bold"/>
              </a:rPr>
              <a:t>рефакторинг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переписать программу с нуля. Иногда имеющийся код настолько запутан, что подвергнуть его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рефакторингу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конечно, можно, но проще начать все с самого начала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Близость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даты завершения проекта. Рост производительности, достигаемый благодаря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рефакторингу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проявит себя слишком поздно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после истечения срока.</a:t>
            </a:r>
          </a:p>
        </p:txBody>
      </p:sp>
    </p:spTree>
    <p:extLst>
      <p:ext uri="{BB962C8B-B14F-4D97-AF65-F5344CB8AC3E}">
        <p14:creationId xmlns:p14="http://schemas.microsoft.com/office/powerpoint/2010/main" val="300606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</a:spPr>
      <a:bodyPr>
        <a:noAutofit/>
      </a:bodyPr>
      <a:lstStyle>
        <a:defPPr>
          <a:lnSpc>
            <a:spcPct val="100000"/>
          </a:lnSpc>
          <a:defRPr sz="1400" b="0" strike="noStrike" spc="-1">
            <a:solidFill>
              <a:srgbClr val="004892"/>
            </a:solidFill>
            <a:latin typeface="Montserra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10731</TotalTime>
  <Words>2618</Words>
  <Application>Microsoft Office PowerPoint</Application>
  <PresentationFormat>Custom</PresentationFormat>
  <Paragraphs>312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Evgenii Egov</cp:lastModifiedBy>
  <cp:revision>839</cp:revision>
  <dcterms:created xsi:type="dcterms:W3CDTF">2019-09-16T12:04:13Z</dcterms:created>
  <dcterms:modified xsi:type="dcterms:W3CDTF">2022-11-30T16:29:48Z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