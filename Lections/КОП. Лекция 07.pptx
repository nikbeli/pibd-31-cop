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4"/>
  </p:notesMasterIdLst>
  <p:sldIdLst>
    <p:sldId id="256" r:id="rId2"/>
    <p:sldId id="269" r:id="rId3"/>
    <p:sldId id="271" r:id="rId4"/>
    <p:sldId id="318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461" r:id="rId15"/>
    <p:sldId id="462" r:id="rId16"/>
    <p:sldId id="466" r:id="rId17"/>
    <p:sldId id="464" r:id="rId18"/>
    <p:sldId id="465" r:id="rId19"/>
    <p:sldId id="463" r:id="rId20"/>
    <p:sldId id="467" r:id="rId21"/>
    <p:sldId id="468" r:id="rId22"/>
    <p:sldId id="469" r:id="rId23"/>
    <p:sldId id="443" r:id="rId24"/>
    <p:sldId id="444" r:id="rId25"/>
    <p:sldId id="445" r:id="rId26"/>
    <p:sldId id="447" r:id="rId27"/>
    <p:sldId id="448" r:id="rId28"/>
    <p:sldId id="449" r:id="rId29"/>
    <p:sldId id="450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34" r:id="rId40"/>
    <p:sldId id="435" r:id="rId41"/>
    <p:sldId id="436" r:id="rId42"/>
    <p:sldId id="437" r:id="rId43"/>
    <p:sldId id="438" r:id="rId44"/>
    <p:sldId id="439" r:id="rId45"/>
    <p:sldId id="440" r:id="rId46"/>
    <p:sldId id="441" r:id="rId47"/>
    <p:sldId id="442" r:id="rId48"/>
    <p:sldId id="425" r:id="rId49"/>
    <p:sldId id="426" r:id="rId50"/>
    <p:sldId id="427" r:id="rId51"/>
    <p:sldId id="428" r:id="rId52"/>
    <p:sldId id="429" r:id="rId53"/>
    <p:sldId id="430" r:id="rId54"/>
    <p:sldId id="431" r:id="rId55"/>
    <p:sldId id="432" r:id="rId56"/>
    <p:sldId id="433" r:id="rId57"/>
    <p:sldId id="416" r:id="rId58"/>
    <p:sldId id="417" r:id="rId59"/>
    <p:sldId id="418" r:id="rId60"/>
    <p:sldId id="419" r:id="rId61"/>
    <p:sldId id="420" r:id="rId62"/>
    <p:sldId id="421" r:id="rId63"/>
    <p:sldId id="422" r:id="rId64"/>
    <p:sldId id="423" r:id="rId65"/>
    <p:sldId id="424" r:id="rId66"/>
    <p:sldId id="407" r:id="rId67"/>
    <p:sldId id="408" r:id="rId68"/>
    <p:sldId id="409" r:id="rId69"/>
    <p:sldId id="410" r:id="rId70"/>
    <p:sldId id="411" r:id="rId71"/>
    <p:sldId id="412" r:id="rId72"/>
    <p:sldId id="413" r:id="rId73"/>
    <p:sldId id="414" r:id="rId74"/>
    <p:sldId id="415" r:id="rId75"/>
    <p:sldId id="398" r:id="rId76"/>
    <p:sldId id="399" r:id="rId77"/>
    <p:sldId id="400" r:id="rId78"/>
    <p:sldId id="401" r:id="rId79"/>
    <p:sldId id="402" r:id="rId80"/>
    <p:sldId id="403" r:id="rId81"/>
    <p:sldId id="404" r:id="rId82"/>
    <p:sldId id="405" r:id="rId83"/>
    <p:sldId id="406" r:id="rId84"/>
    <p:sldId id="389" r:id="rId85"/>
    <p:sldId id="390" r:id="rId86"/>
    <p:sldId id="391" r:id="rId87"/>
    <p:sldId id="392" r:id="rId88"/>
    <p:sldId id="393" r:id="rId89"/>
    <p:sldId id="394" r:id="rId90"/>
    <p:sldId id="395" r:id="rId91"/>
    <p:sldId id="396" r:id="rId92"/>
    <p:sldId id="397" r:id="rId93"/>
    <p:sldId id="380" r:id="rId94"/>
    <p:sldId id="381" r:id="rId95"/>
    <p:sldId id="385" r:id="rId96"/>
    <p:sldId id="383" r:id="rId97"/>
    <p:sldId id="384" r:id="rId98"/>
    <p:sldId id="382" r:id="rId99"/>
    <p:sldId id="386" r:id="rId100"/>
    <p:sldId id="387" r:id="rId101"/>
    <p:sldId id="388" r:id="rId102"/>
    <p:sldId id="260" r:id="rId103"/>
  </p:sldIdLst>
  <p:sldSz cx="10691813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9F7A72-7903-4791-9B02-03B0CC4EBD96}">
          <p14:sldIdLst>
            <p14:sldId id="256"/>
          </p14:sldIdLst>
        </p14:section>
        <p14:section name="Поведенческие паттерны" id="{E08CC9DD-223C-4625-B723-68B607D9346D}">
          <p14:sldIdLst>
            <p14:sldId id="269"/>
            <p14:sldId id="271"/>
            <p14:sldId id="318"/>
          </p14:sldIdLst>
        </p14:section>
        <p14:section name="Chain of Responsibility" id="{21682C70-E0BB-48DE-85D8-6F9F387AD6B6}">
          <p14:sldIdLst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</p14:sldIdLst>
        </p14:section>
        <p14:section name="Command" id="{808BAD47-EE3D-41AC-BE9D-491DDC1D4BE4}">
          <p14:sldIdLst>
            <p14:sldId id="461"/>
            <p14:sldId id="462"/>
            <p14:sldId id="466"/>
            <p14:sldId id="464"/>
            <p14:sldId id="465"/>
            <p14:sldId id="463"/>
            <p14:sldId id="467"/>
            <p14:sldId id="468"/>
            <p14:sldId id="469"/>
          </p14:sldIdLst>
        </p14:section>
        <p14:section name="Interpreter" id="{AD48985D-A7CC-47CF-B72D-D4D281D3B05E}">
          <p14:sldIdLst>
            <p14:sldId id="443"/>
            <p14:sldId id="444"/>
            <p14:sldId id="445"/>
            <p14:sldId id="447"/>
            <p14:sldId id="448"/>
            <p14:sldId id="449"/>
            <p14:sldId id="450"/>
          </p14:sldIdLst>
        </p14:section>
        <p14:section name="Iterator" id="{460EED80-C321-4F21-96DC-B8A3C8A66422}">
          <p14:sldIdLst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</p14:sldIdLst>
        </p14:section>
        <p14:section name="Mediator" id="{326B1FF1-D90F-4953-B8D4-39F7501F6E11}">
          <p14:sldIdLst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</p14:sldIdLst>
        </p14:section>
        <p14:section name="Memento" id="{411C83B5-4E9F-4ED9-9975-B774B7266295}">
          <p14:sldIdLst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</p14:sldIdLst>
        </p14:section>
        <p14:section name="Observer" id="{977CF03F-1669-4972-A99F-3C053ED049E2}">
          <p14:sldIdLst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</p14:sldIdLst>
        </p14:section>
        <p14:section name="State" id="{F2A215B1-45C6-4404-88B3-4F2F7F854B3F}">
          <p14:sldIdLst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</p14:sldIdLst>
        </p14:section>
        <p14:section name="Strategy" id="{9497CE6E-351C-438C-B747-73729E272D08}">
          <p14:sldIdLst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Template Method" id="{34752C89-BA94-44EA-BDEC-C9928606D232}">
          <p14:sldIdLst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</p14:sldIdLst>
        </p14:section>
        <p14:section name="Visitor" id="{0A9B419C-B025-4BCD-96C8-559DCEA50476}">
          <p14:sldIdLst>
            <p14:sldId id="380"/>
            <p14:sldId id="381"/>
            <p14:sldId id="385"/>
            <p14:sldId id="383"/>
            <p14:sldId id="384"/>
            <p14:sldId id="382"/>
            <p14:sldId id="386"/>
            <p14:sldId id="387"/>
            <p14:sldId id="388"/>
          </p14:sldIdLst>
        </p14:section>
        <p14:section name="Завершение" id="{57706748-57AD-45AB-9FB3-1B9A00E91AB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9156D-793D-4199-AAB2-E661653C6D6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22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D884F-4143-43AF-878B-33CC48EE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85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06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8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07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47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84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80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06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62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4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65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68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59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44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69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89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58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3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70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17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22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69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57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65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45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255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066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95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794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99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57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78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043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730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239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707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973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178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067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178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41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16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16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29.11.2022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3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3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3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3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60000" y="719999"/>
            <a:ext cx="10080000" cy="9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800" spc="-1" dirty="0">
                <a:solidFill>
                  <a:srgbClr val="004892"/>
                </a:solidFill>
                <a:latin typeface="Montserrat Bold"/>
              </a:rPr>
              <a:t>Лекция </a:t>
            </a:r>
            <a:r>
              <a:rPr lang="en-US" sz="4800" spc="-1" dirty="0" smtClean="0">
                <a:solidFill>
                  <a:srgbClr val="004892"/>
                </a:solidFill>
                <a:latin typeface="Montserrat Bold"/>
              </a:rPr>
              <a:t>07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3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Поведенческие паттерны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Chain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of Responsibility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Command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Interpreter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*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Iterator </a:t>
            </a: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Mediator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Memento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Observer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State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Strategy 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Template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Method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Visitor</a:t>
            </a:r>
            <a:endParaRPr lang="en-US" sz="2000" spc="-1" dirty="0">
              <a:solidFill>
                <a:srgbClr val="004892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Поведенческие паттерны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79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Поведенческие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Поведенческие 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Паттерны поведения рассматривают вопросы о связях между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объектами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распределением обязанностей между ними. Для этого могут использоваться механизмы, основанные как на наследовании, так и на композиции.</a:t>
            </a:r>
          </a:p>
        </p:txBody>
      </p:sp>
    </p:spTree>
    <p:extLst>
      <p:ext uri="{BB962C8B-B14F-4D97-AF65-F5344CB8AC3E}">
        <p14:creationId xmlns:p14="http://schemas.microsoft.com/office/powerpoint/2010/main" val="40595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Поведенческие паттерны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Поведенческие паттерны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Chain of Responsibility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Command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Interpreter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*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endParaRPr lang="en-US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Iterator 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Mediator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Memento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Observer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State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Strategy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Template Method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Visitor</a:t>
            </a:r>
          </a:p>
        </p:txBody>
      </p:sp>
    </p:spTree>
    <p:extLst>
      <p:ext uri="{BB962C8B-B14F-4D97-AF65-F5344CB8AC3E}">
        <p14:creationId xmlns:p14="http://schemas.microsoft.com/office/powerpoint/2010/main" val="323281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54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Цепочка Обязанностей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поведенческий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шаблон проектирования, который позволяет избежать жесткой привязки отправителя запроса к получателю, позволяя нескольким объектам обработать запрос. Все возможные обработчики запроса образуют цепочку, а сам запрос перемещается по этой цепочке, пока один из ее объектов не обработает запрос. Каждый объект при получении запроса выбирает, либо обработать запрос, либо передать выполнение запроса следующему по цепочке.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Цепочка Обязанностей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имеется более одного объекта, который может обработать определенный запрос.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передать запрос на выполнение одному из нескольких объект, точно не определяя, какому именно объекту.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набор объектов задается динамически.</a:t>
            </a:r>
          </a:p>
        </p:txBody>
      </p:sp>
    </p:spTree>
    <p:extLst>
      <p:ext uri="{BB962C8B-B14F-4D97-AF65-F5344CB8AC3E}">
        <p14:creationId xmlns:p14="http://schemas.microsoft.com/office/powerpoint/2010/main" val="86967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Handler</a:t>
            </a:r>
            <a:r>
              <a:rPr lang="ru-RU" sz="2000" spc="-1" dirty="0">
                <a:latin typeface="Montserrat"/>
              </a:rPr>
              <a:t>: определяет интерфейс для обработки запроса. Также может определять ссылку на следующий обработчик запроса.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latin typeface="Montserrat"/>
              </a:rPr>
              <a:t>ConcreteHandler1 и ConcreteHandler2: конкретные обработчики, которые реализуют функционал для обработки запроса. При невозможности обработки и наличия ссылки на следующий обработчик, передают запрос этому обработчику.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отправляет запрос объекту </a:t>
            </a:r>
            <a:r>
              <a:rPr lang="ru-RU" sz="2000" spc="-1" dirty="0" err="1">
                <a:latin typeface="Montserrat"/>
              </a:rPr>
              <a:t>Handler</a:t>
            </a:r>
            <a:r>
              <a:rPr lang="ru-RU" sz="2000" spc="-1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71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906" y="187483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203" y="2303256"/>
            <a:ext cx="5296639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6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Handler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IRequestHandler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>
                <a:latin typeface="Montserrat"/>
              </a:rPr>
              <a:t>Интерфейс, описывающий обработчик </a:t>
            </a:r>
            <a:r>
              <a:rPr lang="ru-RU" sz="2000" spc="-1" dirty="0" smtClean="0">
                <a:latin typeface="Montserrat"/>
              </a:rPr>
              <a:t>запроса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latin typeface="Montserrat"/>
              </a:rPr>
              <a:t>ConcreteHandler1 и ConcreteHandler2: </a:t>
            </a:r>
            <a:r>
              <a:rPr lang="en-US" sz="2000" spc="-1" dirty="0" err="1" smtClean="0">
                <a:latin typeface="Montserrat"/>
              </a:rPr>
              <a:t>AuthenticationHandler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RouteHandler</a:t>
            </a:r>
            <a:r>
              <a:rPr lang="ru-RU" sz="2000" spc="-1" dirty="0">
                <a:latin typeface="Montserrat"/>
              </a:rPr>
              <a:t>. Класс, описывающий обработчика запроса с проверкой доступа. Класс, описывающий обработчика запроса с проверкой </a:t>
            </a:r>
            <a:r>
              <a:rPr lang="ru-RU" sz="2000" spc="-1" dirty="0" smtClean="0">
                <a:latin typeface="Montserrat"/>
              </a:rPr>
              <a:t>маршрута.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smtClean="0">
                <a:latin typeface="Montserrat"/>
              </a:rPr>
              <a:t>Request</a:t>
            </a:r>
            <a:r>
              <a:rPr lang="ru-RU" sz="2000" spc="-1" dirty="0">
                <a:latin typeface="Montserrat"/>
              </a:rPr>
              <a:t>. Класс, описывающий </a:t>
            </a:r>
            <a:r>
              <a:rPr lang="ru-RU" sz="2000" spc="-1" dirty="0" smtClean="0">
                <a:latin typeface="Montserrat"/>
              </a:rPr>
              <a:t>запрос.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2484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2" y="2281614"/>
            <a:ext cx="2899085" cy="3606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912" y="1310557"/>
            <a:ext cx="1725089" cy="11875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8759" y="2971109"/>
            <a:ext cx="3199959" cy="3546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007" y="1172210"/>
            <a:ext cx="3217623" cy="37198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3804" y="1800000"/>
            <a:ext cx="3634583" cy="4839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105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28436"/>
            <a:ext cx="2910865" cy="17494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39" y="3959425"/>
            <a:ext cx="3825836" cy="22993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739" y="1222514"/>
            <a:ext cx="3919059" cy="23553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4581" y="3959425"/>
            <a:ext cx="3782179" cy="227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1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Chain of Responsibility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Уменьшает зависимость между клиентом и обработчиками.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единственной обязанности.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Запрос может остаться никем не обработанным.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3496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789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Команда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инкапсулировать запрос на выполнение определенного действия в виде отдельного объекта. Этот объект запроса на действие и называется командой. При этом объекты, инициирующие запросы на выполнение действия, отделяются от объектов, которые выполняют это действие.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Команды могут использовать параметры, которые передают ассоциированную с командой информацию. Кроме того, команды могут ставиться в очередь и также могут быть отменены.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Команда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передавать в качестве параметров определенные действия, вызываемые в ответ на другие действия. То есть когда необходимы функции обратного действия в ответ на определенные действия.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обеспечить выполнение очереди запросов, а также их возможную отмену.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надо поддерживать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логгирование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изменений в результате запросов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1572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Command</a:t>
            </a:r>
            <a:r>
              <a:rPr lang="ru-RU" sz="2000" spc="-1" dirty="0">
                <a:latin typeface="Montserrat"/>
              </a:rPr>
              <a:t>: интерфейс, представляющий команду. Обычно определяет метод </a:t>
            </a:r>
            <a:r>
              <a:rPr lang="ru-RU" sz="2000" spc="-1" dirty="0" err="1">
                <a:latin typeface="Montserrat"/>
              </a:rPr>
              <a:t>Execute</a:t>
            </a:r>
            <a:r>
              <a:rPr lang="ru-RU" sz="2000" spc="-1" dirty="0">
                <a:latin typeface="Montserrat"/>
              </a:rPr>
              <a:t>() для выполнения действия, а также нередко включает метод </a:t>
            </a:r>
            <a:r>
              <a:rPr lang="ru-RU" sz="2000" spc="-1" dirty="0" err="1">
                <a:latin typeface="Montserrat"/>
              </a:rPr>
              <a:t>Undo</a:t>
            </a:r>
            <a:r>
              <a:rPr lang="ru-RU" sz="2000" spc="-1" dirty="0">
                <a:latin typeface="Montserrat"/>
              </a:rPr>
              <a:t>(), реализация которого должна заключаться в отмене действия команды.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ConcreteCommand</a:t>
            </a:r>
            <a:r>
              <a:rPr lang="ru-RU" sz="2000" spc="-1" dirty="0">
                <a:latin typeface="Montserrat"/>
              </a:rPr>
              <a:t>:  конкретная реализация команды, реализует метод </a:t>
            </a:r>
            <a:r>
              <a:rPr lang="ru-RU" sz="2000" spc="-1" dirty="0" err="1">
                <a:latin typeface="Montserrat"/>
              </a:rPr>
              <a:t>Execute</a:t>
            </a:r>
            <a:r>
              <a:rPr lang="ru-RU" sz="2000" spc="-1" dirty="0">
                <a:latin typeface="Montserrat"/>
              </a:rPr>
              <a:t>(), в котором вызывается определенный метод, определенный в классе </a:t>
            </a:r>
            <a:r>
              <a:rPr lang="ru-RU" sz="2000" spc="-1" dirty="0" err="1">
                <a:latin typeface="Montserrat"/>
              </a:rPr>
              <a:t>Receiver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Receiver</a:t>
            </a:r>
            <a:r>
              <a:rPr lang="ru-RU" sz="2000" spc="-1" dirty="0">
                <a:latin typeface="Montserrat"/>
              </a:rPr>
              <a:t>: получатель команды. Определяет действия, которые должны выполняться в результате запроса.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Invoker</a:t>
            </a:r>
            <a:r>
              <a:rPr lang="ru-RU" sz="2000" spc="-1" dirty="0">
                <a:latin typeface="Montserrat"/>
              </a:rPr>
              <a:t>: инициатор команды – вызывает команду для выполнения определенного запроса.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клиент – создает команду и устанавливает ее получателя с помощью метода </a:t>
            </a:r>
            <a:r>
              <a:rPr lang="ru-RU" sz="2000" spc="-1" dirty="0" err="1">
                <a:latin typeface="Montserrat"/>
              </a:rPr>
              <a:t>SetCommand</a:t>
            </a:r>
            <a:r>
              <a:rPr lang="ru-RU" sz="2000" spc="-1" dirty="0">
                <a:latin typeface="Montserrat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19863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1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750" y="2113916"/>
            <a:ext cx="4544059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9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Command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IRemoteController</a:t>
            </a:r>
            <a:r>
              <a:rPr lang="ru-RU" sz="2000" spc="-1" dirty="0">
                <a:latin typeface="Montserrat"/>
              </a:rPr>
              <a:t>. Интерфейс, описывающий команды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ConcreteCommand</a:t>
            </a:r>
            <a:r>
              <a:rPr lang="ru-RU" sz="2000" spc="-1" dirty="0" smtClean="0">
                <a:latin typeface="Montserrat"/>
              </a:rPr>
              <a:t>:   </a:t>
            </a:r>
            <a:r>
              <a:rPr lang="en-US" sz="2000" spc="-1" dirty="0" err="1" smtClean="0">
                <a:latin typeface="Montserrat"/>
              </a:rPr>
              <a:t>MusicCenterOnOffRemoteController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err="1" smtClean="0">
                <a:latin typeface="Montserrat"/>
              </a:rPr>
              <a:t>MusicCenterPlayRemoteController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err="1" smtClean="0">
                <a:latin typeface="Montserrat"/>
              </a:rPr>
              <a:t>MusicCenterRemoteController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err="1" smtClean="0">
                <a:latin typeface="Montserrat"/>
              </a:rPr>
              <a:t>TVChannelRemoteController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TVOnOffRemoteController</a:t>
            </a:r>
            <a:r>
              <a:rPr lang="ru-RU" sz="2000" spc="-1" dirty="0">
                <a:latin typeface="Montserrat"/>
              </a:rPr>
              <a:t>. Класс, описывающий команды включения и выключения музыкального центра. Класс, описывающий команды воспроизведения музыки на музыкальном центре. Класс, описывающий команды включения и воспроизведения музыки на музыкальном центре. Класс, описывающий команды переключения каналов телевизора. Класс, описывающий команды включения и выключения </a:t>
            </a:r>
            <a:r>
              <a:rPr lang="ru-RU" sz="2000" spc="-1" dirty="0" smtClean="0">
                <a:latin typeface="Montserrat"/>
              </a:rPr>
              <a:t>телевизора.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Receiver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MusicCenter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>
                <a:latin typeface="Montserrat"/>
              </a:rPr>
              <a:t>TV</a:t>
            </a:r>
            <a:r>
              <a:rPr lang="ru-RU" sz="2000" spc="-1" dirty="0">
                <a:latin typeface="Montserrat"/>
              </a:rPr>
              <a:t>. Класс, описывающий музыкальный центр. Класс, описывающий </a:t>
            </a:r>
            <a:r>
              <a:rPr lang="ru-RU" sz="2000" spc="-1" dirty="0" smtClean="0">
                <a:latin typeface="Montserrat"/>
              </a:rPr>
              <a:t>телевизор.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Invoker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HandWithController</a:t>
            </a:r>
            <a:r>
              <a:rPr lang="ru-RU" sz="2000" spc="-1" dirty="0">
                <a:latin typeface="Montserrat"/>
              </a:rPr>
              <a:t>. Класс, описывающий элемент управления </a:t>
            </a:r>
            <a:r>
              <a:rPr lang="ru-RU" sz="2000" spc="-1" dirty="0" smtClean="0">
                <a:latin typeface="Montserrat"/>
              </a:rPr>
              <a:t>командами.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TaskManager</a:t>
            </a:r>
            <a:r>
              <a:rPr lang="ru-RU" sz="2000" spc="-1" dirty="0">
                <a:latin typeface="Montserrat"/>
              </a:rPr>
              <a:t>. Класс, описывающий менеджера по вызову </a:t>
            </a:r>
            <a:r>
              <a:rPr lang="ru-RU" sz="2000" spc="-1" dirty="0" smtClean="0">
                <a:latin typeface="Montserrat"/>
              </a:rPr>
              <a:t>команд.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2348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93" y="1890237"/>
            <a:ext cx="1243767" cy="909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3065048"/>
            <a:ext cx="2138290" cy="3197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177" y="1260000"/>
            <a:ext cx="1979589" cy="3704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9390" y="1056710"/>
            <a:ext cx="2257323" cy="1328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9390" y="2577451"/>
            <a:ext cx="2269742" cy="1294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9157" y="1017299"/>
            <a:ext cx="3186292" cy="3501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4574" y="4026297"/>
            <a:ext cx="2065972" cy="1427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9324" y="5309572"/>
            <a:ext cx="1978727" cy="1319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2650" y="4372719"/>
            <a:ext cx="2173251" cy="28592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6136" y="1527150"/>
            <a:ext cx="3099690" cy="52685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316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31" y="1812367"/>
            <a:ext cx="3412545" cy="20509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383" y="4324997"/>
            <a:ext cx="3778295" cy="22707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655" y="1812366"/>
            <a:ext cx="3745288" cy="225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2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Command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Убирает прямую зависимость между объектами, вызывающими операции, и объектами, которые их непосредственно выполняют.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реализовать простую отмену и повтор операций.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реализовать отложенный запуск операций.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собирать сложные команды из простых.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код программы из-за введения множества дополнительных классов.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3200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0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Интерпретатор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представление грамматики для заданного языка и интерпретатор предложений этого языка. Как правило, данный шаблон проектирования применяется для часто повторяющихся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270486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AbstractExpression</a:t>
            </a:r>
            <a:r>
              <a:rPr lang="ru-RU" sz="2000" spc="-1" dirty="0">
                <a:latin typeface="Montserrat"/>
              </a:rPr>
              <a:t>: определяет интерфейс выражения, объявляет метод </a:t>
            </a:r>
            <a:r>
              <a:rPr lang="ru-RU" sz="2000" spc="-1" dirty="0" err="1">
                <a:latin typeface="Montserrat"/>
              </a:rPr>
              <a:t>Interpret</a:t>
            </a:r>
            <a:r>
              <a:rPr lang="ru-RU" sz="2000" spc="-1" dirty="0">
                <a:latin typeface="Montserrat"/>
              </a:rPr>
              <a:t>().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TerminalExpression</a:t>
            </a:r>
            <a:r>
              <a:rPr lang="ru-RU" sz="2000" spc="-1" dirty="0">
                <a:latin typeface="Montserrat"/>
              </a:rPr>
              <a:t>: терминальное выражение, реализует метод </a:t>
            </a:r>
            <a:r>
              <a:rPr lang="ru-RU" sz="2000" spc="-1" dirty="0" err="1">
                <a:latin typeface="Montserrat"/>
              </a:rPr>
              <a:t>Interpret</a:t>
            </a:r>
            <a:r>
              <a:rPr lang="ru-RU" sz="2000" spc="-1" dirty="0">
                <a:latin typeface="Montserrat"/>
              </a:rPr>
              <a:t>() для терминальных символов грамматики. Для каждого символа грамматики создается свой объект </a:t>
            </a:r>
            <a:r>
              <a:rPr lang="ru-RU" sz="2000" spc="-1" dirty="0" err="1">
                <a:latin typeface="Montserrat"/>
              </a:rPr>
              <a:t>TerminalExpression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NonterminalExpression</a:t>
            </a:r>
            <a:r>
              <a:rPr lang="ru-RU" sz="2000" spc="-1" dirty="0">
                <a:latin typeface="Montserrat"/>
              </a:rPr>
              <a:t>: нетерминальное выражение, представляет правило грамматики. Для каждого отдельного правила грамматики создается свой объект </a:t>
            </a:r>
            <a:r>
              <a:rPr lang="ru-RU" sz="2000" spc="-1" dirty="0" err="1">
                <a:latin typeface="Montserrat"/>
              </a:rPr>
              <a:t>NonterminalExpression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Context</a:t>
            </a:r>
            <a:r>
              <a:rPr lang="ru-RU" sz="2000" spc="-1" dirty="0">
                <a:latin typeface="Montserrat"/>
              </a:rPr>
              <a:t>: содержит общую для интерпретатора информацию. Может использоваться объектами терминальных и нетерминальных выражений для сохранения состояния операций и последующего доступа к сохраненному состоянию.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строит предложения языка с данной грамматикой в виде абстрактного синтаксического дерева, узлами которого являются объекты </a:t>
            </a:r>
            <a:r>
              <a:rPr lang="ru-RU" sz="2000" spc="-1" dirty="0" err="1">
                <a:latin typeface="Montserrat"/>
              </a:rPr>
              <a:t>TerminalExpression</a:t>
            </a:r>
            <a:r>
              <a:rPr lang="ru-RU" sz="2000" spc="-1" dirty="0">
                <a:latin typeface="Montserrat"/>
              </a:rPr>
              <a:t> и </a:t>
            </a:r>
            <a:r>
              <a:rPr lang="ru-RU" sz="2000" spc="-1" dirty="0" err="1">
                <a:latin typeface="Montserrat"/>
              </a:rPr>
              <a:t>NonterminalExpression</a:t>
            </a:r>
            <a:r>
              <a:rPr lang="ru-RU" sz="2000" spc="-1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4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098" y="2451902"/>
            <a:ext cx="5830114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7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AbstractExpression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IExpression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>
                <a:latin typeface="Montserrat"/>
              </a:rPr>
              <a:t>Интерфейс, описывающий выражение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TerminalExpression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NumberExpression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>
                <a:latin typeface="Montserrat"/>
              </a:rPr>
              <a:t>Класс, описывающий терминальное выражение (хранение переменной)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NonterminalExpression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AddExpression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 smtClean="0">
                <a:latin typeface="Montserrat"/>
              </a:rPr>
              <a:t>и </a:t>
            </a:r>
            <a:r>
              <a:rPr lang="en-US" sz="2000" spc="-1" dirty="0" err="1">
                <a:latin typeface="Montserrat"/>
              </a:rPr>
              <a:t>SubtractExpression</a:t>
            </a:r>
            <a:r>
              <a:rPr lang="ru-RU" sz="2000" spc="-1" dirty="0">
                <a:latin typeface="Montserrat"/>
              </a:rPr>
              <a:t>. Класс, описывающий нетерминальное выражение для сложения. Класс, описывающий нетерминальное выражение для </a:t>
            </a:r>
            <a:r>
              <a:rPr lang="ru-RU" sz="2000" spc="-1" dirty="0" smtClean="0">
                <a:latin typeface="Montserrat"/>
              </a:rPr>
              <a:t>вычитания.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Context</a:t>
            </a:r>
            <a:r>
              <a:rPr lang="ru-RU" sz="2000" spc="-1" dirty="0" smtClean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StorageVariables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Класс, определяющий методы для установки значений переменных и для получения их значений.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 smtClean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RegularExpressionCalc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Класс, позволяющий выполнять расчет некого выражения арифметического.</a:t>
            </a:r>
          </a:p>
        </p:txBody>
      </p:sp>
    </p:spTree>
    <p:extLst>
      <p:ext uri="{BB962C8B-B14F-4D97-AF65-F5344CB8AC3E}">
        <p14:creationId xmlns:p14="http://schemas.microsoft.com/office/powerpoint/2010/main" val="51985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16808"/>
            <a:ext cx="3060529" cy="20376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221" y="3029069"/>
            <a:ext cx="3550708" cy="1612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863" y="1323435"/>
            <a:ext cx="4746573" cy="16330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997" y="2176279"/>
            <a:ext cx="1899190" cy="820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9688" y="4789598"/>
            <a:ext cx="4924592" cy="16823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2400" y="1208292"/>
            <a:ext cx="3398275" cy="52544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694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Interpreter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0"/>
            <a:ext cx="3439964" cy="20674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586" y="4223399"/>
            <a:ext cx="3426414" cy="20592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5105" y="1800000"/>
            <a:ext cx="3401754" cy="20444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388" y="4278712"/>
            <a:ext cx="3334377" cy="200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4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9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Итератор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предоставляет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абстрактный интерфейс для последовательного доступа ко всем элементам составного объекта без раскрытия его внутренней структуры.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Итератор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осуществить обход объекта без раскрытия его внутренней структуры.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имеется набор составных объектов, и надо обеспечить единый интерфейс для их перебора.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предоставить несколько альтернативных вариантов перебора одного и того же объекта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8520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Iterator</a:t>
            </a:r>
            <a:r>
              <a:rPr lang="ru-RU" sz="2000" spc="-1" dirty="0">
                <a:latin typeface="Montserrat"/>
              </a:rPr>
              <a:t>: определяет интерфейс для обхода составных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Aggregate</a:t>
            </a:r>
            <a:r>
              <a:rPr lang="ru-RU" sz="2000" spc="-1" dirty="0">
                <a:latin typeface="Montserrat"/>
              </a:rPr>
              <a:t>: определяет интерфейс для создания объекта-итератора.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ConcreteIterator</a:t>
            </a:r>
            <a:r>
              <a:rPr lang="ru-RU" sz="2000" spc="-1" dirty="0">
                <a:latin typeface="Montserrat"/>
              </a:rPr>
              <a:t>: конкретная реализация итератора для обхода объекта </a:t>
            </a:r>
            <a:r>
              <a:rPr lang="ru-RU" sz="2000" spc="-1" dirty="0" err="1">
                <a:latin typeface="Montserrat"/>
              </a:rPr>
              <a:t>Aggregate</a:t>
            </a:r>
            <a:r>
              <a:rPr lang="ru-RU" sz="2000" spc="-1" dirty="0">
                <a:latin typeface="Montserrat"/>
              </a:rPr>
              <a:t>. Для фиксации индекса текущего перебираемого элемента использует целочисленную переменную _</a:t>
            </a:r>
            <a:r>
              <a:rPr lang="ru-RU" sz="2000" spc="-1" dirty="0" err="1">
                <a:latin typeface="Montserrat"/>
              </a:rPr>
              <a:t>current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ConcreteAggregate</a:t>
            </a:r>
            <a:r>
              <a:rPr lang="ru-RU" sz="2000" spc="-1" dirty="0">
                <a:latin typeface="Montserrat"/>
              </a:rPr>
              <a:t>: конкретная реализация </a:t>
            </a:r>
            <a:r>
              <a:rPr lang="ru-RU" sz="2000" spc="-1" dirty="0" err="1">
                <a:latin typeface="Montserrat"/>
              </a:rPr>
              <a:t>Aggregate</a:t>
            </a:r>
            <a:r>
              <a:rPr lang="ru-RU" sz="2000" spc="-1" dirty="0">
                <a:latin typeface="Montserrat"/>
              </a:rPr>
              <a:t>. Хранит элементы, которые надо будет перебирать.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использует объект </a:t>
            </a:r>
            <a:r>
              <a:rPr lang="ru-RU" sz="2000" spc="-1" dirty="0" err="1">
                <a:latin typeface="Montserrat"/>
              </a:rPr>
              <a:t>Aggregate</a:t>
            </a:r>
            <a:r>
              <a:rPr lang="ru-RU" sz="2000" spc="-1" dirty="0">
                <a:latin typeface="Montserrat"/>
              </a:rPr>
              <a:t> и итератор для его обхода.</a:t>
            </a:r>
          </a:p>
        </p:txBody>
      </p:sp>
    </p:spTree>
    <p:extLst>
      <p:ext uri="{BB962C8B-B14F-4D97-AF65-F5344CB8AC3E}">
        <p14:creationId xmlns:p14="http://schemas.microsoft.com/office/powerpoint/2010/main" val="339859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906" y="187483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0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022" y="2172162"/>
            <a:ext cx="5068007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5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Iterator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IIterator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>
                <a:latin typeface="Montserrat"/>
              </a:rPr>
              <a:t>Интерфейс, описывающий прохождение по </a:t>
            </a:r>
            <a:r>
              <a:rPr lang="ru-RU" sz="2000" spc="-1" dirty="0" smtClean="0">
                <a:latin typeface="Montserrat"/>
              </a:rPr>
              <a:t>коллекции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Aggregate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IFactoryAggregate</a:t>
            </a:r>
            <a:r>
              <a:rPr lang="ru-RU" sz="2000" spc="-1" dirty="0">
                <a:latin typeface="Montserrat"/>
              </a:rPr>
              <a:t>. Интерфейс, описывающий </a:t>
            </a:r>
            <a:r>
              <a:rPr lang="ru-RU" sz="2000" spc="-1" dirty="0" err="1">
                <a:latin typeface="Montserrat"/>
              </a:rPr>
              <a:t>агрегатор</a:t>
            </a:r>
            <a:r>
              <a:rPr lang="ru-RU" sz="2000" spc="-1" dirty="0">
                <a:latin typeface="Montserrat"/>
              </a:rPr>
              <a:t> </a:t>
            </a:r>
            <a:r>
              <a:rPr lang="ru-RU" sz="2000" spc="-1" dirty="0" smtClean="0">
                <a:latin typeface="Montserrat"/>
              </a:rPr>
              <a:t>завода.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ConcreteIterator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WorkerIterator</a:t>
            </a:r>
            <a:r>
              <a:rPr lang="ru-RU" sz="2000" spc="-1" dirty="0">
                <a:latin typeface="Montserrat"/>
              </a:rPr>
              <a:t>. Класс-реализация прохода по коллекции </a:t>
            </a:r>
            <a:r>
              <a:rPr lang="ru-RU" sz="2000" spc="-1" dirty="0" smtClean="0">
                <a:latin typeface="Montserrat"/>
              </a:rPr>
              <a:t>сотрудников </a:t>
            </a:r>
            <a:r>
              <a:rPr lang="ru-RU" sz="2000" spc="-1" dirty="0">
                <a:latin typeface="Montserrat"/>
              </a:rPr>
              <a:t>с </a:t>
            </a:r>
            <a:r>
              <a:rPr lang="ru-RU" sz="2000" spc="-1" dirty="0" smtClean="0">
                <a:latin typeface="Montserrat"/>
              </a:rPr>
              <a:t>выборкой </a:t>
            </a:r>
            <a:r>
              <a:rPr lang="ru-RU" sz="2000" spc="-1" dirty="0">
                <a:latin typeface="Montserrat"/>
              </a:rPr>
              <a:t>по типу </a:t>
            </a:r>
            <a:r>
              <a:rPr lang="ru-RU" sz="2000" spc="-1" dirty="0" smtClean="0">
                <a:latin typeface="Montserrat"/>
              </a:rPr>
              <a:t>сотрудника.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ConcreteAggregate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>
                <a:latin typeface="Montserrat"/>
              </a:rPr>
              <a:t>Factory</a:t>
            </a:r>
            <a:r>
              <a:rPr lang="ru-RU" sz="2000" spc="-1" dirty="0">
                <a:latin typeface="Montserrat"/>
              </a:rPr>
              <a:t>. Класс-реализация </a:t>
            </a:r>
            <a:r>
              <a:rPr lang="ru-RU" sz="2000" spc="-1" dirty="0" smtClean="0">
                <a:latin typeface="Montserrat"/>
              </a:rPr>
              <a:t>завода.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Client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>
                <a:latin typeface="Montserrat"/>
              </a:rPr>
              <a:t>Accounting</a:t>
            </a:r>
            <a:r>
              <a:rPr lang="ru-RU" sz="2000" spc="-1" dirty="0">
                <a:latin typeface="Montserrat"/>
              </a:rPr>
              <a:t>. </a:t>
            </a:r>
            <a:r>
              <a:rPr lang="ru-RU" sz="2000" spc="-1">
                <a:latin typeface="Montserrat"/>
              </a:rPr>
              <a:t>Класс, описывающий </a:t>
            </a:r>
            <a:r>
              <a:rPr lang="ru-RU" sz="2000" spc="-1" smtClean="0">
                <a:latin typeface="Montserrat"/>
              </a:rPr>
              <a:t>бухгалтерию.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8426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26" y="1906023"/>
            <a:ext cx="2055286" cy="1114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44" y="3280042"/>
            <a:ext cx="1994849" cy="1628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526" y="5312420"/>
            <a:ext cx="2621835" cy="12161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5780" y="1258302"/>
            <a:ext cx="2521780" cy="35284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5780" y="4908150"/>
            <a:ext cx="2233195" cy="9971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837" y="3660396"/>
            <a:ext cx="3491672" cy="2957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7849" y="1068202"/>
            <a:ext cx="3852151" cy="4392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3295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71" y="1910978"/>
            <a:ext cx="3536058" cy="21251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164" y="4272227"/>
            <a:ext cx="3806015" cy="22874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000" y="1800000"/>
            <a:ext cx="3700137" cy="222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9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Iterator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Упрощает классы хранения данных.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реализовать различные способы обхода структуры данных.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одновременно перемещаться по структуре данных в разные стороны.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оправдан, если можно обойтись простым циклом.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8633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smtClean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53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Посредник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такой шаблон проектирования, который обеспечивает взаимодействие множества объектов без необходимости ссылаться друг на друга. Тем самым достигается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слабосвязанность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взаимодействующих объектов.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Посредник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имеется множество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взаимосвязаных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объектов, связи между которыми сложны и запутаны.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повторно использовать объект, однако повторное использование затруднено в силу сильных связей с другими объектами.</a:t>
            </a:r>
          </a:p>
        </p:txBody>
      </p:sp>
    </p:spTree>
    <p:extLst>
      <p:ext uri="{BB962C8B-B14F-4D97-AF65-F5344CB8AC3E}">
        <p14:creationId xmlns:p14="http://schemas.microsoft.com/office/powerpoint/2010/main" val="87894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Mediator: </a:t>
            </a:r>
            <a:r>
              <a:rPr lang="ru-RU" sz="2000" spc="-1" dirty="0" smtClean="0">
                <a:latin typeface="Montserrat"/>
              </a:rPr>
              <a:t>представляет интерфейс для взаимодействия с объектами </a:t>
            </a:r>
            <a:r>
              <a:rPr lang="en-US" sz="2000" spc="-1" dirty="0" smtClean="0">
                <a:latin typeface="Montserrat"/>
              </a:rPr>
              <a:t>Colleague.</a:t>
            </a:r>
            <a:endParaRPr lang="en-US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Colleague: </a:t>
            </a:r>
            <a:r>
              <a:rPr lang="ru-RU" sz="2000" spc="-1" dirty="0">
                <a:latin typeface="Montserrat"/>
              </a:rPr>
              <a:t>представляет интерфейс для взаимодействия с объектом </a:t>
            </a:r>
            <a:r>
              <a:rPr lang="en-US" sz="2000" spc="-1" dirty="0">
                <a:latin typeface="Montserrat"/>
              </a:rPr>
              <a:t>Mediator.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ConcreteColleague1 </a:t>
            </a:r>
            <a:r>
              <a:rPr lang="ru-RU" sz="2000" spc="-1" dirty="0">
                <a:latin typeface="Montserrat"/>
              </a:rPr>
              <a:t>и </a:t>
            </a:r>
            <a:r>
              <a:rPr lang="en-US" sz="2000" spc="-1" dirty="0">
                <a:latin typeface="Montserrat"/>
              </a:rPr>
              <a:t>ConcreteColleague2: </a:t>
            </a:r>
            <a:r>
              <a:rPr lang="ru-RU" sz="2000" spc="-1" dirty="0">
                <a:latin typeface="Montserrat"/>
              </a:rPr>
              <a:t>конкретные классы коллег, которые обмениваются друг с другом через объект </a:t>
            </a:r>
            <a:r>
              <a:rPr lang="en-US" sz="2000" spc="-1" dirty="0">
                <a:latin typeface="Montserrat"/>
              </a:rPr>
              <a:t>Mediator.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err="1">
                <a:latin typeface="Montserrat"/>
              </a:rPr>
              <a:t>ConcreteMediator</a:t>
            </a:r>
            <a:r>
              <a:rPr lang="en-US" sz="2000" spc="-1" dirty="0">
                <a:latin typeface="Montserrat"/>
              </a:rPr>
              <a:t>: </a:t>
            </a:r>
            <a:r>
              <a:rPr lang="ru-RU" sz="2000" spc="-1" dirty="0">
                <a:latin typeface="Montserrat"/>
              </a:rPr>
              <a:t>конкретный посредник, реализующий интерфейс типа </a:t>
            </a:r>
            <a:r>
              <a:rPr lang="en-US" sz="2000" spc="-1" dirty="0">
                <a:latin typeface="Montserrat"/>
              </a:rPr>
              <a:t>Mediator.</a:t>
            </a:r>
          </a:p>
        </p:txBody>
      </p:sp>
    </p:spTree>
    <p:extLst>
      <p:ext uri="{BB962C8B-B14F-4D97-AF65-F5344CB8AC3E}">
        <p14:creationId xmlns:p14="http://schemas.microsoft.com/office/powerpoint/2010/main" val="232021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906" y="187483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099" y="2482332"/>
            <a:ext cx="788780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5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Mediator: IChat</a:t>
            </a:r>
            <a:r>
              <a:rPr lang="en-US" sz="2000" spc="-1" dirty="0" smtClean="0">
                <a:latin typeface="Montserrat"/>
              </a:rPr>
              <a:t>. </a:t>
            </a:r>
            <a:r>
              <a:rPr lang="ru-RU" sz="2000" spc="-1" dirty="0">
                <a:latin typeface="Montserrat"/>
              </a:rPr>
              <a:t>Интерфейс, описывающий систему уведомлений </a:t>
            </a:r>
            <a:r>
              <a:rPr lang="ru-RU" sz="2000" spc="-1" dirty="0" smtClean="0">
                <a:latin typeface="Montserrat"/>
              </a:rPr>
              <a:t>пользователей.</a:t>
            </a:r>
            <a:endParaRPr lang="en-US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Colleague: </a:t>
            </a:r>
            <a:r>
              <a:rPr lang="en-US" sz="2000" spc="-1" dirty="0" err="1">
                <a:latin typeface="Montserrat"/>
              </a:rPr>
              <a:t>AbstractWorker</a:t>
            </a:r>
            <a:r>
              <a:rPr lang="en-US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Класс, описывающий работника, который может отправлять и принимать </a:t>
            </a:r>
            <a:r>
              <a:rPr lang="ru-RU" sz="2000" spc="-1" dirty="0" smtClean="0">
                <a:latin typeface="Montserrat"/>
              </a:rPr>
              <a:t>сообщения.</a:t>
            </a:r>
            <a:endParaRPr lang="en-US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latin typeface="Montserrat"/>
              </a:rPr>
              <a:t>ConcreteColleague1 </a:t>
            </a:r>
            <a:r>
              <a:rPr lang="ru-RU" sz="2000" spc="-1" dirty="0">
                <a:latin typeface="Montserrat"/>
              </a:rPr>
              <a:t>и </a:t>
            </a:r>
            <a:r>
              <a:rPr lang="en-US" sz="2000" spc="-1" dirty="0">
                <a:latin typeface="Montserrat"/>
              </a:rPr>
              <a:t>ConcreteColleague2: </a:t>
            </a:r>
            <a:r>
              <a:rPr lang="en-US" sz="2000" spc="-1" dirty="0" smtClean="0">
                <a:latin typeface="Montserrat"/>
              </a:rPr>
              <a:t>Manager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smtClean="0">
                <a:latin typeface="Montserrat"/>
              </a:rPr>
              <a:t>Programmer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>
                <a:latin typeface="Montserrat"/>
              </a:rPr>
              <a:t>Tester</a:t>
            </a:r>
            <a:r>
              <a:rPr lang="en-US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Класс, описывающий менеджера. Класс, описывающий программиста. Класс, описывающий </a:t>
            </a:r>
            <a:r>
              <a:rPr lang="ru-RU" sz="2000" spc="-1" dirty="0" err="1" smtClean="0">
                <a:latin typeface="Montserrat"/>
              </a:rPr>
              <a:t>тестировщика</a:t>
            </a:r>
            <a:r>
              <a:rPr lang="ru-RU" sz="2000" spc="-1" dirty="0" smtClean="0">
                <a:latin typeface="Montserrat"/>
              </a:rPr>
              <a:t>.</a:t>
            </a:r>
            <a:endParaRPr lang="en-US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 err="1">
                <a:latin typeface="Montserrat"/>
              </a:rPr>
              <a:t>ConcreteMediator</a:t>
            </a:r>
            <a:r>
              <a:rPr lang="en-US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ProjectChat</a:t>
            </a:r>
            <a:r>
              <a:rPr lang="en-US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Класс-реализация для уведомления менеджеров, программистов и </a:t>
            </a:r>
            <a:r>
              <a:rPr lang="ru-RU" sz="2000" spc="-1" dirty="0" err="1" smtClean="0">
                <a:latin typeface="Montserrat"/>
              </a:rPr>
              <a:t>тестировщиков</a:t>
            </a:r>
            <a:r>
              <a:rPr lang="ru-RU" sz="2000" spc="-1" dirty="0" smtClean="0">
                <a:latin typeface="Montserrat"/>
              </a:rPr>
              <a:t>.</a:t>
            </a:r>
            <a:endParaRPr lang="en-US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1190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83" y="1980000"/>
            <a:ext cx="3310325" cy="22936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78" y="4842618"/>
            <a:ext cx="3020640" cy="967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218" y="1653256"/>
            <a:ext cx="3779836" cy="11288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8530" y="3465004"/>
            <a:ext cx="3734803" cy="1093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9218" y="5035821"/>
            <a:ext cx="3624049" cy="1039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2714" y="720000"/>
            <a:ext cx="2773626" cy="59203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079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631" y="4402966"/>
            <a:ext cx="3373426" cy="22377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230" y="1625760"/>
            <a:ext cx="3550387" cy="23551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680" y="4402966"/>
            <a:ext cx="3212574" cy="21310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114" y="1870858"/>
            <a:ext cx="3507631" cy="229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Mediator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Устраняет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зависимости между компонентами, позволяя повторно их использовать.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взаимодействие между компонентами.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Централизует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управление в одном месте.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Посредник может сильно раздуться.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8018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05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Хранитель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выносить внутреннее состояние объекта за его пределы для последующего возможного восстановления объекта без нарушения принципа инкапсуляции.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Хранитель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нужно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сохранить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его состояние объекта для возможного последующего восстановления.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сохранение состояния должно проходить без нарушения принципа инкапсуляции.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То есть ключевыми понятиями для данного паттерна являются сохранение внутреннего состояния и инкапсуляция, и важно соблюсти баланс между ними. Ведь, как правило, если мы не нарушаем инкапсуляцию, то состояние объекта хранится в объекте в приватных переменных. И не всегда для доступа к этим переменным есть методы или свойства с сеттерами и геттерами.</a:t>
            </a:r>
          </a:p>
        </p:txBody>
      </p:sp>
    </p:spTree>
    <p:extLst>
      <p:ext uri="{BB962C8B-B14F-4D97-AF65-F5344CB8AC3E}">
        <p14:creationId xmlns:p14="http://schemas.microsoft.com/office/powerpoint/2010/main" val="162785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Memento</a:t>
            </a:r>
            <a:r>
              <a:rPr lang="ru-RU" sz="2000" spc="-1" dirty="0">
                <a:latin typeface="Montserrat"/>
              </a:rPr>
              <a:t>: хранитель, который сохраняет состояние объекта </a:t>
            </a:r>
            <a:r>
              <a:rPr lang="ru-RU" sz="2000" spc="-1" dirty="0" err="1">
                <a:latin typeface="Montserrat"/>
              </a:rPr>
              <a:t>Originator</a:t>
            </a:r>
            <a:r>
              <a:rPr lang="ru-RU" sz="2000" spc="-1" dirty="0">
                <a:latin typeface="Montserrat"/>
              </a:rPr>
              <a:t> и предоставляет полный доступ только этому объекту </a:t>
            </a:r>
            <a:r>
              <a:rPr lang="ru-RU" sz="2000" spc="-1" dirty="0" err="1">
                <a:latin typeface="Montserrat"/>
              </a:rPr>
              <a:t>Originator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Originator</a:t>
            </a:r>
            <a:r>
              <a:rPr lang="ru-RU" sz="2000" spc="-1" dirty="0">
                <a:latin typeface="Montserrat"/>
              </a:rPr>
              <a:t>: создает объект хранителя для сохранения своего состояния.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Caretaker</a:t>
            </a:r>
            <a:r>
              <a:rPr lang="ru-RU" sz="2000" spc="-1" dirty="0">
                <a:latin typeface="Montserrat"/>
              </a:rPr>
              <a:t>: выполняет только функцию хранения объекта </a:t>
            </a:r>
            <a:r>
              <a:rPr lang="ru-RU" sz="2000" spc="-1" dirty="0" err="1">
                <a:latin typeface="Montserrat"/>
              </a:rPr>
              <a:t>Memento</a:t>
            </a:r>
            <a:r>
              <a:rPr lang="ru-RU" sz="2000" spc="-1" dirty="0">
                <a:latin typeface="Montserrat"/>
              </a:rPr>
              <a:t>, в то же время у него нет полного доступа к хранителю и никаких других операций над хранителем, кроме собственно сохранения, он не производит.</a:t>
            </a:r>
          </a:p>
        </p:txBody>
      </p:sp>
    </p:spTree>
    <p:extLst>
      <p:ext uri="{BB962C8B-B14F-4D97-AF65-F5344CB8AC3E}">
        <p14:creationId xmlns:p14="http://schemas.microsoft.com/office/powerpoint/2010/main" val="277292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7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823" y="2427098"/>
            <a:ext cx="4944165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8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Memento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HeroMemento</a:t>
            </a:r>
            <a:r>
              <a:rPr lang="ru-RU" sz="2000" spc="-1" dirty="0">
                <a:latin typeface="Montserrat"/>
              </a:rPr>
              <a:t>. Класс, фиксирующий состояние героя: количество патронов и </a:t>
            </a:r>
            <a:r>
              <a:rPr lang="ru-RU" sz="2000" spc="-1" dirty="0" smtClean="0">
                <a:latin typeface="Montserrat"/>
              </a:rPr>
              <a:t>жизней.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Originator</a:t>
            </a:r>
            <a:r>
              <a:rPr lang="ru-RU" sz="2000" spc="-1" dirty="0" smtClean="0">
                <a:latin typeface="Montserrat"/>
              </a:rPr>
              <a:t>: </a:t>
            </a:r>
            <a:r>
              <a:rPr lang="en-US" sz="2000" spc="-1" dirty="0" smtClean="0">
                <a:latin typeface="Montserrat"/>
              </a:rPr>
              <a:t>Hero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ru-RU" sz="2000" spc="-1" dirty="0">
                <a:latin typeface="Montserrat"/>
              </a:rPr>
              <a:t> Класс, описывающий героя игры, который может стрелять и умирать.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Caretaker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GameHistory</a:t>
            </a:r>
            <a:r>
              <a:rPr lang="ru-RU" sz="2000" spc="-1" dirty="0">
                <a:latin typeface="Montserrat"/>
              </a:rPr>
              <a:t>. Класс, хранящий состояния </a:t>
            </a:r>
            <a:r>
              <a:rPr lang="ru-RU" sz="2000" spc="-1" dirty="0" smtClean="0">
                <a:latin typeface="Montserrat"/>
              </a:rPr>
              <a:t>героя.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4067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841" y="1080000"/>
            <a:ext cx="3212562" cy="5580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653" y="1800000"/>
            <a:ext cx="2667705" cy="15043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47" y="3965180"/>
            <a:ext cx="3910642" cy="2022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947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9" y="1654686"/>
            <a:ext cx="3315448" cy="19925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79" y="4008134"/>
            <a:ext cx="3440256" cy="20675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1268" y="1980000"/>
            <a:ext cx="3193666" cy="19193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9539" y="4569340"/>
            <a:ext cx="3449880" cy="20733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3136" y="1654686"/>
            <a:ext cx="3035217" cy="18241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3814" y="4079385"/>
            <a:ext cx="3103371" cy="18651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5845" y="2590194"/>
            <a:ext cx="3286755" cy="197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1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Memento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нарушает инкапсуляции исходного объекта.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структуру исходного объекта. Ему не нужно хранить историю версий своего состояния.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Требует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много памяти, если клиенты слишком часто создают снимки.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Может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повлечь дополнительные издержки памяти, если объекты, хранящие историю, не освобождают ресурсы, занятые устаревшими снимками.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некоторых языках (например, PHP,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Python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JavaScript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сложно гарантировать, чтобы только исходный объект имел доступ к состоянию снимка.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4932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70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Наблюдатель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поведенческий шаблон проектирования, который использует отношение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«один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многим».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этом отношении есть один наблюдаемый объект и множество наблюдателей. И при изменении наблюдаемого объекта автоматически происходит оповещение всех наблюдателей.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Наблюдатель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система состоит из множества классов, объекты которых должны находиться в согласованных состояниях.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общая схема взаимодействия объектов предполагает две стороны: одна рассылает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сообщения,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другая получает сообщения и реагирует на них. Отделение логики обеих сторон позволяет их рассматривать независимо и использовать отдельно друга от друга.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существует один объект, рассылающий сообщения, и множество подписчиков, которые получают сообщения. При этом точное число подписчиков заранее неизвестно и процессе работы программы может изменяться.</a:t>
            </a:r>
          </a:p>
        </p:txBody>
      </p:sp>
    </p:spTree>
    <p:extLst>
      <p:ext uri="{BB962C8B-B14F-4D97-AF65-F5344CB8AC3E}">
        <p14:creationId xmlns:p14="http://schemas.microsoft.com/office/powerpoint/2010/main" val="197005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IObservable</a:t>
            </a:r>
            <a:r>
              <a:rPr lang="ru-RU" sz="2000" spc="-1" dirty="0">
                <a:latin typeface="Montserrat"/>
              </a:rPr>
              <a:t>: представляет наблюдаемый объект. Определяет три метода: </a:t>
            </a:r>
            <a:r>
              <a:rPr lang="ru-RU" sz="2000" spc="-1" dirty="0" err="1">
                <a:latin typeface="Montserrat"/>
              </a:rPr>
              <a:t>AddObserver</a:t>
            </a:r>
            <a:r>
              <a:rPr lang="ru-RU" sz="2000" spc="-1" dirty="0">
                <a:latin typeface="Montserrat"/>
              </a:rPr>
              <a:t>() (для добавления наблюдателя), </a:t>
            </a:r>
            <a:r>
              <a:rPr lang="ru-RU" sz="2000" spc="-1" dirty="0" err="1">
                <a:latin typeface="Montserrat"/>
              </a:rPr>
              <a:t>RemoveObserver</a:t>
            </a:r>
            <a:r>
              <a:rPr lang="ru-RU" sz="2000" spc="-1" dirty="0">
                <a:latin typeface="Montserrat"/>
              </a:rPr>
              <a:t>() (удаление </a:t>
            </a:r>
            <a:r>
              <a:rPr lang="ru-RU" sz="2000" spc="-1" dirty="0" err="1">
                <a:latin typeface="Montserrat"/>
              </a:rPr>
              <a:t>набюдателя</a:t>
            </a:r>
            <a:r>
              <a:rPr lang="ru-RU" sz="2000" spc="-1" dirty="0">
                <a:latin typeface="Montserrat"/>
              </a:rPr>
              <a:t>) и </a:t>
            </a:r>
            <a:r>
              <a:rPr lang="ru-RU" sz="2000" spc="-1" dirty="0" err="1">
                <a:latin typeface="Montserrat"/>
              </a:rPr>
              <a:t>NotifyObservers</a:t>
            </a:r>
            <a:r>
              <a:rPr lang="ru-RU" sz="2000" spc="-1" dirty="0">
                <a:latin typeface="Montserrat"/>
              </a:rPr>
              <a:t>() (уведомление наблюдателей).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ConcreteObservable</a:t>
            </a:r>
            <a:r>
              <a:rPr lang="ru-RU" sz="2000" spc="-1" dirty="0">
                <a:latin typeface="Montserrat"/>
              </a:rPr>
              <a:t>: конкретная реализация интерфейса </a:t>
            </a:r>
            <a:r>
              <a:rPr lang="ru-RU" sz="2000" spc="-1" dirty="0" err="1">
                <a:latin typeface="Montserrat"/>
              </a:rPr>
              <a:t>IObservable</a:t>
            </a:r>
            <a:r>
              <a:rPr lang="ru-RU" sz="2000" spc="-1" dirty="0">
                <a:latin typeface="Montserrat"/>
              </a:rPr>
              <a:t>. Определяет коллекцию объектов наблюдателей.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IObserver</a:t>
            </a:r>
            <a:r>
              <a:rPr lang="ru-RU" sz="2000" spc="-1" dirty="0">
                <a:latin typeface="Montserrat"/>
              </a:rPr>
              <a:t>: представляет наблюдателя, который подписывается на все уведомления наблюдаемого объекта. Определяет метод </a:t>
            </a:r>
            <a:r>
              <a:rPr lang="ru-RU" sz="2000" spc="-1" dirty="0" err="1">
                <a:latin typeface="Montserrat"/>
              </a:rPr>
              <a:t>Update</a:t>
            </a:r>
            <a:r>
              <a:rPr lang="ru-RU" sz="2000" spc="-1" dirty="0">
                <a:latin typeface="Montserrat"/>
              </a:rPr>
              <a:t>(), который вызывается наблюдаемым объектом для уведомления наблюдателя.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ConcreteObserver</a:t>
            </a:r>
            <a:r>
              <a:rPr lang="ru-RU" sz="2000" spc="-1" dirty="0">
                <a:latin typeface="Montserrat"/>
              </a:rPr>
              <a:t>: конкретная реализация интерфейса </a:t>
            </a:r>
            <a:r>
              <a:rPr lang="ru-RU" sz="2000" spc="-1" dirty="0" err="1">
                <a:latin typeface="Montserrat"/>
              </a:rPr>
              <a:t>IObserver</a:t>
            </a:r>
            <a:r>
              <a:rPr lang="ru-RU" sz="2000" spc="-1" dirty="0"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86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0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797" y="2517598"/>
            <a:ext cx="4782217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4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IObservable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IObservable</a:t>
            </a:r>
            <a:r>
              <a:rPr lang="ru-RU" sz="2000" spc="-1" dirty="0">
                <a:latin typeface="Montserrat"/>
              </a:rPr>
              <a:t>. Интерфейс, описывающий </a:t>
            </a:r>
            <a:r>
              <a:rPr lang="ru-RU" sz="2000" spc="-1" dirty="0" smtClean="0">
                <a:latin typeface="Montserrat"/>
              </a:rPr>
              <a:t>издателя.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ConcreteObservable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NewsPublisher</a:t>
            </a:r>
            <a:r>
              <a:rPr lang="ru-RU" sz="2000" spc="-1" dirty="0">
                <a:latin typeface="Montserrat"/>
              </a:rPr>
              <a:t>. Класс-реализация издателя в виде новостного </a:t>
            </a:r>
            <a:r>
              <a:rPr lang="ru-RU" sz="2000" spc="-1" dirty="0" err="1" smtClean="0">
                <a:latin typeface="Montserrat"/>
              </a:rPr>
              <a:t>паблика</a:t>
            </a:r>
            <a:r>
              <a:rPr lang="ru-RU" sz="2000" spc="-1" dirty="0" smtClean="0">
                <a:latin typeface="Montserrat"/>
              </a:rPr>
              <a:t>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IObserver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IObserver</a:t>
            </a:r>
            <a:r>
              <a:rPr lang="ru-RU" sz="2000" spc="-1" dirty="0">
                <a:latin typeface="Montserrat"/>
              </a:rPr>
              <a:t>. Интерфейс, описывающий </a:t>
            </a:r>
            <a:r>
              <a:rPr lang="ru-RU" sz="2000" spc="-1" dirty="0" smtClean="0">
                <a:latin typeface="Montserrat"/>
              </a:rPr>
              <a:t>подписчика.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ConcreteObserver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smtClean="0">
                <a:latin typeface="Montserrat"/>
              </a:rPr>
              <a:t>Citizen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smtClean="0">
                <a:latin typeface="Montserrat"/>
              </a:rPr>
              <a:t>Politician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>
                <a:latin typeface="Montserrat"/>
              </a:rPr>
              <a:t>Sportsman</a:t>
            </a:r>
            <a:r>
              <a:rPr lang="ru-RU" sz="2000" spc="-1" dirty="0">
                <a:latin typeface="Montserrat"/>
              </a:rPr>
              <a:t>. Класс, описывающий читателя-горожанина, читающего все новости. Класс, описывающий читателя-политика, читающего только политические новости. Класс, </a:t>
            </a:r>
            <a:r>
              <a:rPr lang="ru-RU" sz="2000" spc="-1">
                <a:latin typeface="Montserrat"/>
              </a:rPr>
              <a:t>описывающий </a:t>
            </a:r>
            <a:r>
              <a:rPr lang="ru-RU" sz="2000" spc="-1" smtClean="0">
                <a:latin typeface="Montserrat"/>
              </a:rPr>
              <a:t>читателя-спортсмена</a:t>
            </a:r>
            <a:r>
              <a:rPr lang="ru-RU" sz="2000" spc="-1" dirty="0">
                <a:latin typeface="Montserrat"/>
              </a:rPr>
              <a:t>, читающего социальные и спортивные </a:t>
            </a:r>
            <a:r>
              <a:rPr lang="ru-RU" sz="2000" spc="-1" dirty="0" smtClean="0">
                <a:latin typeface="Montserrat"/>
              </a:rPr>
              <a:t>новости.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9794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36" y="1901300"/>
            <a:ext cx="1656368" cy="9126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36" y="3226357"/>
            <a:ext cx="1883137" cy="15631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5685" y="1493754"/>
            <a:ext cx="2741875" cy="1968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936" y="5281010"/>
            <a:ext cx="3036316" cy="1038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2204" y="1158295"/>
            <a:ext cx="3831539" cy="9856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1463" y="3592446"/>
            <a:ext cx="3467458" cy="15586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0780" y="5254990"/>
            <a:ext cx="3477178" cy="14690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4481" y="2437114"/>
            <a:ext cx="4111891" cy="3446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88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78948"/>
            <a:ext cx="3231764" cy="19422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608" y="4054490"/>
            <a:ext cx="3873392" cy="23278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088" y="1626380"/>
            <a:ext cx="3652011" cy="2194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633" y="4164401"/>
            <a:ext cx="3690512" cy="22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9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Observer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Издатели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зависят от конкретных классов подписчиков и наоборот.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можете подписывать и отписывать получателей на лету.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Подписчики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оповещаются в случайном порядке.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0108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841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Состояние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шаблон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проектирования, который позволяет объекту изменять свое поведение в зависимости от внутреннего состояния.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Состояние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поведение объекта должно зависеть от его состояния и может изменяться динамически во время выполнения.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в коде методов объекта используются многочисленные условные конструкции, выбор которых зависит от текущего состояния объекта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Реализация паттерна Состояние позволяет вынести поведение, зависящее от текущего состояния объекта, в отдельные классы, и избежать перегруженности методов объекта условными конструкциями, как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if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..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else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или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switch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Кроме того, при необходимости мы можем ввести в систему новые классы состояний, а имеющиеся классы состояний использовать в других объектах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2467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State</a:t>
            </a:r>
            <a:r>
              <a:rPr lang="ru-RU" sz="2000" spc="-1" dirty="0">
                <a:latin typeface="Montserrat"/>
              </a:rPr>
              <a:t>: определяет интерфейс состояния.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StateA</a:t>
            </a:r>
            <a:r>
              <a:rPr lang="ru-RU" sz="2000" spc="-1" dirty="0">
                <a:latin typeface="Montserrat"/>
              </a:rPr>
              <a:t> и </a:t>
            </a:r>
            <a:r>
              <a:rPr lang="ru-RU" sz="2000" spc="-1" dirty="0" err="1">
                <a:latin typeface="Montserrat"/>
              </a:rPr>
              <a:t>StateB</a:t>
            </a:r>
            <a:r>
              <a:rPr lang="ru-RU" sz="2000" spc="-1" dirty="0">
                <a:latin typeface="Montserrat"/>
              </a:rPr>
              <a:t>: конкретные реализации состояний.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Context</a:t>
            </a:r>
            <a:r>
              <a:rPr lang="ru-RU" sz="2000" spc="-1" dirty="0">
                <a:latin typeface="Montserrat"/>
              </a:rPr>
              <a:t>: представляет объект, поведение которого должно динамически изменяться в соответствии с состоянием. Выполнение же конкретных действий делегируется объекту состояния.</a:t>
            </a:r>
          </a:p>
        </p:txBody>
      </p:sp>
    </p:spTree>
    <p:extLst>
      <p:ext uri="{BB962C8B-B14F-4D97-AF65-F5344CB8AC3E}">
        <p14:creationId xmlns:p14="http://schemas.microsoft.com/office/powerpoint/2010/main" val="67994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2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297" y="2203229"/>
            <a:ext cx="4601217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1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State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IWaterState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>
                <a:latin typeface="Montserrat"/>
              </a:rPr>
              <a:t>Интерфейс, описывающий состояния </a:t>
            </a:r>
            <a:r>
              <a:rPr lang="ru-RU" sz="2000" spc="-1" dirty="0" smtClean="0">
                <a:latin typeface="Montserrat"/>
              </a:rPr>
              <a:t>воды. 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StateA</a:t>
            </a:r>
            <a:r>
              <a:rPr lang="ru-RU" sz="2000" spc="-1" dirty="0">
                <a:latin typeface="Montserrat"/>
              </a:rPr>
              <a:t> и </a:t>
            </a:r>
            <a:r>
              <a:rPr lang="ru-RU" sz="2000" spc="-1" dirty="0" err="1">
                <a:latin typeface="Montserrat"/>
              </a:rPr>
              <a:t>StateB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GasWaterState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err="1" smtClean="0">
                <a:latin typeface="Montserrat"/>
              </a:rPr>
              <a:t>LiquidWaterState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SolidWaterState</a:t>
            </a:r>
            <a:r>
              <a:rPr lang="ru-RU" sz="2000" spc="-1" dirty="0" smtClean="0">
                <a:latin typeface="Montserrat"/>
              </a:rPr>
              <a:t>. </a:t>
            </a:r>
            <a:r>
              <a:rPr lang="ru-RU" sz="2000" spc="-1" dirty="0">
                <a:latin typeface="Montserrat"/>
              </a:rPr>
              <a:t>Класс, описывающий газообразное состояние воды. Класс, описывающий жидкое состояние </a:t>
            </a:r>
            <a:r>
              <a:rPr lang="ru-RU" sz="2000" spc="-1" dirty="0" smtClean="0">
                <a:latin typeface="Montserrat"/>
              </a:rPr>
              <a:t>воды</a:t>
            </a:r>
            <a:r>
              <a:rPr lang="ru-RU" sz="2000" spc="-1" dirty="0">
                <a:latin typeface="Montserrat"/>
              </a:rPr>
              <a:t>. Класс, описывающий твердое состояние </a:t>
            </a:r>
            <a:r>
              <a:rPr lang="ru-RU" sz="2000" spc="-1" dirty="0" smtClean="0">
                <a:latin typeface="Montserrat"/>
              </a:rPr>
              <a:t>воды.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Context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>
                <a:latin typeface="Montserrat"/>
              </a:rPr>
              <a:t>Water</a:t>
            </a:r>
            <a:r>
              <a:rPr lang="ru-RU" sz="2000" spc="-1" dirty="0">
                <a:latin typeface="Montserrat"/>
              </a:rPr>
              <a:t>. Класс, описывающий </a:t>
            </a:r>
            <a:r>
              <a:rPr lang="ru-RU" sz="2000" spc="-1" dirty="0" smtClean="0">
                <a:latin typeface="Montserrat"/>
              </a:rPr>
              <a:t>воду.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4059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65" y="1980000"/>
            <a:ext cx="1760535" cy="1166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09" y="3693512"/>
            <a:ext cx="2177045" cy="2293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8144" y="1755063"/>
            <a:ext cx="3634155" cy="19833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4153" y="3956465"/>
            <a:ext cx="2422135" cy="2434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2685" y="4137271"/>
            <a:ext cx="3511995" cy="2133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06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1800000"/>
            <a:ext cx="3600120" cy="21636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33" y="4235742"/>
            <a:ext cx="3709762" cy="22295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0222" y="2696453"/>
            <a:ext cx="3811252" cy="2290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1010" y="4055256"/>
            <a:ext cx="4124383" cy="24787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6160" y="1642969"/>
            <a:ext cx="3658520" cy="219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4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State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Избавляет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 множества больших условных операторов машины состояний.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Концентрирует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одном месте код, связанный 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определенным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состоянием.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 контекста.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 неоправданно усложнить код, если состояний мало и они редко меняются.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6059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36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Стратегия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шаблон проектирования, который определяет набор алгоритмов, инкапсулирует каждый из них и обеспечивает их взаимозаменяемость. В зависимости от ситуации мы можем легко заменить один используемый алгоритм другим. При этом замена алгоритма происходит независимо от объекта, который использует данный алгоритм.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Стратегия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есть несколько родственных классов, которые отличаются поведением. Можно задать один основной класс, а разные варианты поведения вынести в отдельные классы и при необходимости их применять.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обеспечить выбор из нескольких вариантов алгоритмов, которые можно легко менять в зависимости от условий.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необходимо менять поведение объектов на стадии выполнения программы.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класс, применяющий определенную функциональность, ничего не должен знать о ее реализации.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309962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IStrategy</a:t>
            </a:r>
            <a:r>
              <a:rPr lang="ru-RU" sz="2000" spc="-1" dirty="0">
                <a:latin typeface="Montserrat"/>
              </a:rPr>
              <a:t>: интерфейс, который определяет метод </a:t>
            </a:r>
            <a:r>
              <a:rPr lang="ru-RU" sz="2000" spc="-1" dirty="0" err="1">
                <a:latin typeface="Montserrat"/>
              </a:rPr>
              <a:t>Algorithm</a:t>
            </a:r>
            <a:r>
              <a:rPr lang="ru-RU" sz="2000" spc="-1" dirty="0">
                <a:latin typeface="Montserrat"/>
              </a:rPr>
              <a:t>(). Это общий интерфейс для всех реализующих его алгоритмов. Вместо интерфейса здесь также можно было бы использовать абстрактный класс.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latin typeface="Montserrat"/>
              </a:rPr>
              <a:t>ConcreteStrategy1 и </a:t>
            </a:r>
            <a:r>
              <a:rPr lang="ru-RU" sz="2000" spc="-1" dirty="0" err="1" smtClean="0">
                <a:latin typeface="Montserrat"/>
              </a:rPr>
              <a:t>ConcreteStrategy</a:t>
            </a:r>
            <a:r>
              <a:rPr lang="en-US" sz="2000" spc="-1" dirty="0" smtClean="0">
                <a:latin typeface="Montserrat"/>
              </a:rPr>
              <a:t>2</a:t>
            </a:r>
            <a:r>
              <a:rPr lang="ru-RU" sz="2000" spc="-1" dirty="0" smtClean="0">
                <a:latin typeface="Montserrat"/>
              </a:rPr>
              <a:t>: </a:t>
            </a:r>
            <a:r>
              <a:rPr lang="ru-RU" sz="2000" spc="-1" dirty="0">
                <a:latin typeface="Montserrat"/>
              </a:rPr>
              <a:t>классы, которые реализуют интерфейс </a:t>
            </a:r>
            <a:r>
              <a:rPr lang="ru-RU" sz="2000" spc="-1" dirty="0" err="1">
                <a:latin typeface="Montserrat"/>
              </a:rPr>
              <a:t>IStrategy</a:t>
            </a:r>
            <a:r>
              <a:rPr lang="ru-RU" sz="2000" spc="-1" dirty="0">
                <a:latin typeface="Montserrat"/>
              </a:rPr>
              <a:t>, предоставляя свою версию метода </a:t>
            </a:r>
            <a:r>
              <a:rPr lang="ru-RU" sz="2000" spc="-1" dirty="0" err="1">
                <a:latin typeface="Montserrat"/>
              </a:rPr>
              <a:t>Algorithm</a:t>
            </a:r>
            <a:r>
              <a:rPr lang="ru-RU" sz="2000" spc="-1" dirty="0">
                <a:latin typeface="Montserrat"/>
              </a:rPr>
              <a:t>(). Подобных классов-реализаций может быть множество.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Context</a:t>
            </a:r>
            <a:r>
              <a:rPr lang="ru-RU" sz="2000" spc="-1" dirty="0">
                <a:latin typeface="Montserrat"/>
              </a:rPr>
              <a:t>: класс, который хранит ссылку на объект </a:t>
            </a:r>
            <a:r>
              <a:rPr lang="ru-RU" sz="2000" spc="-1" dirty="0" err="1">
                <a:latin typeface="Montserrat"/>
              </a:rPr>
              <a:t>IStrategy</a:t>
            </a:r>
            <a:r>
              <a:rPr lang="ru-RU" sz="2000" spc="-1" dirty="0">
                <a:latin typeface="Montserrat"/>
              </a:rPr>
              <a:t> и связан с интерфейсом </a:t>
            </a:r>
            <a:r>
              <a:rPr lang="ru-RU" sz="2000" spc="-1" dirty="0" err="1">
                <a:latin typeface="Montserrat"/>
              </a:rPr>
              <a:t>IStrategy</a:t>
            </a:r>
            <a:r>
              <a:rPr lang="ru-RU" sz="2000" spc="-1" dirty="0">
                <a:latin typeface="Montserrat"/>
              </a:rPr>
              <a:t> отношением агрегации.</a:t>
            </a:r>
          </a:p>
        </p:txBody>
      </p:sp>
    </p:spTree>
    <p:extLst>
      <p:ext uri="{BB962C8B-B14F-4D97-AF65-F5344CB8AC3E}">
        <p14:creationId xmlns:p14="http://schemas.microsoft.com/office/powerpoint/2010/main" val="47527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6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612" y="2131782"/>
            <a:ext cx="5458587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IStrategy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IRouter</a:t>
            </a:r>
            <a:r>
              <a:rPr lang="ru-RU" sz="2000" spc="-1" dirty="0">
                <a:latin typeface="Montserrat"/>
              </a:rPr>
              <a:t>. Интерфейс, описывающий построитель </a:t>
            </a:r>
            <a:r>
              <a:rPr lang="ru-RU" sz="2000" spc="-1" dirty="0" smtClean="0">
                <a:latin typeface="Montserrat"/>
              </a:rPr>
              <a:t>маршрута.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latin typeface="Montserrat"/>
              </a:rPr>
              <a:t>ConcreteStrategy1 и </a:t>
            </a:r>
            <a:r>
              <a:rPr lang="ru-RU" sz="2000" spc="-1" dirty="0" err="1">
                <a:latin typeface="Montserrat"/>
              </a:rPr>
              <a:t>ConcreteStrategy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CarRouter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err="1" smtClean="0">
                <a:latin typeface="Montserrat"/>
              </a:rPr>
              <a:t>PublicTransportRouter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WalkingRouter</a:t>
            </a:r>
            <a:r>
              <a:rPr lang="ru-RU" sz="2000" spc="-1" dirty="0" smtClean="0">
                <a:latin typeface="Montserrat"/>
              </a:rPr>
              <a:t>. </a:t>
            </a:r>
            <a:r>
              <a:rPr lang="ru-RU" sz="2000" spc="-1" dirty="0">
                <a:latin typeface="Montserrat"/>
              </a:rPr>
              <a:t>Класс, описывающий способ перемещения на автомобиле. Класс, описывающий способ перемещения на общественном </a:t>
            </a:r>
            <a:r>
              <a:rPr lang="ru-RU" sz="2000" spc="-1" dirty="0" smtClean="0">
                <a:latin typeface="Montserrat"/>
              </a:rPr>
              <a:t>транспорте</a:t>
            </a:r>
            <a:r>
              <a:rPr lang="ru-RU" sz="2000" spc="-1" dirty="0">
                <a:latin typeface="Montserrat"/>
              </a:rPr>
              <a:t>. Класс, описывающий способ перемещения </a:t>
            </a:r>
            <a:r>
              <a:rPr lang="ru-RU" sz="2000" spc="-1" dirty="0" smtClean="0">
                <a:latin typeface="Montserrat"/>
              </a:rPr>
              <a:t>пешком.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Context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>
                <a:latin typeface="Montserrat"/>
              </a:rPr>
              <a:t>Navigator</a:t>
            </a:r>
            <a:r>
              <a:rPr lang="ru-RU" sz="2000" spc="-1" dirty="0">
                <a:latin typeface="Montserrat"/>
              </a:rPr>
              <a:t>. Класс, описывающий </a:t>
            </a:r>
            <a:r>
              <a:rPr lang="ru-RU" sz="2000" spc="-1" dirty="0" smtClean="0">
                <a:latin typeface="Montserrat"/>
              </a:rPr>
              <a:t>навигатор.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9008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7" y="1967453"/>
            <a:ext cx="2651954" cy="1024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27" y="3765956"/>
            <a:ext cx="4083559" cy="2405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1669" y="1664139"/>
            <a:ext cx="4756661" cy="21339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0549" y="4077664"/>
            <a:ext cx="3921557" cy="22215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4171" y="1205333"/>
            <a:ext cx="2429987" cy="25482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9313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45" y="1930229"/>
            <a:ext cx="3504026" cy="21059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394" y="3715269"/>
            <a:ext cx="3902709" cy="28029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191" y="1601961"/>
            <a:ext cx="3699134" cy="17527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3016" y="2855511"/>
            <a:ext cx="3767514" cy="357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Strategy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Горячая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замена алгоритмов на лету.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Изолирует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код и данные алгоритмов от остальных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Уход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 наследования к делегированию.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Реализует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принцип открытости/закрытости.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 программу за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счет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дополнительных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Клиент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должен знать,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чем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состоит разница между стратегиями, чтобы выбрать подходящую.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2460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805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Шаблонный метод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общий алгоритм поведения подклассов, позволяя им переопределить отдельные шаги этого алгоритма без изменения его структуры.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Шаблонный метод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планируется, что в будущем подклассы должны будут переопределять различные этапы алгоритма без изменения его структуры.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в классах, реализующим схожий алгоритм, происходит дублирование кода. Вынесение общего кода в шаблонный метод уменьшит его дублирование в подклассах.</a:t>
            </a:r>
          </a:p>
        </p:txBody>
      </p:sp>
    </p:spTree>
    <p:extLst>
      <p:ext uri="{BB962C8B-B14F-4D97-AF65-F5344CB8AC3E}">
        <p14:creationId xmlns:p14="http://schemas.microsoft.com/office/powerpoint/2010/main" val="190400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AbstractClass</a:t>
            </a:r>
            <a:r>
              <a:rPr lang="ru-RU" sz="2000" spc="-1" dirty="0">
                <a:latin typeface="Montserrat"/>
              </a:rPr>
              <a:t>: определяет шаблонный метод </a:t>
            </a:r>
            <a:r>
              <a:rPr lang="ru-RU" sz="2000" spc="-1" dirty="0" err="1">
                <a:latin typeface="Montserrat"/>
              </a:rPr>
              <a:t>TemplateMethod</a:t>
            </a:r>
            <a:r>
              <a:rPr lang="ru-RU" sz="2000" spc="-1" dirty="0">
                <a:latin typeface="Montserrat"/>
              </a:rPr>
              <a:t>(), который реализует алгоритм. Алгоритм может состоять из последовательности вызовов других методов, часть из которых может быть абстрактными и должны быть переопределены в классах-наследниках. При этом сам метод </a:t>
            </a:r>
            <a:r>
              <a:rPr lang="ru-RU" sz="2000" spc="-1" dirty="0" err="1">
                <a:latin typeface="Montserrat"/>
              </a:rPr>
              <a:t>TemplateMethod</a:t>
            </a:r>
            <a:r>
              <a:rPr lang="ru-RU" sz="2000" spc="-1" dirty="0">
                <a:latin typeface="Montserrat"/>
              </a:rPr>
              <a:t>(), представляющий структуру алгоритма, переопределяться не должен.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ConcreteClass</a:t>
            </a:r>
            <a:r>
              <a:rPr lang="ru-RU" sz="2000" spc="-1" dirty="0">
                <a:latin typeface="Montserrat"/>
              </a:rPr>
              <a:t>: подкласс, который может переопределять различные методы родительского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174541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634" y="2086322"/>
            <a:ext cx="2429851" cy="29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3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 smtClean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AbstractClass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>
                <a:latin typeface="Montserrat"/>
              </a:rPr>
              <a:t>Education</a:t>
            </a:r>
            <a:r>
              <a:rPr lang="ru-RU" sz="2000" spc="-1" dirty="0">
                <a:latin typeface="Montserrat"/>
              </a:rPr>
              <a:t>. Абстрактный класс, описывающий процесс </a:t>
            </a:r>
            <a:r>
              <a:rPr lang="ru-RU" sz="2000" spc="-1" dirty="0" smtClean="0">
                <a:latin typeface="Montserrat"/>
              </a:rPr>
              <a:t>обучения.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ConcreteClass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SchoolEducation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UniversityEducation</a:t>
            </a:r>
            <a:r>
              <a:rPr lang="ru-RU" sz="2000" spc="-1" dirty="0" smtClean="0">
                <a:latin typeface="Montserrat"/>
              </a:rPr>
              <a:t>. </a:t>
            </a:r>
            <a:r>
              <a:rPr lang="ru-RU" sz="2000" spc="-1" dirty="0">
                <a:latin typeface="Montserrat"/>
              </a:rPr>
              <a:t>Класс, описывающий обучение в школе. Класс, описывающий обучение в </a:t>
            </a:r>
            <a:r>
              <a:rPr lang="ru-RU" sz="2000" spc="-1" dirty="0" smtClean="0">
                <a:latin typeface="Montserrat"/>
              </a:rPr>
              <a:t>университете.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2439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2110907"/>
            <a:ext cx="3200625" cy="29339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823" y="1260000"/>
            <a:ext cx="4862428" cy="1839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348" y="3388863"/>
            <a:ext cx="5217377" cy="3311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87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1893566"/>
            <a:ext cx="3832044" cy="23030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646" y="1695197"/>
            <a:ext cx="4499034" cy="27039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5937" y="3679105"/>
            <a:ext cx="4248777" cy="255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8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Template Method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Облегчает повторное использование кода.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жестко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ограничены скелетом существующего алгоритма.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можете нарушить принцип подстановки Барбары Лисков, изменяя базовое поведение одного из шагов алгоритма через подкласс.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ростом количества шагов шаблонный метод становится слишком сложно поддерживать.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262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781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Описание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Паттерн Посетитель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позволяет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определить операцию для объектов других классов без изменения этих классов.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использовании паттерна Посетитель определяются две иерархии классов: одна для элементов, для которых надо определить новую операцию, и вторая иерархия для посетителей, описывающих данную операцию.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Посетитель используется: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имеется много объектов разнородных классов с разными интерфейсами, и требуется выполнить ряд операций над каждым из этих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классам необходимо добавить одинаковый набор операций без изменения этих классов.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часто добавляются новые операции к классам, при этом общая структура классов стабильна и практически не изменяется.</a:t>
            </a:r>
          </a:p>
        </p:txBody>
      </p:sp>
    </p:spTree>
    <p:extLst>
      <p:ext uri="{BB962C8B-B14F-4D97-AF65-F5344CB8AC3E}">
        <p14:creationId xmlns:p14="http://schemas.microsoft.com/office/powerpoint/2010/main" val="393011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Visitor</a:t>
            </a:r>
            <a:r>
              <a:rPr lang="ru-RU" sz="2000" spc="-1" dirty="0">
                <a:latin typeface="Montserrat"/>
              </a:rPr>
              <a:t>: интерфейс посетителя, который определяет метод </a:t>
            </a:r>
            <a:r>
              <a:rPr lang="ru-RU" sz="2000" spc="-1" dirty="0" err="1">
                <a:latin typeface="Montserrat"/>
              </a:rPr>
              <a:t>Visit</a:t>
            </a:r>
            <a:r>
              <a:rPr lang="ru-RU" sz="2000" spc="-1" dirty="0">
                <a:latin typeface="Montserrat"/>
              </a:rPr>
              <a:t>() для каждого объекта </a:t>
            </a:r>
            <a:r>
              <a:rPr lang="ru-RU" sz="2000" spc="-1" dirty="0" err="1">
                <a:latin typeface="Montserrat"/>
              </a:rPr>
              <a:t>Element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latin typeface="Montserrat"/>
              </a:rPr>
              <a:t>ConcreteVisitor1 / ConcreteVisitor2: конкретные классы посетителей, реализуют интерфейс, определенный в </a:t>
            </a:r>
            <a:r>
              <a:rPr lang="ru-RU" sz="2000" spc="-1" dirty="0" err="1">
                <a:latin typeface="Montserrat"/>
              </a:rPr>
              <a:t>Visitor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Element</a:t>
            </a:r>
            <a:r>
              <a:rPr lang="ru-RU" sz="2000" spc="-1" dirty="0">
                <a:latin typeface="Montserrat"/>
              </a:rPr>
              <a:t>: определяет метод </a:t>
            </a:r>
            <a:r>
              <a:rPr lang="ru-RU" sz="2000" spc="-1" dirty="0" err="1">
                <a:latin typeface="Montserrat"/>
              </a:rPr>
              <a:t>Accept</a:t>
            </a:r>
            <a:r>
              <a:rPr lang="ru-RU" sz="2000" spc="-1" dirty="0">
                <a:latin typeface="Montserrat"/>
              </a:rPr>
              <a:t>(), в котором в качестве параметра принимается объект </a:t>
            </a:r>
            <a:r>
              <a:rPr lang="ru-RU" sz="2000" spc="-1" dirty="0" err="1">
                <a:latin typeface="Montserrat"/>
              </a:rPr>
              <a:t>Visitor</a:t>
            </a:r>
            <a:r>
              <a:rPr lang="ru-RU" sz="2000" spc="-1" dirty="0"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ElementA</a:t>
            </a:r>
            <a:r>
              <a:rPr lang="ru-RU" sz="2000" spc="-1" dirty="0">
                <a:latin typeface="Montserrat"/>
              </a:rPr>
              <a:t> / </a:t>
            </a:r>
            <a:r>
              <a:rPr lang="ru-RU" sz="2000" spc="-1" dirty="0" err="1">
                <a:latin typeface="Montserrat"/>
              </a:rPr>
              <a:t>ElementB</a:t>
            </a:r>
            <a:r>
              <a:rPr lang="ru-RU" sz="2000" spc="-1" dirty="0">
                <a:latin typeface="Montserrat"/>
              </a:rPr>
              <a:t>: конкретные элементы, которые реализуют метод </a:t>
            </a:r>
            <a:r>
              <a:rPr lang="ru-RU" sz="2000" spc="-1" dirty="0" err="1">
                <a:latin typeface="Montserrat"/>
              </a:rPr>
              <a:t>Accept</a:t>
            </a:r>
            <a:r>
              <a:rPr lang="ru-RU" sz="2000" spc="-1" dirty="0">
                <a:latin typeface="Montserrat"/>
              </a:rPr>
              <a:t>().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ObjectStructure</a:t>
            </a:r>
            <a:r>
              <a:rPr lang="ru-RU" sz="2000" spc="-1" dirty="0">
                <a:latin typeface="Montserrat"/>
              </a:rPr>
              <a:t>: некоторая структура, которая хранит объекты </a:t>
            </a:r>
            <a:r>
              <a:rPr lang="ru-RU" sz="2000" spc="-1" dirty="0" err="1">
                <a:latin typeface="Montserrat"/>
              </a:rPr>
              <a:t>Element</a:t>
            </a:r>
            <a:r>
              <a:rPr lang="ru-RU" sz="2000" spc="-1" dirty="0">
                <a:latin typeface="Montserrat"/>
              </a:rPr>
              <a:t> и предоставляет к ним доступ. Это могут быть и простые списки, и сложные составные структуры в виде деревьев.</a:t>
            </a:r>
          </a:p>
        </p:txBody>
      </p:sp>
    </p:spTree>
    <p:extLst>
      <p:ext uri="{BB962C8B-B14F-4D97-AF65-F5344CB8AC3E}">
        <p14:creationId xmlns:p14="http://schemas.microsoft.com/office/powerpoint/2010/main" val="11189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Рисунок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560" y="1980000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5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205" y="1260000"/>
            <a:ext cx="5487166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8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Пример.</a:t>
            </a:r>
            <a:r>
              <a:rPr lang="en-US" sz="2000" spc="-1" dirty="0">
                <a:solidFill>
                  <a:srgbClr val="004892"/>
                </a:solidFill>
                <a:latin typeface="Montserrat Bold"/>
              </a:rPr>
              <a:t>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Участники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Visitor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IVisitor</a:t>
            </a:r>
            <a:r>
              <a:rPr lang="ru-RU" sz="2000" spc="-1" dirty="0" smtClean="0">
                <a:latin typeface="Montserrat"/>
              </a:rPr>
              <a:t>.</a:t>
            </a:r>
            <a:r>
              <a:rPr lang="en-US" sz="2000" spc="-1" dirty="0" smtClean="0">
                <a:latin typeface="Montserrat"/>
              </a:rPr>
              <a:t> </a:t>
            </a:r>
            <a:r>
              <a:rPr lang="ru-RU" sz="2000" spc="-1" dirty="0">
                <a:latin typeface="Montserrat"/>
              </a:rPr>
              <a:t>Интерфейс, предоставляющий методы посещения реализаций интерфейса </a:t>
            </a:r>
            <a:r>
              <a:rPr lang="ru-RU" sz="2000" spc="-1" dirty="0" err="1" smtClean="0">
                <a:latin typeface="Montserrat"/>
              </a:rPr>
              <a:t>IAccount</a:t>
            </a:r>
            <a:r>
              <a:rPr lang="ru-RU" sz="2000" spc="-1" dirty="0" smtClean="0">
                <a:latin typeface="Montserrat"/>
              </a:rPr>
              <a:t>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latin typeface="Montserrat"/>
              </a:rPr>
              <a:t>ConcreteVisitor1 / ConcreteVisitor2: </a:t>
            </a:r>
            <a:r>
              <a:rPr lang="en-US" sz="2000" spc="-1" dirty="0" err="1" smtClean="0">
                <a:latin typeface="Montserrat"/>
              </a:rPr>
              <a:t>ManagerVisitor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SecurityVisitor</a:t>
            </a:r>
            <a:r>
              <a:rPr lang="ru-RU" sz="2000" spc="-1" dirty="0" smtClean="0">
                <a:latin typeface="Montserrat"/>
              </a:rPr>
              <a:t>. </a:t>
            </a:r>
            <a:r>
              <a:rPr lang="ru-RU" sz="2000" spc="-1" dirty="0">
                <a:latin typeface="Montserrat"/>
              </a:rPr>
              <a:t>Класс, описывающий менеджера банка. Класс, описывающий служащего </a:t>
            </a:r>
            <a:r>
              <a:rPr lang="ru-RU" sz="2000" spc="-1" dirty="0" err="1">
                <a:latin typeface="Montserrat"/>
              </a:rPr>
              <a:t>безопаснсти</a:t>
            </a:r>
            <a:r>
              <a:rPr lang="ru-RU" sz="2000" spc="-1" dirty="0">
                <a:latin typeface="Montserrat"/>
              </a:rPr>
              <a:t> </a:t>
            </a:r>
            <a:r>
              <a:rPr lang="ru-RU" sz="2000" spc="-1" dirty="0" smtClean="0">
                <a:latin typeface="Montserrat"/>
              </a:rPr>
              <a:t>банка.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Element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>
                <a:latin typeface="Montserrat"/>
              </a:rPr>
              <a:t>IAccount</a:t>
            </a:r>
            <a:r>
              <a:rPr lang="ru-RU" sz="2000" spc="-1" dirty="0">
                <a:latin typeface="Montserrat"/>
              </a:rPr>
              <a:t>. Интерфейс, представляющий метод </a:t>
            </a:r>
            <a:r>
              <a:rPr lang="ru-RU" sz="2000" spc="-1" dirty="0" err="1">
                <a:latin typeface="Montserrat"/>
              </a:rPr>
              <a:t>Accept</a:t>
            </a:r>
            <a:r>
              <a:rPr lang="ru-RU" sz="2000" spc="-1" dirty="0">
                <a:latin typeface="Montserrat"/>
              </a:rPr>
              <a:t> для </a:t>
            </a:r>
            <a:r>
              <a:rPr lang="ru-RU" sz="2000" spc="-1" dirty="0" err="1">
                <a:latin typeface="Montserrat"/>
              </a:rPr>
              <a:t>приниятия</a:t>
            </a:r>
            <a:r>
              <a:rPr lang="ru-RU" sz="2000" spc="-1" dirty="0">
                <a:latin typeface="Montserrat"/>
              </a:rPr>
              <a:t> </a:t>
            </a:r>
            <a:r>
              <a:rPr lang="ru-RU" sz="2000" spc="-1" dirty="0" smtClean="0">
                <a:latin typeface="Montserrat"/>
              </a:rPr>
              <a:t>посетителя.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ElementA</a:t>
            </a:r>
            <a:r>
              <a:rPr lang="ru-RU" sz="2000" spc="-1" dirty="0">
                <a:latin typeface="Montserrat"/>
              </a:rPr>
              <a:t> / </a:t>
            </a:r>
            <a:r>
              <a:rPr lang="ru-RU" sz="2000" spc="-1" dirty="0" err="1">
                <a:latin typeface="Montserrat"/>
              </a:rPr>
              <a:t>ElementB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 err="1" smtClean="0">
                <a:latin typeface="Montserrat"/>
              </a:rPr>
              <a:t>BankEmployee</a:t>
            </a:r>
            <a:r>
              <a:rPr lang="ru-RU" sz="2000" spc="-1" dirty="0" smtClean="0">
                <a:latin typeface="Montserrat"/>
              </a:rPr>
              <a:t>, </a:t>
            </a:r>
            <a:r>
              <a:rPr lang="en-US" sz="2000" spc="-1" dirty="0" err="1" smtClean="0">
                <a:latin typeface="Montserrat"/>
              </a:rPr>
              <a:t>CorporateClient</a:t>
            </a:r>
            <a:r>
              <a:rPr lang="ru-RU" sz="2000" spc="-1" dirty="0" smtClean="0">
                <a:latin typeface="Montserrat"/>
              </a:rPr>
              <a:t> и </a:t>
            </a:r>
            <a:r>
              <a:rPr lang="en-US" sz="2000" spc="-1" dirty="0" err="1">
                <a:latin typeface="Montserrat"/>
              </a:rPr>
              <a:t>PersonalClient</a:t>
            </a:r>
            <a:r>
              <a:rPr lang="ru-RU" sz="2000" spc="-1" dirty="0" smtClean="0">
                <a:latin typeface="Montserrat"/>
              </a:rPr>
              <a:t>. </a:t>
            </a:r>
            <a:r>
              <a:rPr lang="ru-RU" sz="2000" spc="-1" dirty="0">
                <a:latin typeface="Montserrat"/>
              </a:rPr>
              <a:t>Класс, описывающий сотрудника банка. Класс, описывающий корпоративного </a:t>
            </a:r>
            <a:r>
              <a:rPr lang="ru-RU" sz="2000" spc="-1" dirty="0" smtClean="0">
                <a:latin typeface="Montserrat"/>
              </a:rPr>
              <a:t>клиента</a:t>
            </a:r>
            <a:r>
              <a:rPr lang="ru-RU" sz="2000" spc="-1" dirty="0">
                <a:latin typeface="Montserrat"/>
              </a:rPr>
              <a:t>. Класс, описывающий простого </a:t>
            </a:r>
            <a:r>
              <a:rPr lang="ru-RU" sz="2000" spc="-1" dirty="0" smtClean="0">
                <a:latin typeface="Montserrat"/>
              </a:rPr>
              <a:t>клиента.</a:t>
            </a:r>
            <a:endParaRPr lang="ru-RU" sz="2000" spc="-1" dirty="0"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latin typeface="Montserrat"/>
              </a:rPr>
              <a:t>ObjectStructure</a:t>
            </a:r>
            <a:r>
              <a:rPr lang="ru-RU" sz="2000" spc="-1" dirty="0">
                <a:latin typeface="Montserrat"/>
              </a:rPr>
              <a:t>: </a:t>
            </a:r>
            <a:r>
              <a:rPr lang="en-US" sz="2000" spc="-1" dirty="0">
                <a:latin typeface="Montserrat"/>
              </a:rPr>
              <a:t>Bank</a:t>
            </a:r>
            <a:r>
              <a:rPr lang="ru-RU" sz="2000" spc="-1" dirty="0">
                <a:latin typeface="Montserrat"/>
              </a:rPr>
              <a:t>. Класс, описывающий банк с сотрудниками и </a:t>
            </a:r>
            <a:r>
              <a:rPr lang="ru-RU" sz="2000" spc="-1" dirty="0" smtClean="0">
                <a:latin typeface="Montserrat"/>
              </a:rPr>
              <a:t>клиентами.</a:t>
            </a:r>
            <a:endParaRPr lang="ru-RU" sz="2000" spc="-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4982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Код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91" y="1800000"/>
            <a:ext cx="2952937" cy="8711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5" y="2939209"/>
            <a:ext cx="2863243" cy="11961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00" y="4319549"/>
            <a:ext cx="3062047" cy="20239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2937" y="1539275"/>
            <a:ext cx="3109484" cy="1763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116" y="3394847"/>
            <a:ext cx="3425985" cy="19678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6360" y="1105009"/>
            <a:ext cx="4217941" cy="1159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6835" y="2812115"/>
            <a:ext cx="4957848" cy="11654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5839" y="4103467"/>
            <a:ext cx="3607293" cy="2614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12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Пример. Решение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0" y="1980000"/>
            <a:ext cx="3471996" cy="20866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239" y="4261456"/>
            <a:ext cx="3892642" cy="23394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988" y="1628691"/>
            <a:ext cx="3748263" cy="22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7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Visitor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добавление операций, работающих со сложными структурами объектов.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Объединяет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родственные операции в одном классе.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Посетитель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 накапливать состояние при обходе структуры элементов.</a:t>
            </a:r>
          </a:p>
        </p:txBody>
      </p:sp>
      <p:sp>
        <p:nvSpPr>
          <p:cNvPr id="8" name="CustomShape 4"/>
          <p:cNvSpPr/>
          <p:nvPr/>
        </p:nvSpPr>
        <p:spPr>
          <a:xfrm>
            <a:off x="5400000" y="1260000"/>
            <a:ext cx="486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5399999" y="1980000"/>
            <a:ext cx="486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оправдан, если иерархия элементов часто меняется.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Может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привести к нарушению инкапсуляции элементов.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5767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</a:spPr>
      <a:bodyPr>
        <a:noAutofit/>
      </a:bodyPr>
      <a:lstStyle>
        <a:defPPr>
          <a:lnSpc>
            <a:spcPct val="100000"/>
          </a:lnSpc>
          <a:defRPr sz="1400" b="0" strike="noStrike" spc="-1">
            <a:solidFill>
              <a:srgbClr val="004892"/>
            </a:solidFill>
            <a:latin typeface="Montserra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10509</TotalTime>
  <Words>3754</Words>
  <Application>Microsoft Office PowerPoint</Application>
  <PresentationFormat>Custom</PresentationFormat>
  <Paragraphs>659</Paragraphs>
  <Slides>102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3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Evgenii Egov</cp:lastModifiedBy>
  <cp:revision>815</cp:revision>
  <dcterms:created xsi:type="dcterms:W3CDTF">2019-09-16T12:04:13Z</dcterms:created>
  <dcterms:modified xsi:type="dcterms:W3CDTF">2022-11-29T06:29:06Z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