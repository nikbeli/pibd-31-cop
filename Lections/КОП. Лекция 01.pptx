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256" r:id="rId2"/>
    <p:sldId id="269" r:id="rId3"/>
    <p:sldId id="271" r:id="rId4"/>
    <p:sldId id="303" r:id="rId5"/>
    <p:sldId id="301" r:id="rId6"/>
    <p:sldId id="302" r:id="rId7"/>
    <p:sldId id="304" r:id="rId8"/>
    <p:sldId id="305" r:id="rId9"/>
    <p:sldId id="308" r:id="rId10"/>
    <p:sldId id="309" r:id="rId11"/>
    <p:sldId id="306" r:id="rId12"/>
    <p:sldId id="307" r:id="rId13"/>
    <p:sldId id="310" r:id="rId14"/>
    <p:sldId id="300" r:id="rId15"/>
    <p:sldId id="311" r:id="rId16"/>
    <p:sldId id="312" r:id="rId17"/>
    <p:sldId id="313" r:id="rId18"/>
    <p:sldId id="314" r:id="rId19"/>
    <p:sldId id="316" r:id="rId20"/>
    <p:sldId id="315" r:id="rId21"/>
    <p:sldId id="318" r:id="rId22"/>
    <p:sldId id="319" r:id="rId23"/>
    <p:sldId id="320" r:id="rId24"/>
    <p:sldId id="321" r:id="rId25"/>
    <p:sldId id="322" r:id="rId26"/>
    <p:sldId id="323" r:id="rId27"/>
    <p:sldId id="324" r:id="rId28"/>
    <p:sldId id="317" r:id="rId29"/>
    <p:sldId id="325" r:id="rId30"/>
    <p:sldId id="326" r:id="rId31"/>
    <p:sldId id="327" r:id="rId32"/>
    <p:sldId id="328" r:id="rId33"/>
    <p:sldId id="329" r:id="rId34"/>
    <p:sldId id="330" r:id="rId35"/>
    <p:sldId id="331" r:id="rId36"/>
    <p:sldId id="332" r:id="rId37"/>
    <p:sldId id="333" r:id="rId38"/>
    <p:sldId id="334" r:id="rId39"/>
    <p:sldId id="335" r:id="rId40"/>
    <p:sldId id="336" r:id="rId41"/>
    <p:sldId id="337" r:id="rId42"/>
    <p:sldId id="338" r:id="rId43"/>
    <p:sldId id="339" r:id="rId44"/>
    <p:sldId id="340" r:id="rId45"/>
    <p:sldId id="341" r:id="rId46"/>
    <p:sldId id="342" r:id="rId47"/>
    <p:sldId id="345" r:id="rId48"/>
    <p:sldId id="343" r:id="rId49"/>
    <p:sldId id="344" r:id="rId50"/>
    <p:sldId id="346" r:id="rId51"/>
    <p:sldId id="347" r:id="rId52"/>
    <p:sldId id="348" r:id="rId53"/>
    <p:sldId id="349" r:id="rId54"/>
    <p:sldId id="351" r:id="rId55"/>
    <p:sldId id="352" r:id="rId56"/>
    <p:sldId id="353" r:id="rId57"/>
    <p:sldId id="354" r:id="rId58"/>
    <p:sldId id="355" r:id="rId59"/>
    <p:sldId id="356" r:id="rId60"/>
    <p:sldId id="357" r:id="rId61"/>
    <p:sldId id="358" r:id="rId62"/>
    <p:sldId id="359" r:id="rId63"/>
    <p:sldId id="360" r:id="rId64"/>
    <p:sldId id="361" r:id="rId65"/>
    <p:sldId id="362" r:id="rId66"/>
    <p:sldId id="363" r:id="rId67"/>
    <p:sldId id="364" r:id="rId68"/>
    <p:sldId id="365" r:id="rId69"/>
    <p:sldId id="366" r:id="rId70"/>
    <p:sldId id="367" r:id="rId71"/>
    <p:sldId id="368" r:id="rId72"/>
    <p:sldId id="369" r:id="rId73"/>
    <p:sldId id="370" r:id="rId74"/>
    <p:sldId id="371" r:id="rId75"/>
    <p:sldId id="260" r:id="rId76"/>
  </p:sldIdLst>
  <p:sldSz cx="10691813" cy="7559675"/>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Введение" id="{5D9F7A72-7903-4791-9B02-03B0CC4EBD96}">
          <p14:sldIdLst>
            <p14:sldId id="256"/>
          </p14:sldIdLst>
        </p14:section>
        <p14:section name="Компонентно-ориентированный подход" id="{E08CC9DD-223C-4625-B723-68B607D9346D}">
          <p14:sldIdLst>
            <p14:sldId id="269"/>
            <p14:sldId id="271"/>
            <p14:sldId id="303"/>
            <p14:sldId id="301"/>
            <p14:sldId id="302"/>
            <p14:sldId id="304"/>
            <p14:sldId id="305"/>
            <p14:sldId id="308"/>
            <p14:sldId id="309"/>
          </p14:sldIdLst>
        </p14:section>
        <p14:section name="Компонент" id="{98629507-A96D-40D7-8DD0-9E8CFC2B8C22}">
          <p14:sldIdLst>
            <p14:sldId id="306"/>
            <p14:sldId id="307"/>
            <p14:sldId id="310"/>
            <p14:sldId id="300"/>
            <p14:sldId id="311"/>
            <p14:sldId id="312"/>
            <p14:sldId id="313"/>
            <p14:sldId id="314"/>
            <p14:sldId id="316"/>
            <p14:sldId id="315"/>
            <p14:sldId id="318"/>
            <p14:sldId id="319"/>
            <p14:sldId id="320"/>
            <p14:sldId id="321"/>
            <p14:sldId id="322"/>
          </p14:sldIdLst>
        </p14:section>
        <p14:section name="Пользовательские элементы управления" id="{5EB818E5-2B57-4B90-8A31-4C54812125F9}">
          <p14:sldIdLst>
            <p14:sldId id="323"/>
            <p14:sldId id="324"/>
            <p14:sldId id="317"/>
            <p14:sldId id="325"/>
          </p14:sldIdLst>
        </p14:section>
        <p14:section name="Стандарты взаимодействия компонент" id="{D20412CE-A15B-4BCE-9260-B6FF33BF5895}">
          <p14:sldIdLst>
            <p14:sldId id="326"/>
            <p14:sldId id="327"/>
            <p14:sldId id="328"/>
            <p14:sldId id="329"/>
            <p14:sldId id="330"/>
            <p14:sldId id="331"/>
            <p14:sldId id="332"/>
            <p14:sldId id="333"/>
            <p14:sldId id="334"/>
            <p14:sldId id="335"/>
            <p14:sldId id="336"/>
            <p14:sldId id="337"/>
            <p14:sldId id="338"/>
            <p14:sldId id="339"/>
            <p14:sldId id="340"/>
            <p14:sldId id="341"/>
            <p14:sldId id="342"/>
            <p14:sldId id="345"/>
            <p14:sldId id="343"/>
            <p14:sldId id="344"/>
          </p14:sldIdLst>
        </p14:section>
        <p14:section name="Плагины" id="{44EC15AB-8C9B-4CE6-B864-1468542F2F4A}">
          <p14:sldIdLst>
            <p14:sldId id="346"/>
            <p14:sldId id="347"/>
            <p14:sldId id="348"/>
            <p14:sldId id="349"/>
            <p14:sldId id="351"/>
            <p14:sldId id="352"/>
            <p14:sldId id="353"/>
            <p14:sldId id="354"/>
            <p14:sldId id="355"/>
            <p14:sldId id="356"/>
            <p14:sldId id="357"/>
            <p14:sldId id="358"/>
            <p14:sldId id="359"/>
            <p14:sldId id="360"/>
            <p14:sldId id="361"/>
            <p14:sldId id="362"/>
            <p14:sldId id="363"/>
            <p14:sldId id="364"/>
            <p14:sldId id="365"/>
            <p14:sldId id="366"/>
            <p14:sldId id="367"/>
            <p14:sldId id="368"/>
            <p14:sldId id="369"/>
            <p14:sldId id="370"/>
            <p14:sldId id="371"/>
          </p14:sldIdLst>
        </p14:section>
        <p14:section name="Завершение" id="{57706748-57AD-45AB-9FB3-1B9A00E91AB5}">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74" autoAdjust="0"/>
    <p:restoredTop sz="94660"/>
  </p:normalViewPr>
  <p:slideViewPr>
    <p:cSldViewPr snapToGrid="0">
      <p:cViewPr varScale="1">
        <p:scale>
          <a:sx n="99" d="100"/>
          <a:sy n="99" d="100"/>
        </p:scale>
        <p:origin x="145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43B9156D-793D-4199-AAB2-E661653C6D60}" type="datetimeFigureOut">
              <a:rPr lang="en-US" smtClean="0"/>
              <a:t>9/7/2022</a:t>
            </a:fld>
            <a:endParaRPr lang="en-US"/>
          </a:p>
        </p:txBody>
      </p:sp>
      <p:sp>
        <p:nvSpPr>
          <p:cNvPr id="4" name="Slide Image Placeholder 3"/>
          <p:cNvSpPr>
            <a:spLocks noGrp="1" noRot="1" noChangeAspect="1"/>
          </p:cNvSpPr>
          <p:nvPr>
            <p:ph type="sldImg" idx="2"/>
          </p:nvPr>
        </p:nvSpPr>
        <p:spPr>
          <a:xfrm>
            <a:off x="1228725" y="1336675"/>
            <a:ext cx="51022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E10D884F-4143-43AF-878B-33CC48EE52DB}" type="slidenum">
              <a:rPr lang="en-US" smtClean="0"/>
              <a:t>‹#›</a:t>
            </a:fld>
            <a:endParaRPr lang="en-US"/>
          </a:p>
        </p:txBody>
      </p:sp>
    </p:spTree>
    <p:extLst>
      <p:ext uri="{BB962C8B-B14F-4D97-AF65-F5344CB8AC3E}">
        <p14:creationId xmlns:p14="http://schemas.microsoft.com/office/powerpoint/2010/main" val="3547658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14</a:t>
            </a:fld>
            <a:endParaRPr lang="en-US"/>
          </a:p>
        </p:txBody>
      </p:sp>
    </p:spTree>
    <p:extLst>
      <p:ext uri="{BB962C8B-B14F-4D97-AF65-F5344CB8AC3E}">
        <p14:creationId xmlns:p14="http://schemas.microsoft.com/office/powerpoint/2010/main" val="13938941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15</a:t>
            </a:fld>
            <a:endParaRPr lang="en-US"/>
          </a:p>
        </p:txBody>
      </p:sp>
    </p:spTree>
    <p:extLst>
      <p:ext uri="{BB962C8B-B14F-4D97-AF65-F5344CB8AC3E}">
        <p14:creationId xmlns:p14="http://schemas.microsoft.com/office/powerpoint/2010/main" val="545731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16</a:t>
            </a:fld>
            <a:endParaRPr lang="en-US"/>
          </a:p>
        </p:txBody>
      </p:sp>
    </p:spTree>
    <p:extLst>
      <p:ext uri="{BB962C8B-B14F-4D97-AF65-F5344CB8AC3E}">
        <p14:creationId xmlns:p14="http://schemas.microsoft.com/office/powerpoint/2010/main" val="2695174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17</a:t>
            </a:fld>
            <a:endParaRPr lang="en-US"/>
          </a:p>
        </p:txBody>
      </p:sp>
    </p:spTree>
    <p:extLst>
      <p:ext uri="{BB962C8B-B14F-4D97-AF65-F5344CB8AC3E}">
        <p14:creationId xmlns:p14="http://schemas.microsoft.com/office/powerpoint/2010/main" val="10268005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18</a:t>
            </a:fld>
            <a:endParaRPr lang="en-US"/>
          </a:p>
        </p:txBody>
      </p:sp>
    </p:spTree>
    <p:extLst>
      <p:ext uri="{BB962C8B-B14F-4D97-AF65-F5344CB8AC3E}">
        <p14:creationId xmlns:p14="http://schemas.microsoft.com/office/powerpoint/2010/main" val="24879080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20</a:t>
            </a:fld>
            <a:endParaRPr lang="en-US"/>
          </a:p>
        </p:txBody>
      </p:sp>
    </p:spTree>
    <p:extLst>
      <p:ext uri="{BB962C8B-B14F-4D97-AF65-F5344CB8AC3E}">
        <p14:creationId xmlns:p14="http://schemas.microsoft.com/office/powerpoint/2010/main" val="841488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21</a:t>
            </a:fld>
            <a:endParaRPr lang="en-US"/>
          </a:p>
        </p:txBody>
      </p:sp>
    </p:spTree>
    <p:extLst>
      <p:ext uri="{BB962C8B-B14F-4D97-AF65-F5344CB8AC3E}">
        <p14:creationId xmlns:p14="http://schemas.microsoft.com/office/powerpoint/2010/main" val="19273933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22</a:t>
            </a:fld>
            <a:endParaRPr lang="en-US"/>
          </a:p>
        </p:txBody>
      </p:sp>
    </p:spTree>
    <p:extLst>
      <p:ext uri="{BB962C8B-B14F-4D97-AF65-F5344CB8AC3E}">
        <p14:creationId xmlns:p14="http://schemas.microsoft.com/office/powerpoint/2010/main" val="34179830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23</a:t>
            </a:fld>
            <a:endParaRPr lang="en-US"/>
          </a:p>
        </p:txBody>
      </p:sp>
    </p:spTree>
    <p:extLst>
      <p:ext uri="{BB962C8B-B14F-4D97-AF65-F5344CB8AC3E}">
        <p14:creationId xmlns:p14="http://schemas.microsoft.com/office/powerpoint/2010/main" val="17281065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24</a:t>
            </a:fld>
            <a:endParaRPr lang="en-US"/>
          </a:p>
        </p:txBody>
      </p:sp>
    </p:spTree>
    <p:extLst>
      <p:ext uri="{BB962C8B-B14F-4D97-AF65-F5344CB8AC3E}">
        <p14:creationId xmlns:p14="http://schemas.microsoft.com/office/powerpoint/2010/main" val="31432356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25</a:t>
            </a:fld>
            <a:endParaRPr lang="en-US"/>
          </a:p>
        </p:txBody>
      </p:sp>
    </p:spTree>
    <p:extLst>
      <p:ext uri="{BB962C8B-B14F-4D97-AF65-F5344CB8AC3E}">
        <p14:creationId xmlns:p14="http://schemas.microsoft.com/office/powerpoint/2010/main" val="19771128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28</a:t>
            </a:fld>
            <a:endParaRPr lang="en-US"/>
          </a:p>
        </p:txBody>
      </p:sp>
    </p:spTree>
    <p:extLst>
      <p:ext uri="{BB962C8B-B14F-4D97-AF65-F5344CB8AC3E}">
        <p14:creationId xmlns:p14="http://schemas.microsoft.com/office/powerpoint/2010/main" val="24504476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29</a:t>
            </a:fld>
            <a:endParaRPr lang="en-US"/>
          </a:p>
        </p:txBody>
      </p:sp>
    </p:spTree>
    <p:extLst>
      <p:ext uri="{BB962C8B-B14F-4D97-AF65-F5344CB8AC3E}">
        <p14:creationId xmlns:p14="http://schemas.microsoft.com/office/powerpoint/2010/main" val="10476588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34</a:t>
            </a:fld>
            <a:endParaRPr lang="en-US"/>
          </a:p>
        </p:txBody>
      </p:sp>
    </p:spTree>
    <p:extLst>
      <p:ext uri="{BB962C8B-B14F-4D97-AF65-F5344CB8AC3E}">
        <p14:creationId xmlns:p14="http://schemas.microsoft.com/office/powerpoint/2010/main" val="42831652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36</a:t>
            </a:fld>
            <a:endParaRPr lang="en-US"/>
          </a:p>
        </p:txBody>
      </p:sp>
    </p:spTree>
    <p:extLst>
      <p:ext uri="{BB962C8B-B14F-4D97-AF65-F5344CB8AC3E}">
        <p14:creationId xmlns:p14="http://schemas.microsoft.com/office/powerpoint/2010/main" val="32516092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46</a:t>
            </a:fld>
            <a:endParaRPr lang="en-US"/>
          </a:p>
        </p:txBody>
      </p:sp>
    </p:spTree>
    <p:extLst>
      <p:ext uri="{BB962C8B-B14F-4D97-AF65-F5344CB8AC3E}">
        <p14:creationId xmlns:p14="http://schemas.microsoft.com/office/powerpoint/2010/main" val="2465340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47</a:t>
            </a:fld>
            <a:endParaRPr lang="en-US"/>
          </a:p>
        </p:txBody>
      </p:sp>
    </p:spTree>
    <p:extLst>
      <p:ext uri="{BB962C8B-B14F-4D97-AF65-F5344CB8AC3E}">
        <p14:creationId xmlns:p14="http://schemas.microsoft.com/office/powerpoint/2010/main" val="3226706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54</a:t>
            </a:fld>
            <a:endParaRPr lang="en-US"/>
          </a:p>
        </p:txBody>
      </p:sp>
    </p:spTree>
    <p:extLst>
      <p:ext uri="{BB962C8B-B14F-4D97-AF65-F5344CB8AC3E}">
        <p14:creationId xmlns:p14="http://schemas.microsoft.com/office/powerpoint/2010/main" val="31998566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55</a:t>
            </a:fld>
            <a:endParaRPr lang="en-US"/>
          </a:p>
        </p:txBody>
      </p:sp>
    </p:spTree>
    <p:extLst>
      <p:ext uri="{BB962C8B-B14F-4D97-AF65-F5344CB8AC3E}">
        <p14:creationId xmlns:p14="http://schemas.microsoft.com/office/powerpoint/2010/main" val="42091311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56</a:t>
            </a:fld>
            <a:endParaRPr lang="en-US"/>
          </a:p>
        </p:txBody>
      </p:sp>
    </p:spTree>
    <p:extLst>
      <p:ext uri="{BB962C8B-B14F-4D97-AF65-F5344CB8AC3E}">
        <p14:creationId xmlns:p14="http://schemas.microsoft.com/office/powerpoint/2010/main" val="11972105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65</a:t>
            </a:fld>
            <a:endParaRPr lang="en-US"/>
          </a:p>
        </p:txBody>
      </p:sp>
    </p:spTree>
    <p:extLst>
      <p:ext uri="{BB962C8B-B14F-4D97-AF65-F5344CB8AC3E}">
        <p14:creationId xmlns:p14="http://schemas.microsoft.com/office/powerpoint/2010/main" val="16135817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66</a:t>
            </a:fld>
            <a:endParaRPr lang="en-US"/>
          </a:p>
        </p:txBody>
      </p:sp>
    </p:spTree>
    <p:extLst>
      <p:ext uri="{BB962C8B-B14F-4D97-AF65-F5344CB8AC3E}">
        <p14:creationId xmlns:p14="http://schemas.microsoft.com/office/powerpoint/2010/main" val="10553074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67</a:t>
            </a:fld>
            <a:endParaRPr lang="en-US"/>
          </a:p>
        </p:txBody>
      </p:sp>
    </p:spTree>
    <p:extLst>
      <p:ext uri="{BB962C8B-B14F-4D97-AF65-F5344CB8AC3E}">
        <p14:creationId xmlns:p14="http://schemas.microsoft.com/office/powerpoint/2010/main" val="3281271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68</a:t>
            </a:fld>
            <a:endParaRPr lang="en-US"/>
          </a:p>
        </p:txBody>
      </p:sp>
    </p:spTree>
    <p:extLst>
      <p:ext uri="{BB962C8B-B14F-4D97-AF65-F5344CB8AC3E}">
        <p14:creationId xmlns:p14="http://schemas.microsoft.com/office/powerpoint/2010/main" val="21065784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69</a:t>
            </a:fld>
            <a:endParaRPr lang="en-US"/>
          </a:p>
        </p:txBody>
      </p:sp>
    </p:spTree>
    <p:extLst>
      <p:ext uri="{BB962C8B-B14F-4D97-AF65-F5344CB8AC3E}">
        <p14:creationId xmlns:p14="http://schemas.microsoft.com/office/powerpoint/2010/main" val="37187629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71</a:t>
            </a:fld>
            <a:endParaRPr lang="en-US"/>
          </a:p>
        </p:txBody>
      </p:sp>
    </p:spTree>
    <p:extLst>
      <p:ext uri="{BB962C8B-B14F-4D97-AF65-F5344CB8AC3E}">
        <p14:creationId xmlns:p14="http://schemas.microsoft.com/office/powerpoint/2010/main" val="154378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72</a:t>
            </a:fld>
            <a:endParaRPr lang="en-US"/>
          </a:p>
        </p:txBody>
      </p:sp>
    </p:spTree>
    <p:extLst>
      <p:ext uri="{BB962C8B-B14F-4D97-AF65-F5344CB8AC3E}">
        <p14:creationId xmlns:p14="http://schemas.microsoft.com/office/powerpoint/2010/main" val="33625322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73</a:t>
            </a:fld>
            <a:endParaRPr lang="en-US"/>
          </a:p>
        </p:txBody>
      </p:sp>
    </p:spTree>
    <p:extLst>
      <p:ext uri="{BB962C8B-B14F-4D97-AF65-F5344CB8AC3E}">
        <p14:creationId xmlns:p14="http://schemas.microsoft.com/office/powerpoint/2010/main" val="5221339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10D884F-4143-43AF-878B-33CC48EE52DB}" type="slidenum">
              <a:rPr lang="en-US" smtClean="0"/>
              <a:t>74</a:t>
            </a:fld>
            <a:endParaRPr lang="en-US"/>
          </a:p>
        </p:txBody>
      </p:sp>
    </p:spTree>
    <p:extLst>
      <p:ext uri="{BB962C8B-B14F-4D97-AF65-F5344CB8AC3E}">
        <p14:creationId xmlns:p14="http://schemas.microsoft.com/office/powerpoint/2010/main" val="3066528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6" name="PlaceHolder 2"/>
          <p:cNvSpPr>
            <a:spLocks noGrp="1"/>
          </p:cNvSpPr>
          <p:nvPr>
            <p:ph type="subTitle"/>
          </p:nvPr>
        </p:nvSpPr>
        <p:spPr>
          <a:xfrm>
            <a:off x="534240" y="1768680"/>
            <a:ext cx="9622080" cy="43840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8" name="PlaceHolder 2"/>
          <p:cNvSpPr>
            <a:spLocks noGrp="1"/>
          </p:cNvSpPr>
          <p:nvPr>
            <p:ph type="body"/>
          </p:nvPr>
        </p:nvSpPr>
        <p:spPr>
          <a:xfrm>
            <a:off x="534240" y="1768680"/>
            <a:ext cx="96220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0"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1"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01720" y="1237320"/>
            <a:ext cx="9087840" cy="121996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5"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6" name="PlaceHolder 3"/>
          <p:cNvSpPr>
            <a:spLocks noGrp="1"/>
          </p:cNvSpPr>
          <p:nvPr>
            <p:ph type="body"/>
          </p:nvPr>
        </p:nvSpPr>
        <p:spPr>
          <a:xfrm>
            <a:off x="546480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17"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19" name="PlaceHolder 2"/>
          <p:cNvSpPr>
            <a:spLocks noGrp="1"/>
          </p:cNvSpPr>
          <p:nvPr>
            <p:ph type="body"/>
          </p:nvPr>
        </p:nvSpPr>
        <p:spPr>
          <a:xfrm>
            <a:off x="534240" y="1768680"/>
            <a:ext cx="4695480" cy="43840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0"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1" name="PlaceHolder 4"/>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3"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4"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5" name="PlaceHolder 4"/>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27" name="PlaceHolder 2"/>
          <p:cNvSpPr>
            <a:spLocks noGrp="1"/>
          </p:cNvSpPr>
          <p:nvPr>
            <p:ph type="body"/>
          </p:nvPr>
        </p:nvSpPr>
        <p:spPr>
          <a:xfrm>
            <a:off x="534240" y="176868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28" name="PlaceHolder 3"/>
          <p:cNvSpPr>
            <a:spLocks noGrp="1"/>
          </p:cNvSpPr>
          <p:nvPr>
            <p:ph type="body"/>
          </p:nvPr>
        </p:nvSpPr>
        <p:spPr>
          <a:xfrm>
            <a:off x="534240" y="4058640"/>
            <a:ext cx="96220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0" name="PlaceHolder 2"/>
          <p:cNvSpPr>
            <a:spLocks noGrp="1"/>
          </p:cNvSpPr>
          <p:nvPr>
            <p:ph type="body"/>
          </p:nvPr>
        </p:nvSpPr>
        <p:spPr>
          <a:xfrm>
            <a:off x="53424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1" name="PlaceHolder 3"/>
          <p:cNvSpPr>
            <a:spLocks noGrp="1"/>
          </p:cNvSpPr>
          <p:nvPr>
            <p:ph type="body"/>
          </p:nvPr>
        </p:nvSpPr>
        <p:spPr>
          <a:xfrm>
            <a:off x="5464800" y="176868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2" name="PlaceHolder 4"/>
          <p:cNvSpPr>
            <a:spLocks noGrp="1"/>
          </p:cNvSpPr>
          <p:nvPr>
            <p:ph type="body"/>
          </p:nvPr>
        </p:nvSpPr>
        <p:spPr>
          <a:xfrm>
            <a:off x="53424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3" name="PlaceHolder 5"/>
          <p:cNvSpPr>
            <a:spLocks noGrp="1"/>
          </p:cNvSpPr>
          <p:nvPr>
            <p:ph type="body"/>
          </p:nvPr>
        </p:nvSpPr>
        <p:spPr>
          <a:xfrm>
            <a:off x="5464800" y="4058640"/>
            <a:ext cx="469548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01720" y="1237320"/>
            <a:ext cx="9087840" cy="2631600"/>
          </a:xfrm>
          <a:prstGeom prst="rect">
            <a:avLst/>
          </a:prstGeom>
        </p:spPr>
        <p:txBody>
          <a:bodyPr lIns="0" tIns="0" rIns="0" bIns="0" anchor="ctr">
            <a:noAutofit/>
          </a:bodyPr>
          <a:lstStyle/>
          <a:p>
            <a:endParaRPr lang="en-US" sz="1800" b="0" strike="noStrike" spc="-1">
              <a:solidFill>
                <a:srgbClr val="000000"/>
              </a:solidFill>
              <a:latin typeface="Geometria light"/>
            </a:endParaRPr>
          </a:p>
        </p:txBody>
      </p:sp>
      <p:sp>
        <p:nvSpPr>
          <p:cNvPr id="35" name="PlaceHolder 2"/>
          <p:cNvSpPr>
            <a:spLocks noGrp="1"/>
          </p:cNvSpPr>
          <p:nvPr>
            <p:ph type="body"/>
          </p:nvPr>
        </p:nvSpPr>
        <p:spPr>
          <a:xfrm>
            <a:off x="534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6" name="PlaceHolder 3"/>
          <p:cNvSpPr>
            <a:spLocks noGrp="1"/>
          </p:cNvSpPr>
          <p:nvPr>
            <p:ph type="body"/>
          </p:nvPr>
        </p:nvSpPr>
        <p:spPr>
          <a:xfrm>
            <a:off x="378756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7" name="PlaceHolder 4"/>
          <p:cNvSpPr>
            <a:spLocks noGrp="1"/>
          </p:cNvSpPr>
          <p:nvPr>
            <p:ph type="body"/>
          </p:nvPr>
        </p:nvSpPr>
        <p:spPr>
          <a:xfrm>
            <a:off x="7041240" y="176868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8" name="PlaceHolder 5"/>
          <p:cNvSpPr>
            <a:spLocks noGrp="1"/>
          </p:cNvSpPr>
          <p:nvPr>
            <p:ph type="body"/>
          </p:nvPr>
        </p:nvSpPr>
        <p:spPr>
          <a:xfrm>
            <a:off x="534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39" name="PlaceHolder 6"/>
          <p:cNvSpPr>
            <a:spLocks noGrp="1"/>
          </p:cNvSpPr>
          <p:nvPr>
            <p:ph type="body"/>
          </p:nvPr>
        </p:nvSpPr>
        <p:spPr>
          <a:xfrm>
            <a:off x="378756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
        <p:nvSpPr>
          <p:cNvPr id="40" name="PlaceHolder 7"/>
          <p:cNvSpPr>
            <a:spLocks noGrp="1"/>
          </p:cNvSpPr>
          <p:nvPr>
            <p:ph type="body"/>
          </p:nvPr>
        </p:nvSpPr>
        <p:spPr>
          <a:xfrm>
            <a:off x="7041240" y="4058640"/>
            <a:ext cx="3098160" cy="2090880"/>
          </a:xfrm>
          <a:prstGeom prst="rect">
            <a:avLst/>
          </a:prstGeom>
        </p:spPr>
        <p:txBody>
          <a:bodyPr lIns="0" tIns="0" rIns="0" bIns="0">
            <a:normAutofit/>
          </a:bodyPr>
          <a:lstStyle/>
          <a:p>
            <a:endParaRPr lang="en-US" sz="3090" b="0" strike="noStrike" spc="-1">
              <a:solidFill>
                <a:srgbClr val="000000"/>
              </a:solidFill>
              <a:latin typeface="Geometria light"/>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01720" y="1237320"/>
            <a:ext cx="9087840" cy="2631600"/>
          </a:xfrm>
          <a:prstGeom prst="rect">
            <a:avLst/>
          </a:prstGeom>
        </p:spPr>
        <p:txBody>
          <a:bodyPr anchor="b">
            <a:noAutofit/>
          </a:bodyPr>
          <a:lstStyle/>
          <a:p>
            <a:pPr algn="ctr">
              <a:lnSpc>
                <a:spcPct val="90000"/>
              </a:lnSpc>
            </a:pPr>
            <a:r>
              <a:rPr lang="ru-RU" sz="6619" b="0" strike="noStrike" spc="-1">
                <a:solidFill>
                  <a:srgbClr val="000000"/>
                </a:solidFill>
                <a:latin typeface="Geometria  bold"/>
              </a:rPr>
              <a:t>Образец заголовка</a:t>
            </a:r>
            <a:endParaRPr lang="en-US" sz="6619" b="0" strike="noStrike" spc="-1">
              <a:solidFill>
                <a:srgbClr val="000000"/>
              </a:solidFill>
              <a:latin typeface="Geometria light"/>
            </a:endParaRPr>
          </a:p>
        </p:txBody>
      </p:sp>
      <p:sp>
        <p:nvSpPr>
          <p:cNvPr id="6" name="PlaceHolder 2"/>
          <p:cNvSpPr>
            <a:spLocks noGrp="1"/>
          </p:cNvSpPr>
          <p:nvPr>
            <p:ph type="dt"/>
          </p:nvPr>
        </p:nvSpPr>
        <p:spPr>
          <a:xfrm>
            <a:off x="735120" y="7006680"/>
            <a:ext cx="2405160" cy="402120"/>
          </a:xfrm>
          <a:prstGeom prst="rect">
            <a:avLst/>
          </a:prstGeom>
        </p:spPr>
        <p:txBody>
          <a:bodyPr anchor="ctr">
            <a:noAutofit/>
          </a:bodyPr>
          <a:lstStyle/>
          <a:p>
            <a:pPr>
              <a:lnSpc>
                <a:spcPct val="100000"/>
              </a:lnSpc>
            </a:pPr>
            <a:fld id="{87095A16-4C3A-49BC-BA45-ED63D8DC7979}" type="datetime">
              <a:rPr lang="ru-RU" sz="1330" b="0" strike="noStrike" spc="-1">
                <a:solidFill>
                  <a:srgbClr val="8B8B8B"/>
                </a:solidFill>
                <a:latin typeface="Geometria light"/>
              </a:rPr>
              <a:t>07.09.2022</a:t>
            </a:fld>
            <a:endParaRPr lang="en-US" sz="1330" b="0" strike="noStrike" spc="-1">
              <a:latin typeface="Times New Roman"/>
            </a:endParaRPr>
          </a:p>
        </p:txBody>
      </p:sp>
      <p:sp>
        <p:nvSpPr>
          <p:cNvPr id="2" name="PlaceHolder 3"/>
          <p:cNvSpPr>
            <a:spLocks noGrp="1"/>
          </p:cNvSpPr>
          <p:nvPr>
            <p:ph type="ftr"/>
          </p:nvPr>
        </p:nvSpPr>
        <p:spPr>
          <a:xfrm>
            <a:off x="3541680" y="7006680"/>
            <a:ext cx="3608280" cy="402120"/>
          </a:xfrm>
          <a:prstGeom prst="rect">
            <a:avLst/>
          </a:prstGeom>
        </p:spPr>
        <p:txBody>
          <a:bodyPr anchor="ctr">
            <a:noAutofit/>
          </a:bodyPr>
          <a:lstStyle/>
          <a:p>
            <a:endParaRPr lang="en-US" sz="2400" b="0" strike="noStrike" spc="-1">
              <a:latin typeface="Times New Roman"/>
            </a:endParaRPr>
          </a:p>
        </p:txBody>
      </p:sp>
      <p:sp>
        <p:nvSpPr>
          <p:cNvPr id="3" name="PlaceHolder 4"/>
          <p:cNvSpPr>
            <a:spLocks noGrp="1"/>
          </p:cNvSpPr>
          <p:nvPr>
            <p:ph type="sldNum"/>
          </p:nvPr>
        </p:nvSpPr>
        <p:spPr>
          <a:xfrm>
            <a:off x="7551000" y="7006680"/>
            <a:ext cx="2405160" cy="402120"/>
          </a:xfrm>
          <a:prstGeom prst="rect">
            <a:avLst/>
          </a:prstGeom>
        </p:spPr>
        <p:txBody>
          <a:bodyPr anchor="ctr">
            <a:noAutofit/>
          </a:bodyPr>
          <a:lstStyle/>
          <a:p>
            <a:pPr algn="r">
              <a:lnSpc>
                <a:spcPct val="100000"/>
              </a:lnSpc>
            </a:pPr>
            <a:fld id="{CC19D91D-1076-4D88-80F8-03FFDA14860F}" type="slidenum">
              <a:rPr lang="ru-RU" sz="1330" b="0" strike="noStrike" spc="-1">
                <a:solidFill>
                  <a:srgbClr val="8B8B8B"/>
                </a:solidFill>
                <a:latin typeface="Geometria light"/>
              </a:rPr>
              <a:t>‹#›</a:t>
            </a:fld>
            <a:endParaRPr lang="en-US" sz="1330" b="0" strike="noStrike" spc="-1">
              <a:latin typeface="Times New Roman"/>
            </a:endParaRPr>
          </a:p>
        </p:txBody>
      </p:sp>
      <p:sp>
        <p:nvSpPr>
          <p:cNvPr id="4" name="PlaceHolder 5"/>
          <p:cNvSpPr>
            <a:spLocks noGrp="1"/>
          </p:cNvSpPr>
          <p:nvPr>
            <p:ph type="body"/>
          </p:nvPr>
        </p:nvSpPr>
        <p:spPr>
          <a:xfrm>
            <a:off x="534240" y="1768680"/>
            <a:ext cx="9622080" cy="43840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090" b="0" strike="noStrike" spc="-1">
                <a:solidFill>
                  <a:srgbClr val="000000"/>
                </a:solidFill>
                <a:latin typeface="Geometria light"/>
              </a:rPr>
              <a:t>Click to edit the outline text format</a:t>
            </a:r>
          </a:p>
          <a:p>
            <a:pPr marL="864000" lvl="1" indent="-324000">
              <a:spcBef>
                <a:spcPts val="1134"/>
              </a:spcBef>
              <a:buClr>
                <a:srgbClr val="000000"/>
              </a:buClr>
              <a:buSzPct val="75000"/>
              <a:buFont typeface="Symbol" charset="2"/>
              <a:buChar char=""/>
            </a:pPr>
            <a:r>
              <a:rPr lang="en-US" sz="2210" b="0" strike="noStrike" spc="-1">
                <a:solidFill>
                  <a:srgbClr val="000000"/>
                </a:solidFill>
                <a:latin typeface="Geometria light"/>
              </a:rPr>
              <a:t>Second Outline Level</a:t>
            </a:r>
          </a:p>
          <a:p>
            <a:pPr marL="1296000" lvl="2" indent="-288000">
              <a:spcBef>
                <a:spcPts val="850"/>
              </a:spcBef>
              <a:buClr>
                <a:srgbClr val="000000"/>
              </a:buClr>
              <a:buSzPct val="45000"/>
              <a:buFont typeface="Wingdings" charset="2"/>
              <a:buChar char=""/>
            </a:pPr>
            <a:r>
              <a:rPr lang="en-US" sz="1990" b="0" strike="noStrike" spc="-1">
                <a:solidFill>
                  <a:srgbClr val="000000"/>
                </a:solidFill>
                <a:latin typeface="Geometria light"/>
              </a:rPr>
              <a:t>Third Outline Level</a:t>
            </a:r>
          </a:p>
          <a:p>
            <a:pPr marL="1728000" lvl="3" indent="-216000">
              <a:spcBef>
                <a:spcPts val="567"/>
              </a:spcBef>
              <a:buClr>
                <a:srgbClr val="000000"/>
              </a:buClr>
              <a:buSzPct val="75000"/>
              <a:buFont typeface="Symbol" charset="2"/>
              <a:buChar char=""/>
            </a:pPr>
            <a:r>
              <a:rPr lang="en-US" sz="1990" b="0" strike="noStrike" spc="-1">
                <a:solidFill>
                  <a:srgbClr val="000000"/>
                </a:solidFill>
                <a:latin typeface="Geometria light"/>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Geometria light"/>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Geometria light"/>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Geometria light"/>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7.xml"/><Relationship Id="rId7" Type="http://schemas.openxmlformats.org/officeDocument/2006/relationships/image" Target="../media/image9.png"/><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6.wmf"/><Relationship Id="rId4" Type="http://schemas.openxmlformats.org/officeDocument/2006/relationships/image" Target="../media/image3.png"/><Relationship Id="rId9"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31.png"/><Relationship Id="rId4" Type="http://schemas.openxmlformats.org/officeDocument/2006/relationships/image" Target="../media/image30.png"/></Relationships>
</file>

<file path=ppt/slides/_rels/slide7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7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0">
          <a:blip r:embed="rId2"/>
          <a:stretch>
            <a:fillRect/>
          </a:stretch>
        </a:blipFill>
        <a:effectLst/>
      </p:bgPr>
    </p:bg>
    <p:spTree>
      <p:nvGrpSpPr>
        <p:cNvPr id="1" name=""/>
        <p:cNvGrpSpPr/>
        <p:nvPr/>
      </p:nvGrpSpPr>
      <p:grpSpPr>
        <a:xfrm>
          <a:off x="0" y="0"/>
          <a:ext cx="0" cy="0"/>
          <a:chOff x="0" y="0"/>
          <a:chExt cx="0" cy="0"/>
        </a:xfrm>
      </p:grpSpPr>
      <p:sp>
        <p:nvSpPr>
          <p:cNvPr id="82" name="TextShape 1"/>
          <p:cNvSpPr txBox="1"/>
          <p:nvPr/>
        </p:nvSpPr>
        <p:spPr>
          <a:xfrm>
            <a:off x="360000" y="719999"/>
            <a:ext cx="10080000" cy="900000"/>
          </a:xfrm>
          <a:prstGeom prst="rect">
            <a:avLst/>
          </a:prstGeom>
          <a:noFill/>
          <a:ln>
            <a:noFill/>
          </a:ln>
        </p:spPr>
        <p:txBody>
          <a:bodyPr>
            <a:noAutofit/>
          </a:bodyPr>
          <a:lstStyle/>
          <a:p>
            <a:pPr algn="ctr">
              <a:lnSpc>
                <a:spcPct val="100000"/>
              </a:lnSpc>
            </a:pPr>
            <a:r>
              <a:rPr lang="ru-RU" sz="4800" spc="-1" dirty="0">
                <a:solidFill>
                  <a:srgbClr val="004892"/>
                </a:solidFill>
                <a:latin typeface="Montserrat Bold"/>
              </a:rPr>
              <a:t>Лекция </a:t>
            </a:r>
            <a:r>
              <a:rPr lang="en-US" sz="4800" spc="-1" dirty="0" smtClean="0">
                <a:solidFill>
                  <a:srgbClr val="004892"/>
                </a:solidFill>
                <a:latin typeface="Montserrat Bold"/>
              </a:rPr>
              <a:t>0</a:t>
            </a:r>
            <a:r>
              <a:rPr lang="ru-RU" sz="4800" spc="-1" dirty="0" smtClean="0">
                <a:solidFill>
                  <a:srgbClr val="004892"/>
                </a:solidFill>
                <a:latin typeface="Montserrat Bold"/>
              </a:rPr>
              <a:t>1</a:t>
            </a:r>
            <a:endParaRPr lang="en-US" sz="4800" b="0" strike="noStrike" spc="-1" dirty="0">
              <a:solidFill>
                <a:srgbClr val="000000"/>
              </a:solidFill>
              <a:latin typeface="Geometria light"/>
            </a:endParaRPr>
          </a:p>
        </p:txBody>
      </p:sp>
      <p:sp>
        <p:nvSpPr>
          <p:cNvPr id="8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smtClean="0">
                <a:solidFill>
                  <a:srgbClr val="173277"/>
                </a:solidFill>
                <a:latin typeface="Montserrat"/>
              </a:rPr>
              <a:t>2022</a:t>
            </a:r>
            <a:endParaRPr lang="en-US" sz="1600" b="0" strike="noStrike" spc="-1" dirty="0">
              <a:latin typeface="Arial"/>
            </a:endParaRPr>
          </a:p>
        </p:txBody>
      </p:sp>
      <p:pic>
        <p:nvPicPr>
          <p:cNvPr id="84" name="Рисунок 2"/>
          <p:cNvPicPr/>
          <p:nvPr/>
        </p:nvPicPr>
        <p:blipFill>
          <a:blip r:embed="rId3"/>
          <a:stretch/>
        </p:blipFill>
        <p:spPr>
          <a:xfrm>
            <a:off x="4115160" y="5178600"/>
            <a:ext cx="2232360" cy="1426680"/>
          </a:xfrm>
          <a:prstGeom prst="rect">
            <a:avLst/>
          </a:prstGeom>
          <a:ln>
            <a:noFill/>
          </a:ln>
        </p:spPr>
      </p:pic>
      <p:sp>
        <p:nvSpPr>
          <p:cNvPr id="85" name="CustomShape 3"/>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a:rPr>
              <a:t>Компонентно-ориентированный </a:t>
            </a:r>
            <a:r>
              <a:rPr lang="ru-RU" sz="2000" spc="-1" dirty="0" smtClean="0">
                <a:solidFill>
                  <a:srgbClr val="004892"/>
                </a:solidFill>
                <a:latin typeface="Montserrat"/>
              </a:rPr>
              <a:t>подход</a:t>
            </a:r>
            <a:endParaRPr lang="en-US" sz="2000" spc="-1" dirty="0" smtClean="0">
              <a:solidFill>
                <a:srgbClr val="004892"/>
              </a:solidFill>
              <a:latin typeface="Montserrat"/>
            </a:endParaRPr>
          </a:p>
          <a:p>
            <a:pPr>
              <a:lnSpc>
                <a:spcPct val="100000"/>
              </a:lnSpc>
            </a:pPr>
            <a:r>
              <a:rPr lang="ru-RU" sz="2000" spc="-1" dirty="0">
                <a:solidFill>
                  <a:srgbClr val="004892"/>
                </a:solidFill>
                <a:latin typeface="Montserrat"/>
              </a:rPr>
              <a:t>Компонент</a:t>
            </a:r>
          </a:p>
          <a:p>
            <a:pPr>
              <a:lnSpc>
                <a:spcPct val="100000"/>
              </a:lnSpc>
            </a:pPr>
            <a:r>
              <a:rPr lang="ru-RU" sz="2000" spc="-1" dirty="0">
                <a:solidFill>
                  <a:srgbClr val="004892"/>
                </a:solidFill>
                <a:latin typeface="Montserrat"/>
              </a:rPr>
              <a:t>Пользовательские элементы управления</a:t>
            </a:r>
          </a:p>
          <a:p>
            <a:pPr>
              <a:lnSpc>
                <a:spcPct val="100000"/>
              </a:lnSpc>
            </a:pPr>
            <a:r>
              <a:rPr lang="ru-RU" sz="2000" spc="-1" dirty="0">
                <a:solidFill>
                  <a:srgbClr val="004892"/>
                </a:solidFill>
                <a:latin typeface="Montserrat"/>
              </a:rPr>
              <a:t>Стандарты взаимодействия </a:t>
            </a:r>
            <a:r>
              <a:rPr lang="ru-RU" sz="2000" spc="-1" dirty="0" smtClean="0">
                <a:solidFill>
                  <a:srgbClr val="004892"/>
                </a:solidFill>
                <a:latin typeface="Montserrat"/>
              </a:rPr>
              <a:t>компонент</a:t>
            </a:r>
          </a:p>
          <a:p>
            <a:pPr>
              <a:lnSpc>
                <a:spcPct val="100000"/>
              </a:lnSpc>
            </a:pPr>
            <a:r>
              <a:rPr lang="ru-RU" sz="2000" spc="-1" dirty="0" smtClean="0">
                <a:solidFill>
                  <a:srgbClr val="004892"/>
                </a:solidFill>
                <a:latin typeface="Montserrat"/>
              </a:rPr>
              <a:t>Плагины</a:t>
            </a:r>
            <a:endParaRPr lang="ru-RU" sz="2000" spc="-1" dirty="0">
              <a:solidFill>
                <a:srgbClr val="004892"/>
              </a:solidFill>
              <a:latin typeface="Montserrat"/>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415794231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Компонентно-ориентированный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Компонентно-ориентированное программирование </a:t>
            </a:r>
            <a:r>
              <a:rPr lang="ru-RU" sz="2000" spc="-1" dirty="0" smtClean="0">
                <a:solidFill>
                  <a:srgbClr val="262626"/>
                </a:solidFill>
                <a:latin typeface="Montserrat"/>
              </a:rPr>
              <a:t>– </a:t>
            </a:r>
            <a:r>
              <a:rPr lang="ru-RU" sz="2000" spc="-1" dirty="0">
                <a:solidFill>
                  <a:srgbClr val="262626"/>
                </a:solidFill>
                <a:latin typeface="Montserrat"/>
              </a:rPr>
              <a:t>парадигма программирования, существенным образом опирающаяся на понятие </a:t>
            </a:r>
            <a:r>
              <a:rPr lang="ru-RU" sz="2000" b="1" spc="-1" dirty="0">
                <a:solidFill>
                  <a:srgbClr val="262626"/>
                </a:solidFill>
                <a:latin typeface="Montserrat"/>
              </a:rPr>
              <a:t>компонента</a:t>
            </a:r>
            <a:r>
              <a:rPr lang="ru-RU" sz="2000" spc="-1" dirty="0">
                <a:solidFill>
                  <a:srgbClr val="262626"/>
                </a:solidFill>
                <a:latin typeface="Montserrat"/>
              </a:rPr>
              <a:t> –</a:t>
            </a:r>
            <a:r>
              <a:rPr lang="ru-RU" sz="2000" spc="-1" dirty="0" smtClean="0">
                <a:solidFill>
                  <a:srgbClr val="262626"/>
                </a:solidFill>
                <a:latin typeface="Montserrat"/>
              </a:rPr>
              <a:t> </a:t>
            </a:r>
            <a:r>
              <a:rPr lang="ru-RU" sz="2000" spc="-1" dirty="0">
                <a:solidFill>
                  <a:srgbClr val="262626"/>
                </a:solidFill>
                <a:latin typeface="Montserrat"/>
              </a:rPr>
              <a:t>независимого модуля исходного кода программы, предназначенного для повторного использования и развёртывания и реализующегося в виде множества языковых конструкций (например, «классов» в объектно-ориентированных языках программирования), объединённых по </a:t>
            </a:r>
            <a:r>
              <a:rPr lang="ru-RU" sz="2000" b="1" spc="-1" dirty="0">
                <a:solidFill>
                  <a:srgbClr val="262626"/>
                </a:solidFill>
                <a:latin typeface="Montserrat"/>
              </a:rPr>
              <a:t>общему признаку </a:t>
            </a:r>
            <a:r>
              <a:rPr lang="ru-RU" sz="2000" spc="-1" dirty="0">
                <a:solidFill>
                  <a:srgbClr val="262626"/>
                </a:solidFill>
                <a:latin typeface="Montserrat"/>
              </a:rPr>
              <a:t>и организованных в соответствии с определёнными </a:t>
            </a:r>
            <a:r>
              <a:rPr lang="ru-RU" sz="2000" b="1" spc="-1" dirty="0">
                <a:solidFill>
                  <a:srgbClr val="262626"/>
                </a:solidFill>
                <a:latin typeface="Montserrat"/>
              </a:rPr>
              <a:t>правилами</a:t>
            </a:r>
            <a:r>
              <a:rPr lang="ru-RU" sz="2000" spc="-1" dirty="0">
                <a:solidFill>
                  <a:srgbClr val="262626"/>
                </a:solidFill>
                <a:latin typeface="Montserrat"/>
              </a:rPr>
              <a:t> и </a:t>
            </a:r>
            <a:r>
              <a:rPr lang="ru-RU" sz="2000" b="1" spc="-1" dirty="0">
                <a:solidFill>
                  <a:srgbClr val="262626"/>
                </a:solidFill>
                <a:latin typeface="Montserrat"/>
              </a:rPr>
              <a:t>ограничениями</a:t>
            </a:r>
            <a:r>
              <a:rPr lang="ru-RU" sz="2000" spc="-1" dirty="0">
                <a:solidFill>
                  <a:srgbClr val="262626"/>
                </a:solidFill>
                <a:latin typeface="Montserrat"/>
              </a:rPr>
              <a:t>.</a:t>
            </a:r>
          </a:p>
        </p:txBody>
      </p:sp>
    </p:spTree>
    <p:extLst>
      <p:ext uri="{BB962C8B-B14F-4D97-AF65-F5344CB8AC3E}">
        <p14:creationId xmlns:p14="http://schemas.microsoft.com/office/powerpoint/2010/main" val="405954750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Компонентно-ориентированный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Компонентно-ориентированный подход </a:t>
            </a:r>
            <a:r>
              <a:rPr lang="ru-RU" sz="2000" spc="-1" dirty="0" smtClean="0">
                <a:solidFill>
                  <a:srgbClr val="262626"/>
                </a:solidFill>
                <a:latin typeface="Montserrat"/>
              </a:rPr>
              <a:t>построен </a:t>
            </a:r>
            <a:r>
              <a:rPr lang="ru-RU" sz="2000" spc="-1" dirty="0">
                <a:solidFill>
                  <a:srgbClr val="262626"/>
                </a:solidFill>
                <a:latin typeface="Montserrat"/>
              </a:rPr>
              <a:t>на </a:t>
            </a:r>
            <a:r>
              <a:rPr lang="ru-RU" sz="2000" b="1" spc="-1" dirty="0" smtClean="0">
                <a:solidFill>
                  <a:srgbClr val="262626"/>
                </a:solidFill>
                <a:latin typeface="Montserrat"/>
              </a:rPr>
              <a:t>ООП</a:t>
            </a:r>
            <a:r>
              <a:rPr lang="ru-RU" sz="2000" spc="-1" dirty="0" smtClean="0">
                <a:solidFill>
                  <a:srgbClr val="262626"/>
                </a:solidFill>
                <a:latin typeface="Montserrat"/>
              </a:rPr>
              <a:t>. </a:t>
            </a:r>
            <a:r>
              <a:rPr lang="ru-RU" sz="2000" spc="-1" dirty="0">
                <a:solidFill>
                  <a:srgbClr val="262626"/>
                </a:solidFill>
                <a:latin typeface="Montserrat"/>
              </a:rPr>
              <a:t>Это </a:t>
            </a:r>
            <a:r>
              <a:rPr lang="ru-RU" sz="2000" spc="-1" dirty="0" smtClean="0">
                <a:solidFill>
                  <a:srgbClr val="262626"/>
                </a:solidFill>
                <a:latin typeface="Montserrat"/>
              </a:rPr>
              <a:t>его дальнейшее развитие. </a:t>
            </a:r>
            <a:r>
              <a:rPr lang="ru-RU" sz="2000" spc="-1" dirty="0">
                <a:solidFill>
                  <a:srgbClr val="262626"/>
                </a:solidFill>
                <a:latin typeface="Montserrat"/>
              </a:rPr>
              <a:t>Концепция класса по-прежнему является основной концепцией в компонентной технологии, но основной концепцией компонентной технологии является интерфейс. Основной целью технологии компонентов является повторное использование –</a:t>
            </a:r>
            <a:r>
              <a:rPr lang="ru-RU" sz="2000" spc="-1" dirty="0" smtClean="0">
                <a:solidFill>
                  <a:srgbClr val="262626"/>
                </a:solidFill>
                <a:latin typeface="Montserrat"/>
              </a:rPr>
              <a:t> </a:t>
            </a:r>
            <a:r>
              <a:rPr lang="ru-RU" sz="2000" spc="-1" dirty="0">
                <a:solidFill>
                  <a:srgbClr val="262626"/>
                </a:solidFill>
                <a:latin typeface="Montserrat"/>
              </a:rPr>
              <a:t>грубое повторное использование, которое является не повторным использованием классов, а повторным использованием </a:t>
            </a:r>
            <a:r>
              <a:rPr lang="ru-RU" sz="2000" b="1" spc="-1" dirty="0">
                <a:solidFill>
                  <a:srgbClr val="262626"/>
                </a:solidFill>
                <a:latin typeface="Montserrat"/>
              </a:rPr>
              <a:t>компонентов</a:t>
            </a:r>
            <a:r>
              <a:rPr lang="ru-RU" sz="2000" spc="-1" dirty="0">
                <a:solidFill>
                  <a:srgbClr val="262626"/>
                </a:solidFill>
                <a:latin typeface="Montserrat"/>
              </a:rPr>
              <a:t>, таких как DLL, промежуточное программное обеспечение и даже инфраструктура.</a:t>
            </a:r>
          </a:p>
        </p:txBody>
      </p:sp>
    </p:spTree>
    <p:extLst>
      <p:ext uri="{BB962C8B-B14F-4D97-AF65-F5344CB8AC3E}">
        <p14:creationId xmlns:p14="http://schemas.microsoft.com/office/powerpoint/2010/main" val="69032234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Компонентно-ориентированный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Компонентно-ориентированное программирование </a:t>
            </a:r>
            <a:r>
              <a:rPr lang="ru-RU" sz="2000" spc="-1" dirty="0" smtClean="0">
                <a:solidFill>
                  <a:srgbClr val="262626"/>
                </a:solidFill>
                <a:latin typeface="Montserrat"/>
              </a:rPr>
              <a:t>возникло </a:t>
            </a:r>
            <a:r>
              <a:rPr lang="ru-RU" sz="2000" spc="-1" dirty="0">
                <a:solidFill>
                  <a:srgbClr val="262626"/>
                </a:solidFill>
                <a:latin typeface="Montserrat"/>
              </a:rPr>
              <a:t>как </a:t>
            </a:r>
            <a:r>
              <a:rPr lang="ru-RU" sz="2000" spc="-1" dirty="0" smtClean="0">
                <a:solidFill>
                  <a:srgbClr val="262626"/>
                </a:solidFill>
                <a:latin typeface="Montserrat"/>
              </a:rPr>
              <a:t>набор </a:t>
            </a:r>
            <a:r>
              <a:rPr lang="ru-RU" sz="2000" spc="-1" dirty="0">
                <a:solidFill>
                  <a:srgbClr val="262626"/>
                </a:solidFill>
                <a:latin typeface="Montserrat"/>
              </a:rPr>
              <a:t>определенных ограничений, налагаемых на механизм ООП, когда стало ясно, что бесконтрольное использование ООП приводит к проблемам с надежностью больших программных комплексов</a:t>
            </a:r>
            <a:r>
              <a:rPr lang="ru-RU" sz="2000" spc="-1" dirty="0" smtClean="0">
                <a:solidFill>
                  <a:srgbClr val="262626"/>
                </a:solidFill>
                <a:latin typeface="Montserrat"/>
              </a:rPr>
              <a:t>.</a:t>
            </a:r>
            <a:endParaRPr lang="en-US"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Ради небольшого изменения функциональности подчас </a:t>
            </a:r>
            <a:r>
              <a:rPr lang="ru-RU" sz="2000" spc="-1" dirty="0" smtClean="0">
                <a:solidFill>
                  <a:srgbClr val="262626"/>
                </a:solidFill>
                <a:latin typeface="Montserrat"/>
              </a:rPr>
              <a:t>приходилось </a:t>
            </a:r>
            <a:r>
              <a:rPr lang="ru-RU" sz="2000" spc="-1" dirty="0">
                <a:solidFill>
                  <a:srgbClr val="262626"/>
                </a:solidFill>
                <a:latin typeface="Montserrat"/>
              </a:rPr>
              <a:t>перестраивать архитектуру всей системы. При изменении базового класса </a:t>
            </a:r>
            <a:r>
              <a:rPr lang="ru-RU" sz="2000" spc="-1" dirty="0" smtClean="0">
                <a:solidFill>
                  <a:srgbClr val="262626"/>
                </a:solidFill>
                <a:latin typeface="Montserrat"/>
              </a:rPr>
              <a:t>могли возникать </a:t>
            </a:r>
            <a:r>
              <a:rPr lang="ru-RU" sz="2000" spc="-1" dirty="0">
                <a:solidFill>
                  <a:srgbClr val="262626"/>
                </a:solidFill>
                <a:latin typeface="Montserrat"/>
              </a:rPr>
              <a:t>ошибки в работе унаследованных классов (т.н. проблема </a:t>
            </a:r>
            <a:r>
              <a:rPr lang="ru-RU" sz="2000" i="1" spc="-1" dirty="0">
                <a:solidFill>
                  <a:srgbClr val="262626"/>
                </a:solidFill>
                <a:latin typeface="Montserrat"/>
              </a:rPr>
              <a:t>хрупкого базового класса</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Функциональность объекта записывается в виде </a:t>
            </a:r>
            <a:r>
              <a:rPr lang="ru-RU" sz="2000" spc="-1" dirty="0" smtClean="0">
                <a:solidFill>
                  <a:srgbClr val="262626"/>
                </a:solidFill>
                <a:latin typeface="Montserrat"/>
              </a:rPr>
              <a:t>класса на </a:t>
            </a:r>
            <a:r>
              <a:rPr lang="ru-RU" sz="2000" spc="-1" dirty="0">
                <a:solidFill>
                  <a:srgbClr val="262626"/>
                </a:solidFill>
                <a:latin typeface="Montserrat"/>
              </a:rPr>
              <a:t>некотором языке программирования. Объекты, написанные на разных языках, могут иметь свою специфику и оказаться в конечном итоге несовместимы между собой.</a:t>
            </a:r>
          </a:p>
        </p:txBody>
      </p:sp>
    </p:spTree>
    <p:extLst>
      <p:ext uri="{BB962C8B-B14F-4D97-AF65-F5344CB8AC3E}">
        <p14:creationId xmlns:p14="http://schemas.microsoft.com/office/powerpoint/2010/main" val="177737264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Компонентно-ориентированный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Компонентно-ориентированное программирование </a:t>
            </a:r>
            <a:r>
              <a:rPr lang="ru-RU" sz="2000" spc="-1" dirty="0" smtClean="0">
                <a:solidFill>
                  <a:srgbClr val="262626"/>
                </a:solidFill>
                <a:latin typeface="Montserrat"/>
              </a:rPr>
              <a:t>возникло </a:t>
            </a:r>
            <a:r>
              <a:rPr lang="ru-RU" sz="2000" spc="-1" dirty="0">
                <a:solidFill>
                  <a:srgbClr val="262626"/>
                </a:solidFill>
                <a:latin typeface="Montserrat"/>
              </a:rPr>
              <a:t>как </a:t>
            </a:r>
            <a:r>
              <a:rPr lang="ru-RU" sz="2000" spc="-1" dirty="0" smtClean="0">
                <a:solidFill>
                  <a:srgbClr val="262626"/>
                </a:solidFill>
                <a:latin typeface="Montserrat"/>
              </a:rPr>
              <a:t>набор </a:t>
            </a:r>
            <a:r>
              <a:rPr lang="ru-RU" sz="2000" spc="-1" dirty="0">
                <a:solidFill>
                  <a:srgbClr val="262626"/>
                </a:solidFill>
                <a:latin typeface="Montserrat"/>
              </a:rPr>
              <a:t>определенных ограничений, налагаемых на механизм ООП, когда стало ясно, что бесконтрольное использование ООП приводит к проблемам с надежностью больших программных комплексов</a:t>
            </a:r>
            <a:r>
              <a:rPr lang="ru-RU" sz="2000" spc="-1" dirty="0" smtClean="0">
                <a:solidFill>
                  <a:srgbClr val="262626"/>
                </a:solidFill>
                <a:latin typeface="Montserrat"/>
              </a:rPr>
              <a:t>.</a:t>
            </a:r>
            <a:endParaRPr lang="en-US" sz="2000" spc="-1" dirty="0" smtClean="0">
              <a:solidFill>
                <a:srgbClr val="262626"/>
              </a:solidFill>
              <a:latin typeface="Montserrat"/>
            </a:endParaRPr>
          </a:p>
          <a:p>
            <a:pPr marL="342900" indent="-342900" algn="just">
              <a:lnSpc>
                <a:spcPct val="100000"/>
              </a:lnSpc>
              <a:buFont typeface="Wingdings" panose="05000000000000000000" pitchFamily="2" charset="2"/>
              <a:buChar char="§"/>
            </a:pPr>
            <a:r>
              <a:rPr lang="ru-RU" sz="2000" i="1" spc="-1" dirty="0">
                <a:solidFill>
                  <a:srgbClr val="262626"/>
                </a:solidFill>
                <a:latin typeface="Montserrat"/>
              </a:rPr>
              <a:t>Опасность утечек памяти</a:t>
            </a:r>
            <a:r>
              <a:rPr lang="ru-RU" sz="2000" spc="-1" dirty="0">
                <a:solidFill>
                  <a:srgbClr val="262626"/>
                </a:solidFill>
                <a:latin typeface="Montserrat"/>
              </a:rPr>
              <a:t>. Если в языке программирования нет автоматической сборки мусора, то программист может забыть освободить память, выделенную под объект, или освободить память несколько раз</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Жизненный цикл объекта начинается с вызова конструктора и заканчивается вызовом деструктора. После уничтожения объекта вся информация о его состоянии теряется. В случае необходимости сохранять состояние объекта, программисту необходимо самому реализовывать часть функциональности CRUD и </a:t>
            </a:r>
            <a:r>
              <a:rPr lang="ru-RU" sz="2000" i="1" spc="-1" dirty="0">
                <a:solidFill>
                  <a:srgbClr val="262626"/>
                </a:solidFill>
                <a:latin typeface="Montserrat"/>
              </a:rPr>
              <a:t>контролировать жизненный цикл объекта</a:t>
            </a:r>
            <a:r>
              <a:rPr lang="ru-RU" sz="2000" spc="-1" dirty="0">
                <a:solidFill>
                  <a:srgbClr val="262626"/>
                </a:solidFill>
                <a:latin typeface="Montserrat"/>
              </a:rPr>
              <a:t>.</a:t>
            </a:r>
          </a:p>
        </p:txBody>
      </p:sp>
    </p:spTree>
    <p:extLst>
      <p:ext uri="{BB962C8B-B14F-4D97-AF65-F5344CB8AC3E}">
        <p14:creationId xmlns:p14="http://schemas.microsoft.com/office/powerpoint/2010/main" val="267857174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Хрупкий базовый класс</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Проблема хрупкого базового класса заключается в том, что малейшие правки в деталях реализации базового класса могут привнести ошибку в производные классы. В худшем случае это приводит к тому, что любая успешная модификация базового класса требует предварительного изучения всего дерева наследования, и зачастую невозможна (без создания ошибок) даже в этом случае</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В общем случае проблема не решаема, и является одним из существенных недостатков ООП</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Замена наследования </a:t>
            </a:r>
            <a:r>
              <a:rPr lang="ru-RU" sz="2000" b="1" spc="-1" dirty="0">
                <a:solidFill>
                  <a:srgbClr val="262626"/>
                </a:solidFill>
                <a:latin typeface="Montserrat"/>
              </a:rPr>
              <a:t>агрегацией</a:t>
            </a:r>
            <a:r>
              <a:rPr lang="ru-RU" sz="2000" spc="-1" dirty="0">
                <a:solidFill>
                  <a:srgbClr val="262626"/>
                </a:solidFill>
                <a:latin typeface="Montserrat"/>
              </a:rPr>
              <a:t>. При агрегации вложенный объект базового класса описывается явно как часть объекта производного класса, и производный класс может пользоваться только публичным интерфейсом базового класса. Таким образом, производный класс не может зависеть от деталей реализации базового класса, что решает проблему.</a:t>
            </a:r>
          </a:p>
        </p:txBody>
      </p:sp>
    </p:spTree>
    <p:extLst>
      <p:ext uri="{BB962C8B-B14F-4D97-AF65-F5344CB8AC3E}">
        <p14:creationId xmlns:p14="http://schemas.microsoft.com/office/powerpoint/2010/main" val="406826956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Компонентно-ориентированный подход</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КОП можно описать примерно такой формулой:</a:t>
            </a:r>
          </a:p>
          <a:p>
            <a:pPr algn="ctr">
              <a:lnSpc>
                <a:spcPct val="100000"/>
              </a:lnSpc>
            </a:pPr>
            <a:r>
              <a:rPr lang="ru-RU" sz="2000" spc="-1" dirty="0" smtClean="0">
                <a:solidFill>
                  <a:srgbClr val="262626"/>
                </a:solidFill>
                <a:latin typeface="Montserrat"/>
              </a:rPr>
              <a:t>КОП </a:t>
            </a:r>
            <a:r>
              <a:rPr lang="ru-RU" sz="2000" spc="-1" dirty="0">
                <a:solidFill>
                  <a:srgbClr val="262626"/>
                </a:solidFill>
                <a:latin typeface="Montserrat"/>
              </a:rPr>
              <a:t>= ООП</a:t>
            </a:r>
          </a:p>
          <a:p>
            <a:pPr algn="just">
              <a:lnSpc>
                <a:spcPct val="100000"/>
              </a:lnSpc>
            </a:pPr>
            <a:r>
              <a:rPr lang="ru-RU" sz="2000" spc="-1" dirty="0">
                <a:solidFill>
                  <a:srgbClr val="262626"/>
                </a:solidFill>
                <a:latin typeface="Montserrat"/>
              </a:rPr>
              <a:t>+ модульность (включая </a:t>
            </a:r>
            <a:r>
              <a:rPr lang="ru-RU" sz="2000" spc="-1" dirty="0" err="1">
                <a:solidFill>
                  <a:srgbClr val="262626"/>
                </a:solidFill>
                <a:latin typeface="Montserrat"/>
              </a:rPr>
              <a:t>упрятывание</a:t>
            </a:r>
            <a:r>
              <a:rPr lang="ru-RU" sz="2000" spc="-1" dirty="0">
                <a:solidFill>
                  <a:srgbClr val="262626"/>
                </a:solidFill>
                <a:latin typeface="Montserrat"/>
              </a:rPr>
              <a:t> информации и позднее связывание модулей, т.е. возможность подгружать необходимые модули в процессе выполнения программы, а не заранее, как это обычно делается в старых системах программирования)</a:t>
            </a:r>
          </a:p>
          <a:p>
            <a:pPr algn="just">
              <a:lnSpc>
                <a:spcPct val="100000"/>
              </a:lnSpc>
            </a:pPr>
            <a:r>
              <a:rPr lang="ru-RU" sz="2000" spc="-1" dirty="0">
                <a:solidFill>
                  <a:srgbClr val="262626"/>
                </a:solidFill>
                <a:latin typeface="Montserrat"/>
              </a:rPr>
              <a:t>+ безопасность (статический контроль типов переменных и автоматическое управление памятью)</a:t>
            </a:r>
          </a:p>
          <a:p>
            <a:pPr algn="just">
              <a:lnSpc>
                <a:spcPct val="100000"/>
              </a:lnSpc>
            </a:pPr>
            <a:r>
              <a:rPr lang="ru-RU" sz="2000" spc="-1" dirty="0">
                <a:solidFill>
                  <a:srgbClr val="262626"/>
                </a:solidFill>
                <a:latin typeface="Montserrat"/>
              </a:rPr>
              <a:t>- наследование реализации через границы </a:t>
            </a:r>
            <a:r>
              <a:rPr lang="ru-RU" sz="2000" spc="-1" dirty="0" smtClean="0">
                <a:solidFill>
                  <a:srgbClr val="262626"/>
                </a:solidFill>
                <a:latin typeface="Montserrat"/>
              </a:rPr>
              <a:t>модулей (в </a:t>
            </a:r>
            <a:r>
              <a:rPr lang="ru-RU" sz="2000" spc="-1" dirty="0">
                <a:solidFill>
                  <a:srgbClr val="262626"/>
                </a:solidFill>
                <a:latin typeface="Montserrat"/>
              </a:rPr>
              <a:t>КОП запрещено наследование от типов, реализованных в других модулях; наследовать можно только абстрактным, чисто интерфейсным </a:t>
            </a:r>
            <a:r>
              <a:rPr lang="ru-RU" sz="2000" spc="-1" dirty="0" smtClean="0">
                <a:solidFill>
                  <a:srgbClr val="262626"/>
                </a:solidFill>
                <a:latin typeface="Montserrat"/>
              </a:rPr>
              <a:t>типам)</a:t>
            </a:r>
            <a:endParaRPr lang="ru-RU" sz="2000" spc="-1" dirty="0">
              <a:solidFill>
                <a:srgbClr val="262626"/>
              </a:solidFill>
              <a:latin typeface="Montserrat"/>
            </a:endParaRPr>
          </a:p>
        </p:txBody>
      </p:sp>
    </p:spTree>
    <p:extLst>
      <p:ext uri="{BB962C8B-B14F-4D97-AF65-F5344CB8AC3E}">
        <p14:creationId xmlns:p14="http://schemas.microsoft.com/office/powerpoint/2010/main" val="76490431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Особенности КОП</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Чётко выраженная </a:t>
            </a:r>
            <a:r>
              <a:rPr lang="ru-RU" sz="2000" i="1" spc="-1" dirty="0">
                <a:solidFill>
                  <a:srgbClr val="262626"/>
                </a:solidFill>
                <a:latin typeface="Montserrat"/>
              </a:rPr>
              <a:t>ориентированность на модули</a:t>
            </a:r>
            <a:r>
              <a:rPr lang="ru-RU" sz="2000" spc="-1" dirty="0">
                <a:solidFill>
                  <a:srgbClr val="262626"/>
                </a:solidFill>
                <a:latin typeface="Montserrat"/>
              </a:rPr>
              <a:t>. Модуль, является основной структурной единицей.</a:t>
            </a:r>
          </a:p>
          <a:p>
            <a:pPr marL="342900" indent="-342900" algn="just">
              <a:lnSpc>
                <a:spcPct val="100000"/>
              </a:lnSpc>
              <a:buFont typeface="Wingdings" panose="05000000000000000000" pitchFamily="2" charset="2"/>
              <a:buChar char="§"/>
            </a:pPr>
            <a:r>
              <a:rPr lang="ru-RU" sz="2000" i="1" spc="-1" dirty="0">
                <a:solidFill>
                  <a:srgbClr val="262626"/>
                </a:solidFill>
                <a:latin typeface="Montserrat"/>
              </a:rPr>
              <a:t>Раздельная</a:t>
            </a:r>
            <a:r>
              <a:rPr lang="ru-RU" sz="2000" spc="-1" dirty="0">
                <a:solidFill>
                  <a:srgbClr val="262626"/>
                </a:solidFill>
                <a:latin typeface="Montserrat"/>
              </a:rPr>
              <a:t> компиляция модулей. Это приводит к сбережению вычислительных и временных ресурсов, в целом придаёт гибкости всей системе, один и тот же код остаётся в одном месте, а не многократно «размазывается», как это бывает в других языках</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Строгая типизация, как внутри модуля, так и между модулями. Повышает надёжную работу компонентов в целом через сокрытие тех частей, которые не должны участвовать в межмодульном взаимодействии</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425746088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Компонентно-ориентированный подход</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Особенности КОП</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Неизбежность динамической сборки мусора. Для компилируемых языков это важный и необычный механизм</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Строгое разделение частей модулей, на предназначенные для взаимодействия с другими модулями, и скрытые части только для работы внутри модуля.</a:t>
            </a:r>
          </a:p>
        </p:txBody>
      </p:sp>
    </p:spTree>
    <p:extLst>
      <p:ext uri="{BB962C8B-B14F-4D97-AF65-F5344CB8AC3E}">
        <p14:creationId xmlns:p14="http://schemas.microsoft.com/office/powerpoint/2010/main" val="34322255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392688378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Компонент</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Компонент –</a:t>
            </a:r>
            <a:r>
              <a:rPr lang="ru-RU" sz="2000" spc="-1" dirty="0" smtClean="0">
                <a:solidFill>
                  <a:srgbClr val="262626"/>
                </a:solidFill>
                <a:latin typeface="Montserrat"/>
              </a:rPr>
              <a:t> </a:t>
            </a:r>
            <a:r>
              <a:rPr lang="ru-RU" sz="2000" b="1" spc="-1" dirty="0">
                <a:solidFill>
                  <a:srgbClr val="262626"/>
                </a:solidFill>
                <a:latin typeface="Montserrat"/>
              </a:rPr>
              <a:t>независимый</a:t>
            </a:r>
            <a:r>
              <a:rPr lang="ru-RU" sz="2000" spc="-1" dirty="0">
                <a:solidFill>
                  <a:srgbClr val="262626"/>
                </a:solidFill>
                <a:latin typeface="Montserrat"/>
              </a:rPr>
              <a:t> (либо </a:t>
            </a:r>
            <a:r>
              <a:rPr lang="ru-RU" sz="2000" spc="-1" dirty="0" err="1">
                <a:solidFill>
                  <a:srgbClr val="262626"/>
                </a:solidFill>
                <a:latin typeface="Montserrat"/>
              </a:rPr>
              <a:t>слабозависимый</a:t>
            </a:r>
            <a:r>
              <a:rPr lang="ru-RU" sz="2000" spc="-1" dirty="0">
                <a:solidFill>
                  <a:srgbClr val="262626"/>
                </a:solidFill>
                <a:latin typeface="Montserrat"/>
              </a:rPr>
              <a:t>) модуль исходного кода программы, предназначенный для </a:t>
            </a:r>
            <a:r>
              <a:rPr lang="ru-RU" sz="2000" b="1" spc="-1" dirty="0">
                <a:solidFill>
                  <a:srgbClr val="262626"/>
                </a:solidFill>
                <a:latin typeface="Montserrat"/>
              </a:rPr>
              <a:t>повторного использования </a:t>
            </a:r>
            <a:r>
              <a:rPr lang="ru-RU" sz="2000" spc="-1" dirty="0">
                <a:solidFill>
                  <a:srgbClr val="262626"/>
                </a:solidFill>
                <a:latin typeface="Montserrat"/>
              </a:rPr>
              <a:t>и развёртывания и реализующегося в виде </a:t>
            </a:r>
            <a:r>
              <a:rPr lang="ru-RU" sz="2000" b="1" spc="-1" dirty="0">
                <a:solidFill>
                  <a:srgbClr val="262626"/>
                </a:solidFill>
                <a:latin typeface="Montserrat"/>
              </a:rPr>
              <a:t>множества языковых конструкций </a:t>
            </a:r>
            <a:r>
              <a:rPr lang="ru-RU" sz="2000" spc="-1" dirty="0">
                <a:solidFill>
                  <a:srgbClr val="262626"/>
                </a:solidFill>
                <a:latin typeface="Montserrat"/>
              </a:rPr>
              <a:t>(например, «классов» в ООП), объединённых по </a:t>
            </a:r>
            <a:r>
              <a:rPr lang="ru-RU" sz="2000" b="1" spc="-1" dirty="0">
                <a:solidFill>
                  <a:srgbClr val="262626"/>
                </a:solidFill>
                <a:latin typeface="Montserrat"/>
              </a:rPr>
              <a:t>общему признаку </a:t>
            </a:r>
            <a:r>
              <a:rPr lang="ru-RU" sz="2000" spc="-1" dirty="0">
                <a:solidFill>
                  <a:srgbClr val="262626"/>
                </a:solidFill>
                <a:latin typeface="Montserrat"/>
              </a:rPr>
              <a:t>и организованных в соответствии с определёнными правилами и ограничениями.</a:t>
            </a:r>
          </a:p>
        </p:txBody>
      </p:sp>
    </p:spTree>
    <p:extLst>
      <p:ext uri="{BB962C8B-B14F-4D97-AF65-F5344CB8AC3E}">
        <p14:creationId xmlns:p14="http://schemas.microsoft.com/office/powerpoint/2010/main" val="400357390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Свойства компонента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более крупная единица, чем объект (объект - это конструкция уровня языка программирования); </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содержит множественные классы; </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 зависит от языка программирования (в большинстве случаев</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это </a:t>
            </a:r>
            <a:r>
              <a:rPr lang="ru-RU" sz="2000" b="1" spc="-1" dirty="0">
                <a:solidFill>
                  <a:srgbClr val="262626"/>
                </a:solidFill>
                <a:latin typeface="Montserrat"/>
              </a:rPr>
              <a:t>множество</a:t>
            </a:r>
            <a:r>
              <a:rPr lang="ru-RU" sz="2000" spc="-1" dirty="0">
                <a:solidFill>
                  <a:srgbClr val="262626"/>
                </a:solidFill>
                <a:latin typeface="Montserrat"/>
              </a:rPr>
              <a:t> классов и языковых конструкций, объединенных по общему признаку.</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В большинстве языков программирования </a:t>
            </a:r>
            <a:r>
              <a:rPr lang="ru-RU" sz="2000" b="1" spc="-1" dirty="0">
                <a:solidFill>
                  <a:srgbClr val="262626"/>
                </a:solidFill>
                <a:latin typeface="Montserrat"/>
              </a:rPr>
              <a:t>нет языковых конструкций </a:t>
            </a:r>
            <a:r>
              <a:rPr lang="ru-RU" sz="2000" spc="-1" dirty="0">
                <a:solidFill>
                  <a:srgbClr val="262626"/>
                </a:solidFill>
                <a:latin typeface="Montserrat"/>
              </a:rPr>
              <a:t>прямо отражающих понятие компонента. Компоненты реализуются с помощью стандартных конструкций, таких как классы, интерфейсы и т.п.</a:t>
            </a:r>
          </a:p>
          <a:p>
            <a:pPr marL="342900" indent="-342900" algn="just">
              <a:lnSpc>
                <a:spcPct val="100000"/>
              </a:lnSpc>
              <a:buFont typeface="Wingdings" panose="05000000000000000000" pitchFamily="2" charset="2"/>
              <a:buChar char="§"/>
            </a:pPr>
            <a:endParaRPr lang="ru-RU" sz="2000" spc="-1" dirty="0">
              <a:solidFill>
                <a:srgbClr val="262626"/>
              </a:solidFill>
              <a:latin typeface="Montserrat"/>
            </a:endParaRPr>
          </a:p>
        </p:txBody>
      </p:sp>
    </p:spTree>
    <p:extLst>
      <p:ext uri="{BB962C8B-B14F-4D97-AF65-F5344CB8AC3E}">
        <p14:creationId xmlns:p14="http://schemas.microsoft.com/office/powerpoint/2010/main" val="282129175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Компонент</a:t>
            </a:r>
            <a:endParaRPr lang="ru-RU" sz="2000" spc="-1" dirty="0">
              <a:solidFill>
                <a:srgbClr val="004892"/>
              </a:solidFill>
              <a:latin typeface="Montserrat Bold"/>
            </a:endParaRPr>
          </a:p>
        </p:txBody>
      </p:sp>
      <p:sp>
        <p:nvSpPr>
          <p:cNvPr id="7" name="Oval 6"/>
          <p:cNvSpPr/>
          <p:nvPr/>
        </p:nvSpPr>
        <p:spPr>
          <a:xfrm>
            <a:off x="2851266" y="4513810"/>
            <a:ext cx="5810596" cy="18371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1098666" y="1720042"/>
            <a:ext cx="2923309" cy="171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6728845" y="1720042"/>
            <a:ext cx="2923309" cy="171242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094423" y="4393277"/>
            <a:ext cx="661015" cy="57357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I</a:t>
            </a:r>
            <a:endParaRPr lang="en-US" dirty="0"/>
          </a:p>
        </p:txBody>
      </p:sp>
      <p:sp>
        <p:nvSpPr>
          <p:cNvPr id="11" name="Oval 10"/>
          <p:cNvSpPr/>
          <p:nvPr/>
        </p:nvSpPr>
        <p:spPr>
          <a:xfrm>
            <a:off x="6659610" y="4368339"/>
            <a:ext cx="661015" cy="57357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I</a:t>
            </a:r>
            <a:endParaRPr lang="en-US" dirty="0"/>
          </a:p>
        </p:txBody>
      </p:sp>
      <p:sp>
        <p:nvSpPr>
          <p:cNvPr id="12" name="Oval 11"/>
          <p:cNvSpPr/>
          <p:nvPr/>
        </p:nvSpPr>
        <p:spPr>
          <a:xfrm>
            <a:off x="5318375" y="4289368"/>
            <a:ext cx="661015" cy="573578"/>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smtClean="0"/>
              <a:t>I</a:t>
            </a:r>
            <a:endParaRPr lang="en-US" dirty="0"/>
          </a:p>
        </p:txBody>
      </p:sp>
      <p:cxnSp>
        <p:nvCxnSpPr>
          <p:cNvPr id="13" name="Straight Arrow Connector 12"/>
          <p:cNvCxnSpPr/>
          <p:nvPr/>
        </p:nvCxnSpPr>
        <p:spPr>
          <a:xfrm>
            <a:off x="3476259" y="3376007"/>
            <a:ext cx="802525" cy="99233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a:off x="5910349" y="3181522"/>
            <a:ext cx="1057293" cy="110784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3831186" y="3093376"/>
            <a:ext cx="1487191" cy="119599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7173884" y="3439739"/>
            <a:ext cx="490451" cy="84962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3763915" y="5191296"/>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a:t>
            </a:r>
            <a:endParaRPr lang="en-US" dirty="0"/>
          </a:p>
        </p:txBody>
      </p:sp>
      <p:sp>
        <p:nvSpPr>
          <p:cNvPr id="18" name="Oval 17"/>
          <p:cNvSpPr/>
          <p:nvPr/>
        </p:nvSpPr>
        <p:spPr>
          <a:xfrm>
            <a:off x="4657360" y="5145577"/>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a:t>
            </a:r>
            <a:endParaRPr lang="en-US" dirty="0"/>
          </a:p>
        </p:txBody>
      </p:sp>
      <p:sp>
        <p:nvSpPr>
          <p:cNvPr id="19" name="Oval 18"/>
          <p:cNvSpPr/>
          <p:nvPr/>
        </p:nvSpPr>
        <p:spPr>
          <a:xfrm>
            <a:off x="5700934" y="5145577"/>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a:t>
            </a:r>
            <a:endParaRPr lang="en-US" dirty="0"/>
          </a:p>
        </p:txBody>
      </p:sp>
      <p:sp>
        <p:nvSpPr>
          <p:cNvPr id="20" name="Oval 19"/>
          <p:cNvSpPr/>
          <p:nvPr/>
        </p:nvSpPr>
        <p:spPr>
          <a:xfrm>
            <a:off x="6724571" y="5223167"/>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a:t>
            </a:r>
            <a:endParaRPr lang="en-US" dirty="0"/>
          </a:p>
        </p:txBody>
      </p:sp>
      <p:sp>
        <p:nvSpPr>
          <p:cNvPr id="21" name="Oval 20"/>
          <p:cNvSpPr/>
          <p:nvPr/>
        </p:nvSpPr>
        <p:spPr>
          <a:xfrm>
            <a:off x="5189116" y="5656807"/>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a:t>
            </a:r>
            <a:endParaRPr lang="en-US" dirty="0"/>
          </a:p>
        </p:txBody>
      </p:sp>
      <p:sp>
        <p:nvSpPr>
          <p:cNvPr id="22" name="Oval 21"/>
          <p:cNvSpPr/>
          <p:nvPr/>
        </p:nvSpPr>
        <p:spPr>
          <a:xfrm>
            <a:off x="4265032" y="5661656"/>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E</a:t>
            </a:r>
            <a:endParaRPr lang="en-US" dirty="0"/>
          </a:p>
        </p:txBody>
      </p:sp>
      <p:sp>
        <p:nvSpPr>
          <p:cNvPr id="23" name="Oval 22"/>
          <p:cNvSpPr/>
          <p:nvPr/>
        </p:nvSpPr>
        <p:spPr>
          <a:xfrm>
            <a:off x="6192815" y="5687981"/>
            <a:ext cx="661015" cy="57357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E</a:t>
            </a:r>
            <a:endParaRPr lang="en-US" dirty="0"/>
          </a:p>
        </p:txBody>
      </p:sp>
    </p:spTree>
    <p:extLst>
      <p:ext uri="{BB962C8B-B14F-4D97-AF65-F5344CB8AC3E}">
        <p14:creationId xmlns:p14="http://schemas.microsoft.com/office/powerpoint/2010/main" val="41914350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Компонент</a:t>
            </a:r>
            <a:endParaRPr lang="ru-RU" sz="2000" spc="-1" dirty="0">
              <a:solidFill>
                <a:srgbClr val="004892"/>
              </a:solidFill>
              <a:latin typeface="Montserrat Bold"/>
            </a:endParaRPr>
          </a:p>
        </p:txBody>
      </p:sp>
      <p:grpSp>
        <p:nvGrpSpPr>
          <p:cNvPr id="7" name="Group 6"/>
          <p:cNvGrpSpPr/>
          <p:nvPr/>
        </p:nvGrpSpPr>
        <p:grpSpPr>
          <a:xfrm>
            <a:off x="1821341" y="2407177"/>
            <a:ext cx="2146453" cy="2660073"/>
            <a:chOff x="3157066" y="1553708"/>
            <a:chExt cx="2146453" cy="2660073"/>
          </a:xfrm>
        </p:grpSpPr>
        <p:sp>
          <p:nvSpPr>
            <p:cNvPr id="8" name="Rounded Rectangle 7"/>
            <p:cNvSpPr/>
            <p:nvPr/>
          </p:nvSpPr>
          <p:spPr>
            <a:xfrm>
              <a:off x="3157066" y="1553708"/>
              <a:ext cx="2146453" cy="26600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t>Business</a:t>
              </a:r>
              <a:endParaRPr lang="en-US" sz="2000" dirty="0"/>
            </a:p>
          </p:txBody>
        </p:sp>
        <p:sp>
          <p:nvSpPr>
            <p:cNvPr id="9" name="Rounded Rectangle 8"/>
            <p:cNvSpPr/>
            <p:nvPr/>
          </p:nvSpPr>
          <p:spPr>
            <a:xfrm>
              <a:off x="3591425" y="2186247"/>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Binding</a:t>
              </a:r>
              <a:endParaRPr lang="en-US" dirty="0"/>
            </a:p>
          </p:txBody>
        </p:sp>
        <p:sp>
          <p:nvSpPr>
            <p:cNvPr id="10" name="Rounded Rectangle 9"/>
            <p:cNvSpPr/>
            <p:nvPr/>
          </p:nvSpPr>
          <p:spPr>
            <a:xfrm>
              <a:off x="3591425" y="2695784"/>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View</a:t>
              </a:r>
              <a:endParaRPr lang="en-US" dirty="0"/>
            </a:p>
          </p:txBody>
        </p:sp>
        <p:sp>
          <p:nvSpPr>
            <p:cNvPr id="11" name="Rounded Rectangle 10"/>
            <p:cNvSpPr/>
            <p:nvPr/>
          </p:nvSpPr>
          <p:spPr>
            <a:xfrm>
              <a:off x="3591425" y="3217790"/>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Interfaces</a:t>
              </a:r>
              <a:endParaRPr lang="en-US" dirty="0"/>
            </a:p>
          </p:txBody>
        </p:sp>
        <p:sp>
          <p:nvSpPr>
            <p:cNvPr id="12" name="Rounded Rectangle 11"/>
            <p:cNvSpPr/>
            <p:nvPr/>
          </p:nvSpPr>
          <p:spPr>
            <a:xfrm>
              <a:off x="3591425" y="3715785"/>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Logic</a:t>
              </a:r>
              <a:endParaRPr lang="en-US" dirty="0"/>
            </a:p>
          </p:txBody>
        </p:sp>
      </p:grpSp>
      <p:grpSp>
        <p:nvGrpSpPr>
          <p:cNvPr id="13" name="Group 12"/>
          <p:cNvGrpSpPr/>
          <p:nvPr/>
        </p:nvGrpSpPr>
        <p:grpSpPr>
          <a:xfrm>
            <a:off x="6564535" y="2222187"/>
            <a:ext cx="1980857" cy="1345216"/>
            <a:chOff x="6356808" y="2056991"/>
            <a:chExt cx="1980857" cy="1345216"/>
          </a:xfrm>
        </p:grpSpPr>
        <p:sp>
          <p:nvSpPr>
            <p:cNvPr id="14" name="Rounded Rectangle 13"/>
            <p:cNvSpPr/>
            <p:nvPr/>
          </p:nvSpPr>
          <p:spPr>
            <a:xfrm>
              <a:off x="6356808" y="2056991"/>
              <a:ext cx="1980857" cy="134521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t>View</a:t>
              </a:r>
              <a:endParaRPr lang="en-US" sz="2000" dirty="0"/>
            </a:p>
          </p:txBody>
        </p:sp>
        <p:sp>
          <p:nvSpPr>
            <p:cNvPr id="15" name="Rounded Rectangle 14"/>
            <p:cNvSpPr/>
            <p:nvPr/>
          </p:nvSpPr>
          <p:spPr>
            <a:xfrm>
              <a:off x="6708369" y="2701477"/>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Forms</a:t>
              </a:r>
              <a:endParaRPr lang="en-US" dirty="0"/>
            </a:p>
          </p:txBody>
        </p:sp>
      </p:grpSp>
      <p:cxnSp>
        <p:nvCxnSpPr>
          <p:cNvPr id="16" name="Straight Arrow Connector 15"/>
          <p:cNvCxnSpPr>
            <a:stCxn id="8" idx="3"/>
            <a:endCxn id="14" idx="1"/>
          </p:cNvCxnSpPr>
          <p:nvPr/>
        </p:nvCxnSpPr>
        <p:spPr>
          <a:xfrm flipV="1">
            <a:off x="3967794" y="2894795"/>
            <a:ext cx="2596741" cy="8424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22" idx="0"/>
            <a:endCxn id="14" idx="2"/>
          </p:cNvCxnSpPr>
          <p:nvPr/>
        </p:nvCxnSpPr>
        <p:spPr>
          <a:xfrm flipV="1">
            <a:off x="7433030" y="3567403"/>
            <a:ext cx="121934" cy="11754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8" idx="3"/>
            <a:endCxn id="22" idx="1"/>
          </p:cNvCxnSpPr>
          <p:nvPr/>
        </p:nvCxnSpPr>
        <p:spPr>
          <a:xfrm>
            <a:off x="3967794" y="3737214"/>
            <a:ext cx="2352873" cy="16359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6320667" y="4742808"/>
            <a:ext cx="2224725" cy="1260744"/>
            <a:chOff x="4256773" y="4780584"/>
            <a:chExt cx="2224725" cy="1260744"/>
          </a:xfrm>
        </p:grpSpPr>
        <p:grpSp>
          <p:nvGrpSpPr>
            <p:cNvPr id="20" name="Group 19"/>
            <p:cNvGrpSpPr/>
            <p:nvPr/>
          </p:nvGrpSpPr>
          <p:grpSpPr>
            <a:xfrm>
              <a:off x="4256773" y="4780584"/>
              <a:ext cx="2224725" cy="1260744"/>
              <a:chOff x="497980" y="1657023"/>
              <a:chExt cx="2224725" cy="1260744"/>
            </a:xfrm>
          </p:grpSpPr>
          <p:sp>
            <p:nvSpPr>
              <p:cNvPr id="22" name="Rounded Rectangle 21"/>
              <p:cNvSpPr/>
              <p:nvPr/>
            </p:nvSpPr>
            <p:spPr>
              <a:xfrm>
                <a:off x="497980" y="1657023"/>
                <a:ext cx="2224725" cy="12607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t>Implements</a:t>
                </a:r>
                <a:endParaRPr lang="ru-RU" b="1" dirty="0" smtClean="0"/>
              </a:p>
              <a:p>
                <a:pPr algn="ctr"/>
                <a:endParaRPr lang="ru-RU" dirty="0" smtClean="0"/>
              </a:p>
            </p:txBody>
          </p:sp>
          <p:sp>
            <p:nvSpPr>
              <p:cNvPr id="23" name="Rounded Rectangle 22"/>
              <p:cNvSpPr/>
              <p:nvPr/>
            </p:nvSpPr>
            <p:spPr>
              <a:xfrm>
                <a:off x="971475" y="2287395"/>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Classes</a:t>
                </a:r>
                <a:endParaRPr lang="en-US" dirty="0"/>
              </a:p>
            </p:txBody>
          </p:sp>
        </p:grpSp>
        <p:sp>
          <p:nvSpPr>
            <p:cNvPr id="21" name="Flowchart: Magnetic Disk 20"/>
            <p:cNvSpPr/>
            <p:nvPr/>
          </p:nvSpPr>
          <p:spPr>
            <a:xfrm>
              <a:off x="5806439" y="5534881"/>
              <a:ext cx="615142" cy="467046"/>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smtClean="0"/>
                <a:t>БД</a:t>
              </a:r>
              <a:endParaRPr lang="en-US" dirty="0"/>
            </a:p>
          </p:txBody>
        </p:sp>
      </p:grpSp>
    </p:spTree>
    <p:extLst>
      <p:ext uri="{BB962C8B-B14F-4D97-AF65-F5344CB8AC3E}">
        <p14:creationId xmlns:p14="http://schemas.microsoft.com/office/powerpoint/2010/main" val="347628754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Компонент</a:t>
            </a:r>
            <a:endParaRPr lang="ru-RU" sz="2000" spc="-1" dirty="0">
              <a:solidFill>
                <a:srgbClr val="004892"/>
              </a:solidFill>
              <a:latin typeface="Montserrat Bold"/>
            </a:endParaRPr>
          </a:p>
        </p:txBody>
      </p:sp>
      <p:grpSp>
        <p:nvGrpSpPr>
          <p:cNvPr id="7" name="Group 6"/>
          <p:cNvGrpSpPr/>
          <p:nvPr/>
        </p:nvGrpSpPr>
        <p:grpSpPr>
          <a:xfrm>
            <a:off x="729597" y="1845425"/>
            <a:ext cx="2021352" cy="2456502"/>
            <a:chOff x="514032" y="1583483"/>
            <a:chExt cx="2021352" cy="2456502"/>
          </a:xfrm>
        </p:grpSpPr>
        <p:grpSp>
          <p:nvGrpSpPr>
            <p:cNvPr id="8" name="Group 7"/>
            <p:cNvGrpSpPr/>
            <p:nvPr/>
          </p:nvGrpSpPr>
          <p:grpSpPr>
            <a:xfrm>
              <a:off x="514032" y="1583483"/>
              <a:ext cx="2021352" cy="2456502"/>
              <a:chOff x="1403493" y="1658298"/>
              <a:chExt cx="2021352" cy="2456502"/>
            </a:xfrm>
          </p:grpSpPr>
          <p:sp>
            <p:nvSpPr>
              <p:cNvPr id="10" name="Rounded Rectangle 9"/>
              <p:cNvSpPr/>
              <p:nvPr/>
            </p:nvSpPr>
            <p:spPr>
              <a:xfrm>
                <a:off x="1403493" y="1658298"/>
                <a:ext cx="2021352" cy="2456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Компонент</a:t>
                </a:r>
                <a:endParaRPr lang="en-US" dirty="0"/>
              </a:p>
            </p:txBody>
          </p:sp>
          <p:sp>
            <p:nvSpPr>
              <p:cNvPr id="11" name="Rounded Rectangle 10"/>
              <p:cNvSpPr/>
              <p:nvPr/>
            </p:nvSpPr>
            <p:spPr>
              <a:xfrm>
                <a:off x="1694208" y="2170667"/>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Business</a:t>
                </a:r>
                <a:endParaRPr lang="en-US" dirty="0"/>
              </a:p>
            </p:txBody>
          </p:sp>
          <p:sp>
            <p:nvSpPr>
              <p:cNvPr id="12" name="Rounded Rectangle 11"/>
              <p:cNvSpPr/>
              <p:nvPr/>
            </p:nvSpPr>
            <p:spPr>
              <a:xfrm>
                <a:off x="1694208" y="2650750"/>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Implement</a:t>
                </a:r>
                <a:endParaRPr lang="en-US" dirty="0"/>
              </a:p>
            </p:txBody>
          </p:sp>
          <p:sp>
            <p:nvSpPr>
              <p:cNvPr id="13" name="Rounded Rectangle 12"/>
              <p:cNvSpPr/>
              <p:nvPr/>
            </p:nvSpPr>
            <p:spPr>
              <a:xfrm>
                <a:off x="1694208" y="3131211"/>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14" name="Rounded Rectangle 13"/>
              <p:cNvSpPr/>
              <p:nvPr/>
            </p:nvSpPr>
            <p:spPr>
              <a:xfrm>
                <a:off x="1676263" y="3601303"/>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sp>
          <p:nvSpPr>
            <p:cNvPr id="9" name="Flowchart: Magnetic Disk 8"/>
            <p:cNvSpPr/>
            <p:nvPr/>
          </p:nvSpPr>
          <p:spPr>
            <a:xfrm>
              <a:off x="2018748" y="2828877"/>
              <a:ext cx="487729" cy="30203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sz="1200" dirty="0" smtClean="0"/>
                <a:t>БД</a:t>
              </a:r>
              <a:endParaRPr lang="en-US" sz="1200" dirty="0"/>
            </a:p>
          </p:txBody>
        </p:sp>
      </p:grpSp>
      <p:grpSp>
        <p:nvGrpSpPr>
          <p:cNvPr id="15" name="Group 14"/>
          <p:cNvGrpSpPr/>
          <p:nvPr/>
        </p:nvGrpSpPr>
        <p:grpSpPr>
          <a:xfrm>
            <a:off x="3032611" y="3997498"/>
            <a:ext cx="2021352" cy="2456502"/>
            <a:chOff x="3206417" y="3141747"/>
            <a:chExt cx="2021352" cy="2456502"/>
          </a:xfrm>
        </p:grpSpPr>
        <p:grpSp>
          <p:nvGrpSpPr>
            <p:cNvPr id="16" name="Group 15"/>
            <p:cNvGrpSpPr/>
            <p:nvPr/>
          </p:nvGrpSpPr>
          <p:grpSpPr>
            <a:xfrm>
              <a:off x="3206417" y="3141747"/>
              <a:ext cx="2021352" cy="2456502"/>
              <a:chOff x="1403493" y="1658298"/>
              <a:chExt cx="2021352" cy="2456502"/>
            </a:xfrm>
          </p:grpSpPr>
          <p:sp>
            <p:nvSpPr>
              <p:cNvPr id="18" name="Rounded Rectangle 17"/>
              <p:cNvSpPr/>
              <p:nvPr/>
            </p:nvSpPr>
            <p:spPr>
              <a:xfrm>
                <a:off x="1403493" y="1658298"/>
                <a:ext cx="2021352" cy="2456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Изделие</a:t>
                </a:r>
                <a:endParaRPr lang="en-US" dirty="0"/>
              </a:p>
            </p:txBody>
          </p:sp>
          <p:sp>
            <p:nvSpPr>
              <p:cNvPr id="19" name="Rounded Rectangle 18"/>
              <p:cNvSpPr/>
              <p:nvPr/>
            </p:nvSpPr>
            <p:spPr>
              <a:xfrm>
                <a:off x="1694208" y="2170667"/>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Business</a:t>
                </a:r>
                <a:endParaRPr lang="en-US" dirty="0"/>
              </a:p>
            </p:txBody>
          </p:sp>
          <p:sp>
            <p:nvSpPr>
              <p:cNvPr id="20" name="Rounded Rectangle 19"/>
              <p:cNvSpPr/>
              <p:nvPr/>
            </p:nvSpPr>
            <p:spPr>
              <a:xfrm>
                <a:off x="1694208" y="2650750"/>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Implement</a:t>
                </a:r>
                <a:endParaRPr lang="en-US" dirty="0"/>
              </a:p>
            </p:txBody>
          </p:sp>
          <p:sp>
            <p:nvSpPr>
              <p:cNvPr id="21" name="Rounded Rectangle 20"/>
              <p:cNvSpPr/>
              <p:nvPr/>
            </p:nvSpPr>
            <p:spPr>
              <a:xfrm>
                <a:off x="1694208" y="3131211"/>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22" name="Rounded Rectangle 21"/>
              <p:cNvSpPr/>
              <p:nvPr/>
            </p:nvSpPr>
            <p:spPr>
              <a:xfrm>
                <a:off x="1676263" y="3601303"/>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sp>
          <p:nvSpPr>
            <p:cNvPr id="17" name="Flowchart: Magnetic Disk 16"/>
            <p:cNvSpPr/>
            <p:nvPr/>
          </p:nvSpPr>
          <p:spPr>
            <a:xfrm>
              <a:off x="4691414" y="4350996"/>
              <a:ext cx="487729" cy="30203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sz="1200" dirty="0" smtClean="0"/>
                <a:t>БД</a:t>
              </a:r>
              <a:endParaRPr lang="en-US" sz="1200" dirty="0"/>
            </a:p>
          </p:txBody>
        </p:sp>
      </p:grpSp>
      <p:grpSp>
        <p:nvGrpSpPr>
          <p:cNvPr id="23" name="Group 22"/>
          <p:cNvGrpSpPr/>
          <p:nvPr/>
        </p:nvGrpSpPr>
        <p:grpSpPr>
          <a:xfrm>
            <a:off x="5975474" y="3978496"/>
            <a:ext cx="2021352" cy="2456502"/>
            <a:chOff x="6177770" y="3952547"/>
            <a:chExt cx="2021352" cy="2456502"/>
          </a:xfrm>
        </p:grpSpPr>
        <p:grpSp>
          <p:nvGrpSpPr>
            <p:cNvPr id="24" name="Group 23"/>
            <p:cNvGrpSpPr/>
            <p:nvPr/>
          </p:nvGrpSpPr>
          <p:grpSpPr>
            <a:xfrm>
              <a:off x="6177770" y="3952547"/>
              <a:ext cx="2021352" cy="2456502"/>
              <a:chOff x="1403493" y="1658298"/>
              <a:chExt cx="2021352" cy="2456502"/>
            </a:xfrm>
          </p:grpSpPr>
          <p:sp>
            <p:nvSpPr>
              <p:cNvPr id="26" name="Rounded Rectangle 25"/>
              <p:cNvSpPr/>
              <p:nvPr/>
            </p:nvSpPr>
            <p:spPr>
              <a:xfrm>
                <a:off x="1403493" y="1658298"/>
                <a:ext cx="2021352" cy="2456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Заказ</a:t>
                </a:r>
                <a:endParaRPr lang="en-US" dirty="0"/>
              </a:p>
            </p:txBody>
          </p:sp>
          <p:sp>
            <p:nvSpPr>
              <p:cNvPr id="27" name="Rounded Rectangle 26"/>
              <p:cNvSpPr/>
              <p:nvPr/>
            </p:nvSpPr>
            <p:spPr>
              <a:xfrm>
                <a:off x="1694208" y="2170667"/>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Business</a:t>
                </a:r>
                <a:endParaRPr lang="en-US" dirty="0"/>
              </a:p>
            </p:txBody>
          </p:sp>
          <p:sp>
            <p:nvSpPr>
              <p:cNvPr id="28" name="Rounded Rectangle 27"/>
              <p:cNvSpPr/>
              <p:nvPr/>
            </p:nvSpPr>
            <p:spPr>
              <a:xfrm>
                <a:off x="1694208" y="2650750"/>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Implement</a:t>
                </a:r>
                <a:endParaRPr lang="en-US" dirty="0"/>
              </a:p>
            </p:txBody>
          </p:sp>
          <p:sp>
            <p:nvSpPr>
              <p:cNvPr id="29" name="Rounded Rectangle 28"/>
              <p:cNvSpPr/>
              <p:nvPr/>
            </p:nvSpPr>
            <p:spPr>
              <a:xfrm>
                <a:off x="1694208" y="3131211"/>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30" name="Rounded Rectangle 29"/>
              <p:cNvSpPr/>
              <p:nvPr/>
            </p:nvSpPr>
            <p:spPr>
              <a:xfrm>
                <a:off x="1676263" y="3601303"/>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sp>
          <p:nvSpPr>
            <p:cNvPr id="25" name="Flowchart: Magnetic Disk 24"/>
            <p:cNvSpPr/>
            <p:nvPr/>
          </p:nvSpPr>
          <p:spPr>
            <a:xfrm>
              <a:off x="7639206" y="5183713"/>
              <a:ext cx="487729" cy="30203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sz="1200" dirty="0" smtClean="0"/>
                <a:t>БД</a:t>
              </a:r>
              <a:endParaRPr lang="en-US" sz="1200" dirty="0"/>
            </a:p>
          </p:txBody>
        </p:sp>
      </p:grpSp>
      <p:grpSp>
        <p:nvGrpSpPr>
          <p:cNvPr id="31" name="Group 30"/>
          <p:cNvGrpSpPr/>
          <p:nvPr/>
        </p:nvGrpSpPr>
        <p:grpSpPr>
          <a:xfrm>
            <a:off x="8479906" y="2151735"/>
            <a:ext cx="2021352" cy="2456502"/>
            <a:chOff x="7449174" y="772224"/>
            <a:chExt cx="2021352" cy="2456502"/>
          </a:xfrm>
        </p:grpSpPr>
        <p:grpSp>
          <p:nvGrpSpPr>
            <p:cNvPr id="32" name="Group 31"/>
            <p:cNvGrpSpPr/>
            <p:nvPr/>
          </p:nvGrpSpPr>
          <p:grpSpPr>
            <a:xfrm>
              <a:off x="7449174" y="772224"/>
              <a:ext cx="2021352" cy="2456502"/>
              <a:chOff x="1403493" y="1658298"/>
              <a:chExt cx="2021352" cy="2456502"/>
            </a:xfrm>
          </p:grpSpPr>
          <p:sp>
            <p:nvSpPr>
              <p:cNvPr id="34" name="Rounded Rectangle 33"/>
              <p:cNvSpPr/>
              <p:nvPr/>
            </p:nvSpPr>
            <p:spPr>
              <a:xfrm>
                <a:off x="1403493" y="1658298"/>
                <a:ext cx="2021352" cy="245650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Клиент</a:t>
                </a:r>
                <a:endParaRPr lang="en-US" dirty="0"/>
              </a:p>
            </p:txBody>
          </p:sp>
          <p:sp>
            <p:nvSpPr>
              <p:cNvPr id="35" name="Rounded Rectangle 34"/>
              <p:cNvSpPr/>
              <p:nvPr/>
            </p:nvSpPr>
            <p:spPr>
              <a:xfrm>
                <a:off x="1694208" y="2170667"/>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a:t>Business</a:t>
                </a:r>
                <a:endParaRPr lang="en-US" dirty="0"/>
              </a:p>
            </p:txBody>
          </p:sp>
          <p:sp>
            <p:nvSpPr>
              <p:cNvPr id="36" name="Rounded Rectangle 35"/>
              <p:cNvSpPr/>
              <p:nvPr/>
            </p:nvSpPr>
            <p:spPr>
              <a:xfrm>
                <a:off x="1694208" y="2650750"/>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Implement</a:t>
                </a:r>
                <a:endParaRPr lang="en-US" dirty="0"/>
              </a:p>
            </p:txBody>
          </p:sp>
          <p:sp>
            <p:nvSpPr>
              <p:cNvPr id="37" name="Rounded Rectangle 36"/>
              <p:cNvSpPr/>
              <p:nvPr/>
            </p:nvSpPr>
            <p:spPr>
              <a:xfrm>
                <a:off x="1694208" y="3131211"/>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38" name="Rounded Rectangle 37"/>
              <p:cNvSpPr/>
              <p:nvPr/>
            </p:nvSpPr>
            <p:spPr>
              <a:xfrm>
                <a:off x="1676263" y="3601303"/>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sp>
          <p:nvSpPr>
            <p:cNvPr id="33" name="Flowchart: Magnetic Disk 32"/>
            <p:cNvSpPr/>
            <p:nvPr/>
          </p:nvSpPr>
          <p:spPr>
            <a:xfrm>
              <a:off x="8953890" y="1960874"/>
              <a:ext cx="487729" cy="302039"/>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sz="1200" dirty="0" smtClean="0"/>
                <a:t>БД</a:t>
              </a:r>
              <a:endParaRPr lang="en-US" sz="1200" dirty="0"/>
            </a:p>
          </p:txBody>
        </p:sp>
      </p:grpSp>
      <p:cxnSp>
        <p:nvCxnSpPr>
          <p:cNvPr id="39" name="Straight Arrow Connector 38"/>
          <p:cNvCxnSpPr>
            <a:stCxn id="38" idx="2"/>
            <a:endCxn id="26" idx="3"/>
          </p:cNvCxnSpPr>
          <p:nvPr/>
        </p:nvCxnSpPr>
        <p:spPr>
          <a:xfrm flipH="1">
            <a:off x="7996826" y="4452188"/>
            <a:ext cx="1493756" cy="754559"/>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cxnSp>
        <p:nvCxnSpPr>
          <p:cNvPr id="40" name="Straight Arrow Connector 39"/>
          <p:cNvCxnSpPr>
            <a:stCxn id="22" idx="3"/>
            <a:endCxn id="26" idx="1"/>
          </p:cNvCxnSpPr>
          <p:nvPr/>
        </p:nvCxnSpPr>
        <p:spPr>
          <a:xfrm flipV="1">
            <a:off x="4781192" y="5206747"/>
            <a:ext cx="1194282" cy="912480"/>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cxnSp>
        <p:nvCxnSpPr>
          <p:cNvPr id="41" name="Straight Arrow Connector 40"/>
          <p:cNvCxnSpPr>
            <a:stCxn id="14" idx="2"/>
            <a:endCxn id="18" idx="1"/>
          </p:cNvCxnSpPr>
          <p:nvPr/>
        </p:nvCxnSpPr>
        <p:spPr>
          <a:xfrm>
            <a:off x="1740273" y="4145878"/>
            <a:ext cx="1292338" cy="1079871"/>
          </a:xfrm>
          <a:prstGeom prst="straightConnector1">
            <a:avLst/>
          </a:prstGeom>
          <a:ln w="57150">
            <a:tailEnd type="triangle"/>
          </a:ln>
        </p:spPr>
        <p:style>
          <a:lnRef idx="1">
            <a:schemeClr val="accent5"/>
          </a:lnRef>
          <a:fillRef idx="0">
            <a:schemeClr val="accent5"/>
          </a:fillRef>
          <a:effectRef idx="0">
            <a:schemeClr val="accent5"/>
          </a:effectRef>
          <a:fontRef idx="minor">
            <a:schemeClr val="tx1"/>
          </a:fontRef>
        </p:style>
      </p:cxnSp>
      <p:sp>
        <p:nvSpPr>
          <p:cNvPr id="42" name="Rounded Rectangle 41"/>
          <p:cNvSpPr/>
          <p:nvPr/>
        </p:nvSpPr>
        <p:spPr>
          <a:xfrm>
            <a:off x="3906982" y="1845425"/>
            <a:ext cx="3225338"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smtClean="0"/>
              <a:t>Приложение</a:t>
            </a:r>
            <a:endParaRPr lang="en-US" dirty="0"/>
          </a:p>
        </p:txBody>
      </p:sp>
      <p:cxnSp>
        <p:nvCxnSpPr>
          <p:cNvPr id="43" name="Straight Arrow Connector 42"/>
          <p:cNvCxnSpPr>
            <a:stCxn id="14" idx="3"/>
            <a:endCxn id="42" idx="2"/>
          </p:cNvCxnSpPr>
          <p:nvPr/>
        </p:nvCxnSpPr>
        <p:spPr>
          <a:xfrm flipV="1">
            <a:off x="2478178" y="2759825"/>
            <a:ext cx="3041473" cy="120732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44" name="Straight Arrow Connector 43"/>
          <p:cNvCxnSpPr>
            <a:endCxn id="42" idx="2"/>
          </p:cNvCxnSpPr>
          <p:nvPr/>
        </p:nvCxnSpPr>
        <p:spPr>
          <a:xfrm flipV="1">
            <a:off x="4781192" y="2759825"/>
            <a:ext cx="738459" cy="3359403"/>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45" name="Straight Arrow Connector 44"/>
          <p:cNvCxnSpPr>
            <a:stCxn id="30" idx="1"/>
            <a:endCxn id="42" idx="2"/>
          </p:cNvCxnSpPr>
          <p:nvPr/>
        </p:nvCxnSpPr>
        <p:spPr>
          <a:xfrm flipH="1" flipV="1">
            <a:off x="5519651" y="2759825"/>
            <a:ext cx="728593" cy="3340400"/>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cxnSp>
        <p:nvCxnSpPr>
          <p:cNvPr id="46" name="Straight Arrow Connector 45"/>
          <p:cNvCxnSpPr>
            <a:stCxn id="38" idx="1"/>
            <a:endCxn id="42" idx="2"/>
          </p:cNvCxnSpPr>
          <p:nvPr/>
        </p:nvCxnSpPr>
        <p:spPr>
          <a:xfrm flipH="1" flipV="1">
            <a:off x="5519651" y="2759825"/>
            <a:ext cx="3233025" cy="1513639"/>
          </a:xfrm>
          <a:prstGeom prst="straightConnector1">
            <a:avLst/>
          </a:prstGeom>
          <a:ln w="38100">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311692101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Компонент</a:t>
            </a:r>
            <a:endParaRPr lang="ru-RU" sz="2000" spc="-1" dirty="0">
              <a:solidFill>
                <a:srgbClr val="004892"/>
              </a:solidFill>
              <a:latin typeface="Montserrat Bold"/>
            </a:endParaRPr>
          </a:p>
        </p:txBody>
      </p:sp>
      <p:grpSp>
        <p:nvGrpSpPr>
          <p:cNvPr id="7" name="Group 6"/>
          <p:cNvGrpSpPr/>
          <p:nvPr/>
        </p:nvGrpSpPr>
        <p:grpSpPr>
          <a:xfrm>
            <a:off x="577678" y="1940199"/>
            <a:ext cx="2146453" cy="2660073"/>
            <a:chOff x="3157066" y="1553708"/>
            <a:chExt cx="2146453" cy="2660073"/>
          </a:xfrm>
        </p:grpSpPr>
        <p:sp>
          <p:nvSpPr>
            <p:cNvPr id="8" name="Rounded Rectangle 7"/>
            <p:cNvSpPr/>
            <p:nvPr/>
          </p:nvSpPr>
          <p:spPr>
            <a:xfrm>
              <a:off x="3157066" y="1553708"/>
              <a:ext cx="2146453" cy="266007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t>Business</a:t>
              </a:r>
              <a:endParaRPr lang="en-US" sz="2000" dirty="0"/>
            </a:p>
          </p:txBody>
        </p:sp>
        <p:sp>
          <p:nvSpPr>
            <p:cNvPr id="9" name="Rounded Rectangle 8"/>
            <p:cNvSpPr/>
            <p:nvPr/>
          </p:nvSpPr>
          <p:spPr>
            <a:xfrm>
              <a:off x="3591425" y="2186247"/>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Binding</a:t>
              </a:r>
              <a:endParaRPr lang="en-US" dirty="0"/>
            </a:p>
          </p:txBody>
        </p:sp>
        <p:sp>
          <p:nvSpPr>
            <p:cNvPr id="10" name="Rounded Rectangle 9"/>
            <p:cNvSpPr/>
            <p:nvPr/>
          </p:nvSpPr>
          <p:spPr>
            <a:xfrm>
              <a:off x="3591425" y="2695784"/>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View</a:t>
              </a:r>
              <a:endParaRPr lang="en-US" dirty="0"/>
            </a:p>
          </p:txBody>
        </p:sp>
        <p:sp>
          <p:nvSpPr>
            <p:cNvPr id="11" name="Rounded Rectangle 10"/>
            <p:cNvSpPr/>
            <p:nvPr/>
          </p:nvSpPr>
          <p:spPr>
            <a:xfrm>
              <a:off x="3591425" y="3217790"/>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Interfaces</a:t>
              </a:r>
              <a:endParaRPr lang="en-US" dirty="0"/>
            </a:p>
          </p:txBody>
        </p:sp>
        <p:sp>
          <p:nvSpPr>
            <p:cNvPr id="12" name="Rounded Rectangle 11"/>
            <p:cNvSpPr/>
            <p:nvPr/>
          </p:nvSpPr>
          <p:spPr>
            <a:xfrm>
              <a:off x="3591425" y="3715785"/>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Logic</a:t>
              </a:r>
              <a:endParaRPr lang="en-US" dirty="0"/>
            </a:p>
          </p:txBody>
        </p:sp>
      </p:grpSp>
      <p:cxnSp>
        <p:nvCxnSpPr>
          <p:cNvPr id="13" name="Straight Arrow Connector 12"/>
          <p:cNvCxnSpPr>
            <a:stCxn id="8" idx="3"/>
            <a:endCxn id="36" idx="1"/>
          </p:cNvCxnSpPr>
          <p:nvPr/>
        </p:nvCxnSpPr>
        <p:spPr>
          <a:xfrm flipV="1">
            <a:off x="2724131" y="2711269"/>
            <a:ext cx="737906" cy="5589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6126260" y="3402259"/>
            <a:ext cx="2021352" cy="1488412"/>
            <a:chOff x="1403493" y="1658298"/>
            <a:chExt cx="2021352" cy="1488412"/>
          </a:xfrm>
        </p:grpSpPr>
        <p:sp>
          <p:nvSpPr>
            <p:cNvPr id="15" name="Rounded Rectangle 14"/>
            <p:cNvSpPr/>
            <p:nvPr/>
          </p:nvSpPr>
          <p:spPr>
            <a:xfrm>
              <a:off x="1403493" y="1658298"/>
              <a:ext cx="2021352" cy="148841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Клиент</a:t>
              </a:r>
              <a:endParaRPr lang="en-US" dirty="0"/>
            </a:p>
          </p:txBody>
        </p:sp>
        <p:sp>
          <p:nvSpPr>
            <p:cNvPr id="16" name="Rounded Rectangle 15"/>
            <p:cNvSpPr/>
            <p:nvPr/>
          </p:nvSpPr>
          <p:spPr>
            <a:xfrm>
              <a:off x="1676263" y="2154385"/>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17" name="Rounded Rectangle 16"/>
            <p:cNvSpPr/>
            <p:nvPr/>
          </p:nvSpPr>
          <p:spPr>
            <a:xfrm>
              <a:off x="1676263" y="2670201"/>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grpSp>
        <p:nvGrpSpPr>
          <p:cNvPr id="18" name="Group 17"/>
          <p:cNvGrpSpPr/>
          <p:nvPr/>
        </p:nvGrpSpPr>
        <p:grpSpPr>
          <a:xfrm>
            <a:off x="1536619" y="4951290"/>
            <a:ext cx="2021352" cy="1586685"/>
            <a:chOff x="1403493" y="1658298"/>
            <a:chExt cx="2021352" cy="1586685"/>
          </a:xfrm>
        </p:grpSpPr>
        <p:sp>
          <p:nvSpPr>
            <p:cNvPr id="19" name="Rounded Rectangle 18"/>
            <p:cNvSpPr/>
            <p:nvPr/>
          </p:nvSpPr>
          <p:spPr>
            <a:xfrm>
              <a:off x="1403493" y="1658298"/>
              <a:ext cx="2021352" cy="158668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Компонент</a:t>
              </a:r>
              <a:endParaRPr lang="en-US" dirty="0"/>
            </a:p>
          </p:txBody>
        </p:sp>
        <p:sp>
          <p:nvSpPr>
            <p:cNvPr id="20" name="Rounded Rectangle 19"/>
            <p:cNvSpPr/>
            <p:nvPr/>
          </p:nvSpPr>
          <p:spPr>
            <a:xfrm>
              <a:off x="1676263" y="2213440"/>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21" name="Rounded Rectangle 20"/>
            <p:cNvSpPr/>
            <p:nvPr/>
          </p:nvSpPr>
          <p:spPr>
            <a:xfrm>
              <a:off x="1676263" y="2707825"/>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grpSp>
        <p:nvGrpSpPr>
          <p:cNvPr id="22" name="Group 21"/>
          <p:cNvGrpSpPr/>
          <p:nvPr/>
        </p:nvGrpSpPr>
        <p:grpSpPr>
          <a:xfrm>
            <a:off x="3830480" y="4374498"/>
            <a:ext cx="2021352" cy="1480847"/>
            <a:chOff x="1403493" y="1658298"/>
            <a:chExt cx="2021352" cy="1480847"/>
          </a:xfrm>
        </p:grpSpPr>
        <p:sp>
          <p:nvSpPr>
            <p:cNvPr id="23" name="Rounded Rectangle 22"/>
            <p:cNvSpPr/>
            <p:nvPr/>
          </p:nvSpPr>
          <p:spPr>
            <a:xfrm>
              <a:off x="1403493" y="1658298"/>
              <a:ext cx="2021352" cy="148084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Изделие</a:t>
              </a:r>
              <a:endParaRPr lang="en-US" dirty="0"/>
            </a:p>
          </p:txBody>
        </p:sp>
        <p:sp>
          <p:nvSpPr>
            <p:cNvPr id="24" name="Rounded Rectangle 23"/>
            <p:cNvSpPr/>
            <p:nvPr/>
          </p:nvSpPr>
          <p:spPr>
            <a:xfrm>
              <a:off x="1645639" y="2184714"/>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25" name="Rounded Rectangle 24"/>
            <p:cNvSpPr/>
            <p:nvPr/>
          </p:nvSpPr>
          <p:spPr>
            <a:xfrm>
              <a:off x="1645638" y="2670240"/>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grpSp>
        <p:nvGrpSpPr>
          <p:cNvPr id="26" name="Group 25"/>
          <p:cNvGrpSpPr/>
          <p:nvPr/>
        </p:nvGrpSpPr>
        <p:grpSpPr>
          <a:xfrm>
            <a:off x="7236428" y="1610933"/>
            <a:ext cx="2021352" cy="1533941"/>
            <a:chOff x="1403493" y="1658298"/>
            <a:chExt cx="2021352" cy="1533941"/>
          </a:xfrm>
        </p:grpSpPr>
        <p:sp>
          <p:nvSpPr>
            <p:cNvPr id="27" name="Rounded Rectangle 26"/>
            <p:cNvSpPr/>
            <p:nvPr/>
          </p:nvSpPr>
          <p:spPr>
            <a:xfrm>
              <a:off x="1403493" y="1658298"/>
              <a:ext cx="2021352" cy="153394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dirty="0" smtClean="0"/>
                <a:t>Заказ</a:t>
              </a:r>
              <a:endParaRPr lang="en-US" dirty="0"/>
            </a:p>
          </p:txBody>
        </p:sp>
        <p:sp>
          <p:nvSpPr>
            <p:cNvPr id="28" name="Rounded Rectangle 27"/>
            <p:cNvSpPr/>
            <p:nvPr/>
          </p:nvSpPr>
          <p:spPr>
            <a:xfrm>
              <a:off x="1676262" y="2204001"/>
              <a:ext cx="1475811"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b="1" dirty="0" smtClean="0"/>
                <a:t>View</a:t>
              </a:r>
              <a:endParaRPr lang="en-US" dirty="0"/>
            </a:p>
          </p:txBody>
        </p:sp>
        <p:sp>
          <p:nvSpPr>
            <p:cNvPr id="29" name="Rounded Rectangle 28"/>
            <p:cNvSpPr/>
            <p:nvPr/>
          </p:nvSpPr>
          <p:spPr>
            <a:xfrm>
              <a:off x="1676261" y="2714214"/>
              <a:ext cx="1475811" cy="357448"/>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b="1" dirty="0" smtClean="0"/>
                <a:t>Interface</a:t>
              </a:r>
              <a:endParaRPr lang="en-US" dirty="0"/>
            </a:p>
          </p:txBody>
        </p:sp>
      </p:grpSp>
      <p:cxnSp>
        <p:nvCxnSpPr>
          <p:cNvPr id="30" name="Straight Arrow Connector 29"/>
          <p:cNvCxnSpPr>
            <a:stCxn id="8" idx="2"/>
            <a:endCxn id="19" idx="0"/>
          </p:cNvCxnSpPr>
          <p:nvPr/>
        </p:nvCxnSpPr>
        <p:spPr>
          <a:xfrm>
            <a:off x="1650905" y="4600272"/>
            <a:ext cx="896390" cy="351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stCxn id="8" idx="3"/>
            <a:endCxn id="23" idx="0"/>
          </p:cNvCxnSpPr>
          <p:nvPr/>
        </p:nvCxnSpPr>
        <p:spPr>
          <a:xfrm>
            <a:off x="2724131" y="3270236"/>
            <a:ext cx="2117025" cy="1104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a:stCxn id="8" idx="3"/>
            <a:endCxn id="27" idx="1"/>
          </p:cNvCxnSpPr>
          <p:nvPr/>
        </p:nvCxnSpPr>
        <p:spPr>
          <a:xfrm flipV="1">
            <a:off x="2724131" y="2377904"/>
            <a:ext cx="4512297" cy="892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3" name="Group 32"/>
          <p:cNvGrpSpPr/>
          <p:nvPr/>
        </p:nvGrpSpPr>
        <p:grpSpPr>
          <a:xfrm>
            <a:off x="3462037" y="2080897"/>
            <a:ext cx="2224725" cy="1260744"/>
            <a:chOff x="4256773" y="4780584"/>
            <a:chExt cx="2224725" cy="1260744"/>
          </a:xfrm>
        </p:grpSpPr>
        <p:grpSp>
          <p:nvGrpSpPr>
            <p:cNvPr id="34" name="Group 33"/>
            <p:cNvGrpSpPr/>
            <p:nvPr/>
          </p:nvGrpSpPr>
          <p:grpSpPr>
            <a:xfrm>
              <a:off x="4256773" y="4780584"/>
              <a:ext cx="2224725" cy="1260744"/>
              <a:chOff x="497980" y="1657023"/>
              <a:chExt cx="2224725" cy="1260744"/>
            </a:xfrm>
          </p:grpSpPr>
          <p:sp>
            <p:nvSpPr>
              <p:cNvPr id="36" name="Rounded Rectangle 35"/>
              <p:cNvSpPr/>
              <p:nvPr/>
            </p:nvSpPr>
            <p:spPr>
              <a:xfrm>
                <a:off x="497980" y="1657023"/>
                <a:ext cx="2224725" cy="126074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b="1" dirty="0" smtClean="0"/>
                  <a:t>Implements</a:t>
                </a:r>
                <a:endParaRPr lang="ru-RU" b="1" dirty="0" smtClean="0"/>
              </a:p>
              <a:p>
                <a:pPr algn="ctr"/>
                <a:endParaRPr lang="ru-RU" dirty="0" smtClean="0"/>
              </a:p>
            </p:txBody>
          </p:sp>
          <p:sp>
            <p:nvSpPr>
              <p:cNvPr id="37" name="Rounded Rectangle 36"/>
              <p:cNvSpPr/>
              <p:nvPr/>
            </p:nvSpPr>
            <p:spPr>
              <a:xfrm>
                <a:off x="971475" y="2287395"/>
                <a:ext cx="1277733" cy="35744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dirty="0" smtClean="0"/>
                  <a:t>Classes</a:t>
                </a:r>
                <a:endParaRPr lang="en-US" dirty="0"/>
              </a:p>
            </p:txBody>
          </p:sp>
        </p:grpSp>
        <p:sp>
          <p:nvSpPr>
            <p:cNvPr id="35" name="Flowchart: Magnetic Disk 34"/>
            <p:cNvSpPr/>
            <p:nvPr/>
          </p:nvSpPr>
          <p:spPr>
            <a:xfrm>
              <a:off x="5806439" y="5534881"/>
              <a:ext cx="615142" cy="467046"/>
            </a:xfrm>
            <a:prstGeom prst="flowChartMagneticDisk">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ru-RU" dirty="0" smtClean="0"/>
                <a:t>БД</a:t>
              </a:r>
              <a:endParaRPr lang="en-US" dirty="0"/>
            </a:p>
          </p:txBody>
        </p:sp>
      </p:grpSp>
      <p:cxnSp>
        <p:nvCxnSpPr>
          <p:cNvPr id="38" name="Straight Arrow Connector 37"/>
          <p:cNvCxnSpPr>
            <a:stCxn id="8" idx="3"/>
            <a:endCxn id="15" idx="1"/>
          </p:cNvCxnSpPr>
          <p:nvPr/>
        </p:nvCxnSpPr>
        <p:spPr>
          <a:xfrm>
            <a:off x="2724131" y="3270236"/>
            <a:ext cx="3402129" cy="8762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36" idx="2"/>
            <a:endCxn id="19" idx="0"/>
          </p:cNvCxnSpPr>
          <p:nvPr/>
        </p:nvCxnSpPr>
        <p:spPr>
          <a:xfrm flipH="1">
            <a:off x="2547295" y="3341641"/>
            <a:ext cx="2027105" cy="160964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a:stCxn id="36" idx="2"/>
            <a:endCxn id="23" idx="0"/>
          </p:cNvCxnSpPr>
          <p:nvPr/>
        </p:nvCxnSpPr>
        <p:spPr>
          <a:xfrm>
            <a:off x="4574400" y="3341641"/>
            <a:ext cx="266756" cy="103285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36" idx="2"/>
            <a:endCxn id="15" idx="1"/>
          </p:cNvCxnSpPr>
          <p:nvPr/>
        </p:nvCxnSpPr>
        <p:spPr>
          <a:xfrm>
            <a:off x="4574400" y="3341641"/>
            <a:ext cx="1551860" cy="8048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a:stCxn id="36" idx="3"/>
            <a:endCxn id="27" idx="1"/>
          </p:cNvCxnSpPr>
          <p:nvPr/>
        </p:nvCxnSpPr>
        <p:spPr>
          <a:xfrm flipV="1">
            <a:off x="5686762" y="2377904"/>
            <a:ext cx="1549666" cy="3333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ounded Rectangle 42"/>
          <p:cNvSpPr/>
          <p:nvPr/>
        </p:nvSpPr>
        <p:spPr>
          <a:xfrm>
            <a:off x="6534943" y="5505572"/>
            <a:ext cx="3225338" cy="9144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ru-RU" dirty="0" smtClean="0"/>
              <a:t>Приложение</a:t>
            </a:r>
            <a:endParaRPr lang="en-US" dirty="0"/>
          </a:p>
        </p:txBody>
      </p:sp>
      <p:cxnSp>
        <p:nvCxnSpPr>
          <p:cNvPr id="44" name="Straight Arrow Connector 43"/>
          <p:cNvCxnSpPr>
            <a:stCxn id="21" idx="3"/>
            <a:endCxn id="43" idx="1"/>
          </p:cNvCxnSpPr>
          <p:nvPr/>
        </p:nvCxnSpPr>
        <p:spPr>
          <a:xfrm flipV="1">
            <a:off x="3285200" y="5962772"/>
            <a:ext cx="3249743" cy="216769"/>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45" name="Straight Arrow Connector 44"/>
          <p:cNvCxnSpPr>
            <a:stCxn id="25" idx="3"/>
            <a:endCxn id="43" idx="1"/>
          </p:cNvCxnSpPr>
          <p:nvPr/>
        </p:nvCxnSpPr>
        <p:spPr>
          <a:xfrm>
            <a:off x="5548436" y="5565164"/>
            <a:ext cx="986507" cy="397608"/>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46" name="Straight Arrow Connector 45"/>
          <p:cNvCxnSpPr>
            <a:stCxn id="17" idx="2"/>
            <a:endCxn id="43" idx="0"/>
          </p:cNvCxnSpPr>
          <p:nvPr/>
        </p:nvCxnSpPr>
        <p:spPr>
          <a:xfrm>
            <a:off x="7136936" y="4771610"/>
            <a:ext cx="1010676" cy="733962"/>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47" name="Straight Arrow Connector 46"/>
          <p:cNvCxnSpPr>
            <a:stCxn id="29" idx="2"/>
            <a:endCxn id="43" idx="0"/>
          </p:cNvCxnSpPr>
          <p:nvPr/>
        </p:nvCxnSpPr>
        <p:spPr>
          <a:xfrm flipH="1">
            <a:off x="8147612" y="3024297"/>
            <a:ext cx="99490" cy="2481275"/>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Tree>
    <p:extLst>
      <p:ext uri="{BB962C8B-B14F-4D97-AF65-F5344CB8AC3E}">
        <p14:creationId xmlns:p14="http://schemas.microsoft.com/office/powerpoint/2010/main" val="166331877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Компонент</a:t>
            </a:r>
            <a:endParaRPr lang="ru-RU" sz="2000" spc="-1" dirty="0">
              <a:solidFill>
                <a:srgbClr val="004892"/>
              </a:solidFill>
              <a:latin typeface="Montserrat Bold"/>
            </a:endParaRPr>
          </a:p>
        </p:txBody>
      </p:sp>
      <p:grpSp>
        <p:nvGrpSpPr>
          <p:cNvPr id="7" name="Group 6"/>
          <p:cNvGrpSpPr/>
          <p:nvPr/>
        </p:nvGrpSpPr>
        <p:grpSpPr>
          <a:xfrm>
            <a:off x="1525832" y="1712617"/>
            <a:ext cx="7776057" cy="4821383"/>
            <a:chOff x="752801" y="1388224"/>
            <a:chExt cx="7776057" cy="4821383"/>
          </a:xfrm>
        </p:grpSpPr>
        <p:sp>
          <p:nvSpPr>
            <p:cNvPr id="8" name="Rounded Rectangle 7"/>
            <p:cNvSpPr/>
            <p:nvPr/>
          </p:nvSpPr>
          <p:spPr>
            <a:xfrm>
              <a:off x="752801" y="1388224"/>
              <a:ext cx="7776057" cy="48213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1313411" y="1815867"/>
              <a:ext cx="1878676" cy="9144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dirty="0" smtClean="0"/>
                <a:t>Класс с входными данными</a:t>
              </a:r>
              <a:endParaRPr lang="en-US" dirty="0"/>
            </a:p>
          </p:txBody>
        </p:sp>
        <p:sp>
          <p:nvSpPr>
            <p:cNvPr id="10" name="Rounded Rectangle 9"/>
            <p:cNvSpPr/>
            <p:nvPr/>
          </p:nvSpPr>
          <p:spPr>
            <a:xfrm>
              <a:off x="3579543" y="1815867"/>
              <a:ext cx="1878676" cy="9144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dirty="0" smtClean="0"/>
                <a:t>Класс с настройками</a:t>
              </a:r>
              <a:endParaRPr lang="en-US" dirty="0"/>
            </a:p>
          </p:txBody>
        </p:sp>
        <p:grpSp>
          <p:nvGrpSpPr>
            <p:cNvPr id="11" name="Group 10"/>
            <p:cNvGrpSpPr/>
            <p:nvPr/>
          </p:nvGrpSpPr>
          <p:grpSpPr>
            <a:xfrm>
              <a:off x="1338349" y="3277060"/>
              <a:ext cx="3921778" cy="1898074"/>
              <a:chOff x="1338349" y="2798617"/>
              <a:chExt cx="3921778" cy="1898074"/>
            </a:xfrm>
          </p:grpSpPr>
          <p:sp>
            <p:nvSpPr>
              <p:cNvPr id="15" name="Rounded Rectangle 14"/>
              <p:cNvSpPr/>
              <p:nvPr/>
            </p:nvSpPr>
            <p:spPr>
              <a:xfrm>
                <a:off x="1338349" y="2798617"/>
                <a:ext cx="3921778" cy="1898074"/>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r>
                  <a:rPr lang="ru-RU" dirty="0" smtClean="0"/>
                  <a:t>Интерфейс</a:t>
                </a:r>
                <a:endParaRPr lang="en-US" dirty="0"/>
              </a:p>
            </p:txBody>
          </p:sp>
          <p:sp>
            <p:nvSpPr>
              <p:cNvPr id="16" name="Rounded Rectangle 15"/>
              <p:cNvSpPr/>
              <p:nvPr/>
            </p:nvSpPr>
            <p:spPr>
              <a:xfrm>
                <a:off x="1504602" y="3319085"/>
                <a:ext cx="3133900" cy="594823"/>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ru-RU" dirty="0" smtClean="0"/>
                  <a:t>Метод настройки выгрузки</a:t>
                </a:r>
                <a:endParaRPr lang="en-US" dirty="0"/>
              </a:p>
            </p:txBody>
          </p:sp>
          <p:sp>
            <p:nvSpPr>
              <p:cNvPr id="17" name="Rounded Rectangle 16"/>
              <p:cNvSpPr/>
              <p:nvPr/>
            </p:nvSpPr>
            <p:spPr>
              <a:xfrm>
                <a:off x="2066214" y="4001885"/>
                <a:ext cx="2926080" cy="606829"/>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ru-RU" dirty="0" smtClean="0"/>
                  <a:t>Метод создания отчета</a:t>
                </a:r>
                <a:endParaRPr lang="en-US" dirty="0"/>
              </a:p>
            </p:txBody>
          </p:sp>
        </p:grpSp>
        <p:sp>
          <p:nvSpPr>
            <p:cNvPr id="12" name="Rounded Rectangle 11"/>
            <p:cNvSpPr/>
            <p:nvPr/>
          </p:nvSpPr>
          <p:spPr>
            <a:xfrm>
              <a:off x="5845675" y="1562793"/>
              <a:ext cx="1845426" cy="13300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dirty="0" smtClean="0"/>
                <a:t>Реализация для выгрузки в </a:t>
              </a:r>
              <a:r>
                <a:rPr lang="en-US" dirty="0" smtClean="0"/>
                <a:t>pdf</a:t>
              </a:r>
              <a:endParaRPr lang="en-US" dirty="0"/>
            </a:p>
          </p:txBody>
        </p:sp>
        <p:sp>
          <p:nvSpPr>
            <p:cNvPr id="13" name="Rounded Rectangle 12"/>
            <p:cNvSpPr/>
            <p:nvPr/>
          </p:nvSpPr>
          <p:spPr>
            <a:xfrm>
              <a:off x="5845675" y="3082636"/>
              <a:ext cx="1845426" cy="13300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dirty="0" smtClean="0"/>
                <a:t>Реализация для выгрузки в </a:t>
              </a:r>
              <a:r>
                <a:rPr lang="en-US" dirty="0" smtClean="0"/>
                <a:t>word</a:t>
              </a:r>
              <a:endParaRPr lang="en-US" dirty="0"/>
            </a:p>
          </p:txBody>
        </p:sp>
        <p:sp>
          <p:nvSpPr>
            <p:cNvPr id="14" name="Rounded Rectangle 13"/>
            <p:cNvSpPr/>
            <p:nvPr/>
          </p:nvSpPr>
          <p:spPr>
            <a:xfrm>
              <a:off x="5845675" y="4680065"/>
              <a:ext cx="1845426" cy="1330036"/>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dirty="0" smtClean="0"/>
                <a:t>Реализация для выгрузки в </a:t>
              </a:r>
              <a:r>
                <a:rPr lang="en-US" dirty="0" smtClean="0"/>
                <a:t>excel</a:t>
              </a:r>
              <a:endParaRPr lang="en-US" dirty="0"/>
            </a:p>
          </p:txBody>
        </p:sp>
      </p:grpSp>
    </p:spTree>
    <p:extLst>
      <p:ext uri="{BB962C8B-B14F-4D97-AF65-F5344CB8AC3E}">
        <p14:creationId xmlns:p14="http://schemas.microsoft.com/office/powerpoint/2010/main" val="359902932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Описание задачи</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Требуется модуль визуализации передвижения автомобиля с учетом особенности привода (передний, задний, полный), кузова и производителя</a:t>
            </a:r>
          </a:p>
          <a:p>
            <a:pPr algn="just">
              <a:lnSpc>
                <a:spcPct val="100000"/>
              </a:lnSpc>
            </a:pPr>
            <a:endParaRPr lang="ru-RU" sz="2000" spc="-1" dirty="0">
              <a:solidFill>
                <a:srgbClr val="262626"/>
              </a:solidFill>
              <a:latin typeface="Montserrat"/>
            </a:endParaRPr>
          </a:p>
          <a:p>
            <a:pPr algn="just">
              <a:lnSpc>
                <a:spcPct val="100000"/>
              </a:lnSpc>
            </a:pPr>
            <a:r>
              <a:rPr lang="ru-RU" sz="2000" spc="-1" dirty="0">
                <a:solidFill>
                  <a:srgbClr val="262626"/>
                </a:solidFill>
                <a:latin typeface="Montserrat"/>
              </a:rPr>
              <a:t>Автомобиль: производитель, левое переднее колесо, правое переднее колесо, левое заднее колесо, правое заднее колесо, кузов, действия движения вперед, назад и поворота</a:t>
            </a:r>
          </a:p>
        </p:txBody>
      </p:sp>
    </p:spTree>
    <p:extLst>
      <p:ext uri="{BB962C8B-B14F-4D97-AF65-F5344CB8AC3E}">
        <p14:creationId xmlns:p14="http://schemas.microsoft.com/office/powerpoint/2010/main" val="72437146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Решение задачи через наследование</a:t>
            </a:r>
            <a:endParaRPr lang="ru-RU" sz="2000" spc="-1" dirty="0">
              <a:solidFill>
                <a:srgbClr val="004892"/>
              </a:solidFill>
              <a:latin typeface="Montserrat Bold"/>
            </a:endParaRPr>
          </a:p>
        </p:txBody>
      </p:sp>
      <p:pic>
        <p:nvPicPr>
          <p:cNvPr id="7" name="Объект 7"/>
          <p:cNvPicPr>
            <a:picLocks noChangeAspect="1"/>
          </p:cNvPicPr>
          <p:nvPr/>
        </p:nvPicPr>
        <p:blipFill>
          <a:blip r:embed="rId4"/>
          <a:stretch>
            <a:fillRect/>
          </a:stretch>
        </p:blipFill>
        <p:spPr>
          <a:xfrm>
            <a:off x="632482" y="2299063"/>
            <a:ext cx="4093522" cy="2518237"/>
          </a:xfrm>
          <a:prstGeom prst="rect">
            <a:avLst/>
          </a:prstGeom>
          <a:ln>
            <a:solidFill>
              <a:schemeClr val="tx1"/>
            </a:solidFill>
          </a:ln>
        </p:spPr>
      </p:pic>
      <p:pic>
        <p:nvPicPr>
          <p:cNvPr id="8" name="Рисунок 4"/>
          <p:cNvPicPr>
            <a:picLocks noChangeAspect="1"/>
          </p:cNvPicPr>
          <p:nvPr/>
        </p:nvPicPr>
        <p:blipFill>
          <a:blip r:embed="rId5"/>
          <a:stretch>
            <a:fillRect/>
          </a:stretch>
        </p:blipFill>
        <p:spPr>
          <a:xfrm>
            <a:off x="5286044" y="1080000"/>
            <a:ext cx="5153956" cy="5474362"/>
          </a:xfrm>
          <a:prstGeom prst="rect">
            <a:avLst/>
          </a:prstGeom>
          <a:ln>
            <a:solidFill>
              <a:schemeClr val="tx1"/>
            </a:solidFill>
          </a:ln>
        </p:spPr>
      </p:pic>
    </p:spTree>
    <p:extLst>
      <p:ext uri="{BB962C8B-B14F-4D97-AF65-F5344CB8AC3E}">
        <p14:creationId xmlns:p14="http://schemas.microsoft.com/office/powerpoint/2010/main" val="85626783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4"/>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Решение задачи через наследование</a:t>
            </a:r>
            <a:endParaRPr lang="ru-RU" sz="2000" spc="-1" dirty="0">
              <a:solidFill>
                <a:srgbClr val="004892"/>
              </a:solidFill>
              <a:latin typeface="Montserrat Bold"/>
            </a:endParaRPr>
          </a:p>
        </p:txBody>
      </p:sp>
      <p:pic>
        <p:nvPicPr>
          <p:cNvPr id="9" name="Рисунок 4"/>
          <p:cNvPicPr>
            <a:picLocks noChangeAspect="1"/>
          </p:cNvPicPr>
          <p:nvPr/>
        </p:nvPicPr>
        <p:blipFill>
          <a:blip r:embed="rId5"/>
          <a:stretch>
            <a:fillRect/>
          </a:stretch>
        </p:blipFill>
        <p:spPr>
          <a:xfrm>
            <a:off x="467280" y="1800000"/>
            <a:ext cx="3872360" cy="1475713"/>
          </a:xfrm>
          <a:prstGeom prst="rect">
            <a:avLst/>
          </a:prstGeom>
          <a:ln>
            <a:solidFill>
              <a:schemeClr val="tx1"/>
            </a:solidFill>
          </a:ln>
        </p:spPr>
      </p:pic>
      <p:pic>
        <p:nvPicPr>
          <p:cNvPr id="10" name="Рисунок 5"/>
          <p:cNvPicPr>
            <a:picLocks noChangeAspect="1"/>
          </p:cNvPicPr>
          <p:nvPr/>
        </p:nvPicPr>
        <p:blipFill>
          <a:blip r:embed="rId6"/>
          <a:stretch>
            <a:fillRect/>
          </a:stretch>
        </p:blipFill>
        <p:spPr>
          <a:xfrm>
            <a:off x="5783907" y="1368752"/>
            <a:ext cx="3940773" cy="1513076"/>
          </a:xfrm>
          <a:prstGeom prst="rect">
            <a:avLst/>
          </a:prstGeom>
          <a:ln>
            <a:solidFill>
              <a:schemeClr val="tx1"/>
            </a:solidFill>
          </a:ln>
        </p:spPr>
      </p:pic>
      <p:pic>
        <p:nvPicPr>
          <p:cNvPr id="11" name="Рисунок 6"/>
          <p:cNvPicPr>
            <a:picLocks noChangeAspect="1"/>
          </p:cNvPicPr>
          <p:nvPr/>
        </p:nvPicPr>
        <p:blipFill>
          <a:blip r:embed="rId7"/>
          <a:stretch>
            <a:fillRect/>
          </a:stretch>
        </p:blipFill>
        <p:spPr>
          <a:xfrm>
            <a:off x="360000" y="3691492"/>
            <a:ext cx="3879301" cy="1817029"/>
          </a:xfrm>
          <a:prstGeom prst="rect">
            <a:avLst/>
          </a:prstGeom>
          <a:ln>
            <a:solidFill>
              <a:schemeClr val="tx1"/>
            </a:solidFill>
          </a:ln>
        </p:spPr>
      </p:pic>
      <p:pic>
        <p:nvPicPr>
          <p:cNvPr id="12" name="Рисунок 6"/>
          <p:cNvPicPr>
            <a:picLocks noChangeAspect="1"/>
          </p:cNvPicPr>
          <p:nvPr/>
        </p:nvPicPr>
        <p:blipFill>
          <a:blip r:embed="rId8"/>
          <a:stretch>
            <a:fillRect/>
          </a:stretch>
        </p:blipFill>
        <p:spPr>
          <a:xfrm>
            <a:off x="5353373" y="3169293"/>
            <a:ext cx="3625966" cy="1544866"/>
          </a:xfrm>
          <a:prstGeom prst="rect">
            <a:avLst/>
          </a:prstGeom>
          <a:ln>
            <a:solidFill>
              <a:schemeClr val="tx1"/>
            </a:solidFill>
          </a:ln>
        </p:spPr>
      </p:pic>
      <p:graphicFrame>
        <p:nvGraphicFramePr>
          <p:cNvPr id="13" name="Объект 7"/>
          <p:cNvGraphicFramePr>
            <a:graphicFrameLocks noChangeAspect="1"/>
          </p:cNvGraphicFramePr>
          <p:nvPr>
            <p:extLst>
              <p:ext uri="{D42A27DB-BD31-4B8C-83A1-F6EECF244321}">
                <p14:modId xmlns:p14="http://schemas.microsoft.com/office/powerpoint/2010/main" val="708651353"/>
              </p:ext>
            </p:extLst>
          </p:nvPr>
        </p:nvGraphicFramePr>
        <p:xfrm>
          <a:off x="4957560" y="4963389"/>
          <a:ext cx="4021779" cy="1525113"/>
        </p:xfrm>
        <a:graphic>
          <a:graphicData uri="http://schemas.openxmlformats.org/presentationml/2006/ole">
            <mc:AlternateContent xmlns:mc="http://schemas.openxmlformats.org/markup-compatibility/2006">
              <mc:Choice xmlns:v="urn:schemas-microsoft-com:vml" Requires="v">
                <p:oleObj spid="_x0000_s1058" name="Точечный рисунок" r:id="rId9" imgW="3390840" imgH="1285920" progId="Paint.Picture">
                  <p:embed/>
                </p:oleObj>
              </mc:Choice>
              <mc:Fallback>
                <p:oleObj name="Точечный рисунок" r:id="rId9" imgW="3390840" imgH="1285920" progId="Paint.Picture">
                  <p:embed/>
                  <p:pic>
                    <p:nvPicPr>
                      <p:cNvPr id="8" name="Объект 7"/>
                      <p:cNvPicPr/>
                      <p:nvPr/>
                    </p:nvPicPr>
                    <p:blipFill>
                      <a:blip r:embed="rId10"/>
                      <a:stretch>
                        <a:fillRect/>
                      </a:stretch>
                    </p:blipFill>
                    <p:spPr>
                      <a:xfrm>
                        <a:off x="4957560" y="4963389"/>
                        <a:ext cx="4021779" cy="1525113"/>
                      </a:xfrm>
                      <a:prstGeom prst="rect">
                        <a:avLst/>
                      </a:prstGeom>
                      <a:ln>
                        <a:solidFill>
                          <a:schemeClr val="tx1"/>
                        </a:solidFill>
                      </a:ln>
                    </p:spPr>
                  </p:pic>
                </p:oleObj>
              </mc:Fallback>
            </mc:AlternateContent>
          </a:graphicData>
        </a:graphic>
      </p:graphicFrame>
    </p:spTree>
    <p:extLst>
      <p:ext uri="{BB962C8B-B14F-4D97-AF65-F5344CB8AC3E}">
        <p14:creationId xmlns:p14="http://schemas.microsoft.com/office/powerpoint/2010/main" val="2955836973"/>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Решение задачи через </a:t>
            </a:r>
            <a:r>
              <a:rPr lang="ru-RU" sz="2000" spc="-1" dirty="0" smtClean="0">
                <a:solidFill>
                  <a:srgbClr val="004892"/>
                </a:solidFill>
                <a:latin typeface="Montserrat Bold"/>
              </a:rPr>
              <a:t>наследование. Архитектура</a:t>
            </a:r>
            <a:endParaRPr lang="ru-RU" sz="2000" spc="-1" dirty="0">
              <a:solidFill>
                <a:srgbClr val="004892"/>
              </a:solidFill>
              <a:latin typeface="Montserrat Bold"/>
            </a:endParaRPr>
          </a:p>
        </p:txBody>
      </p:sp>
      <p:sp>
        <p:nvSpPr>
          <p:cNvPr id="15" name="Скругленный прямоугольник 3"/>
          <p:cNvSpPr/>
          <p:nvPr/>
        </p:nvSpPr>
        <p:spPr>
          <a:xfrm>
            <a:off x="4197509" y="2083221"/>
            <a:ext cx="1951348" cy="5865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smtClean="0"/>
              <a:t>BaseCar</a:t>
            </a:r>
            <a:endParaRPr lang="ru-RU" dirty="0"/>
          </a:p>
        </p:txBody>
      </p:sp>
      <p:sp>
        <p:nvSpPr>
          <p:cNvPr id="16" name="Скругленный прямоугольник 4"/>
          <p:cNvSpPr/>
          <p:nvPr/>
        </p:nvSpPr>
        <p:spPr>
          <a:xfrm>
            <a:off x="4197509" y="3110743"/>
            <a:ext cx="1951348" cy="5865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smtClean="0"/>
              <a:t>Car</a:t>
            </a:r>
            <a:endParaRPr lang="ru-RU" dirty="0"/>
          </a:p>
        </p:txBody>
      </p:sp>
      <p:cxnSp>
        <p:nvCxnSpPr>
          <p:cNvPr id="17" name="Прямая со стрелкой 6"/>
          <p:cNvCxnSpPr>
            <a:stCxn id="15" idx="2"/>
            <a:endCxn id="16" idx="0"/>
          </p:cNvCxnSpPr>
          <p:nvPr/>
        </p:nvCxnSpPr>
        <p:spPr>
          <a:xfrm>
            <a:off x="5173183" y="2669777"/>
            <a:ext cx="0" cy="44096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8" name="Скругленный прямоугольник 8"/>
          <p:cNvSpPr/>
          <p:nvPr/>
        </p:nvSpPr>
        <p:spPr>
          <a:xfrm>
            <a:off x="730016" y="4297473"/>
            <a:ext cx="3231820" cy="5865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FrontWheelDriveCar</a:t>
            </a:r>
            <a:endParaRPr lang="ru-RU" dirty="0"/>
          </a:p>
        </p:txBody>
      </p:sp>
      <p:sp>
        <p:nvSpPr>
          <p:cNvPr id="19" name="Скругленный прямоугольник 9"/>
          <p:cNvSpPr/>
          <p:nvPr/>
        </p:nvSpPr>
        <p:spPr>
          <a:xfrm>
            <a:off x="6384530" y="4290141"/>
            <a:ext cx="3231820" cy="59388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BackWheelDriveCar</a:t>
            </a:r>
            <a:endParaRPr lang="ru-RU" dirty="0"/>
          </a:p>
        </p:txBody>
      </p:sp>
      <p:sp>
        <p:nvSpPr>
          <p:cNvPr id="20" name="Скругленный прямоугольник 10"/>
          <p:cNvSpPr/>
          <p:nvPr/>
        </p:nvSpPr>
        <p:spPr>
          <a:xfrm>
            <a:off x="3557273" y="5402504"/>
            <a:ext cx="3231820" cy="5865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t>AllWheelDriveCar</a:t>
            </a:r>
            <a:endParaRPr lang="ru-RU" dirty="0"/>
          </a:p>
        </p:txBody>
      </p:sp>
      <p:cxnSp>
        <p:nvCxnSpPr>
          <p:cNvPr id="21" name="Прямая со стрелкой 11"/>
          <p:cNvCxnSpPr>
            <a:stCxn id="16" idx="2"/>
            <a:endCxn id="18" idx="0"/>
          </p:cNvCxnSpPr>
          <p:nvPr/>
        </p:nvCxnSpPr>
        <p:spPr>
          <a:xfrm flipH="1">
            <a:off x="2345926" y="3697299"/>
            <a:ext cx="2827257" cy="60017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14"/>
          <p:cNvCxnSpPr>
            <a:stCxn id="16" idx="2"/>
            <a:endCxn id="20" idx="0"/>
          </p:cNvCxnSpPr>
          <p:nvPr/>
        </p:nvCxnSpPr>
        <p:spPr>
          <a:xfrm>
            <a:off x="5173183" y="3697299"/>
            <a:ext cx="0" cy="170520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Прямая со стрелкой 17"/>
          <p:cNvCxnSpPr>
            <a:stCxn id="16" idx="2"/>
            <a:endCxn id="19" idx="0"/>
          </p:cNvCxnSpPr>
          <p:nvPr/>
        </p:nvCxnSpPr>
        <p:spPr>
          <a:xfrm>
            <a:off x="5173183" y="3697299"/>
            <a:ext cx="2827257" cy="59284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519140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Решение задачи через </a:t>
            </a:r>
            <a:r>
              <a:rPr lang="ru-RU" sz="2000" spc="-1" dirty="0" smtClean="0">
                <a:solidFill>
                  <a:srgbClr val="004892"/>
                </a:solidFill>
                <a:latin typeface="Montserrat Bold"/>
              </a:rPr>
              <a:t>компоненты. Архитектура</a:t>
            </a:r>
            <a:endParaRPr lang="ru-RU" sz="2000" spc="-1" dirty="0">
              <a:solidFill>
                <a:srgbClr val="004892"/>
              </a:solidFill>
              <a:latin typeface="Montserrat Bold"/>
            </a:endParaRPr>
          </a:p>
        </p:txBody>
      </p:sp>
      <p:sp>
        <p:nvSpPr>
          <p:cNvPr id="24" name="Скругленный прямоугольник 3"/>
          <p:cNvSpPr/>
          <p:nvPr/>
        </p:nvSpPr>
        <p:spPr>
          <a:xfrm>
            <a:off x="864231" y="2119945"/>
            <a:ext cx="1951348" cy="991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Компонент движения</a:t>
            </a:r>
            <a:endParaRPr lang="ru-RU" dirty="0"/>
          </a:p>
        </p:txBody>
      </p:sp>
      <p:sp>
        <p:nvSpPr>
          <p:cNvPr id="25" name="Скругленный прямоугольник 4"/>
          <p:cNvSpPr/>
          <p:nvPr/>
        </p:nvSpPr>
        <p:spPr>
          <a:xfrm>
            <a:off x="3981886" y="2054060"/>
            <a:ext cx="1951348" cy="991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Компонент поворота</a:t>
            </a:r>
            <a:endParaRPr lang="ru-RU" dirty="0"/>
          </a:p>
        </p:txBody>
      </p:sp>
      <p:sp>
        <p:nvSpPr>
          <p:cNvPr id="26" name="Скругленный прямоугольник 5"/>
          <p:cNvSpPr/>
          <p:nvPr/>
        </p:nvSpPr>
        <p:spPr>
          <a:xfrm>
            <a:off x="1506039" y="5318045"/>
            <a:ext cx="2619079" cy="991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Компонент производителя</a:t>
            </a:r>
            <a:endParaRPr lang="ru-RU" dirty="0"/>
          </a:p>
        </p:txBody>
      </p:sp>
      <p:sp>
        <p:nvSpPr>
          <p:cNvPr id="27" name="Скругленный прямоугольник 6"/>
          <p:cNvSpPr/>
          <p:nvPr/>
        </p:nvSpPr>
        <p:spPr>
          <a:xfrm>
            <a:off x="7135412" y="2415993"/>
            <a:ext cx="1951348" cy="991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Компонент кузова</a:t>
            </a:r>
            <a:endParaRPr lang="ru-RU" dirty="0"/>
          </a:p>
        </p:txBody>
      </p:sp>
      <p:sp>
        <p:nvSpPr>
          <p:cNvPr id="28" name="Скругленный прямоугольник 7"/>
          <p:cNvSpPr/>
          <p:nvPr/>
        </p:nvSpPr>
        <p:spPr>
          <a:xfrm>
            <a:off x="7212414" y="4847390"/>
            <a:ext cx="1951348" cy="991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Компонент колеса</a:t>
            </a:r>
            <a:endParaRPr lang="ru-RU" dirty="0"/>
          </a:p>
        </p:txBody>
      </p:sp>
      <p:sp>
        <p:nvSpPr>
          <p:cNvPr id="29" name="Скругленный прямоугольник 8"/>
          <p:cNvSpPr/>
          <p:nvPr/>
        </p:nvSpPr>
        <p:spPr>
          <a:xfrm>
            <a:off x="3981886" y="3801905"/>
            <a:ext cx="1951348" cy="99190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Компонент машина</a:t>
            </a:r>
            <a:endParaRPr lang="ru-RU" dirty="0"/>
          </a:p>
        </p:txBody>
      </p:sp>
      <p:cxnSp>
        <p:nvCxnSpPr>
          <p:cNvPr id="30" name="Прямая со стрелкой 9"/>
          <p:cNvCxnSpPr>
            <a:stCxn id="24" idx="2"/>
            <a:endCxn id="29" idx="1"/>
          </p:cNvCxnSpPr>
          <p:nvPr/>
        </p:nvCxnSpPr>
        <p:spPr>
          <a:xfrm>
            <a:off x="1839905" y="3111854"/>
            <a:ext cx="2141981" cy="11860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12"/>
          <p:cNvCxnSpPr>
            <a:stCxn id="25" idx="2"/>
            <a:endCxn id="29" idx="0"/>
          </p:cNvCxnSpPr>
          <p:nvPr/>
        </p:nvCxnSpPr>
        <p:spPr>
          <a:xfrm>
            <a:off x="4957560" y="3045969"/>
            <a:ext cx="0" cy="75593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2" name="Прямая со стрелкой 15"/>
          <p:cNvCxnSpPr>
            <a:stCxn id="26" idx="0"/>
            <a:endCxn id="29" idx="2"/>
          </p:cNvCxnSpPr>
          <p:nvPr/>
        </p:nvCxnSpPr>
        <p:spPr>
          <a:xfrm flipV="1">
            <a:off x="2815579" y="4793814"/>
            <a:ext cx="2141981" cy="524231"/>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3" name="Прямая со стрелкой 18"/>
          <p:cNvCxnSpPr>
            <a:stCxn id="27" idx="1"/>
            <a:endCxn id="29" idx="3"/>
          </p:cNvCxnSpPr>
          <p:nvPr/>
        </p:nvCxnSpPr>
        <p:spPr>
          <a:xfrm flipH="1">
            <a:off x="5933234" y="2911948"/>
            <a:ext cx="1202178" cy="138591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34" name="Прямая со стрелкой 21"/>
          <p:cNvCxnSpPr>
            <a:stCxn id="28" idx="1"/>
            <a:endCxn id="29" idx="3"/>
          </p:cNvCxnSpPr>
          <p:nvPr/>
        </p:nvCxnSpPr>
        <p:spPr>
          <a:xfrm flipH="1" flipV="1">
            <a:off x="5933234" y="4297860"/>
            <a:ext cx="1279180" cy="1045485"/>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337237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Решение задачи через </a:t>
            </a:r>
            <a:r>
              <a:rPr lang="ru-RU" sz="2000" spc="-1" dirty="0" smtClean="0">
                <a:solidFill>
                  <a:srgbClr val="004892"/>
                </a:solidFill>
                <a:latin typeface="Montserrat Bold"/>
              </a:rPr>
              <a:t>компоненты. Компонент машина</a:t>
            </a:r>
            <a:endParaRPr lang="ru-RU" sz="2000" spc="-1" dirty="0">
              <a:solidFill>
                <a:srgbClr val="004892"/>
              </a:solidFill>
              <a:latin typeface="Montserrat Bold"/>
            </a:endParaRPr>
          </a:p>
        </p:txBody>
      </p:sp>
      <p:pic>
        <p:nvPicPr>
          <p:cNvPr id="18" name="Рисунок 4"/>
          <p:cNvPicPr>
            <a:picLocks noChangeAspect="1"/>
          </p:cNvPicPr>
          <p:nvPr/>
        </p:nvPicPr>
        <p:blipFill>
          <a:blip r:embed="rId4"/>
          <a:stretch>
            <a:fillRect/>
          </a:stretch>
        </p:blipFill>
        <p:spPr>
          <a:xfrm>
            <a:off x="3003144" y="2493441"/>
            <a:ext cx="3649388" cy="2571455"/>
          </a:xfrm>
          <a:prstGeom prst="rect">
            <a:avLst/>
          </a:prstGeom>
          <a:solidFill>
            <a:schemeClr val="tx1"/>
          </a:solidFill>
          <a:ln>
            <a:solidFill>
              <a:schemeClr val="tx1"/>
            </a:solidFill>
          </a:ln>
        </p:spPr>
      </p:pic>
    </p:spTree>
    <p:extLst>
      <p:ext uri="{BB962C8B-B14F-4D97-AF65-F5344CB8AC3E}">
        <p14:creationId xmlns:p14="http://schemas.microsoft.com/office/powerpoint/2010/main" val="143914891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Решение задачи через </a:t>
            </a:r>
            <a:r>
              <a:rPr lang="ru-RU" sz="2000" spc="-1" dirty="0" smtClean="0">
                <a:solidFill>
                  <a:srgbClr val="004892"/>
                </a:solidFill>
                <a:latin typeface="Montserrat Bold"/>
              </a:rPr>
              <a:t>компоненты. Компонент машина</a:t>
            </a:r>
            <a:endParaRPr lang="ru-RU" sz="2000" spc="-1" dirty="0">
              <a:solidFill>
                <a:srgbClr val="004892"/>
              </a:solidFill>
              <a:latin typeface="Montserrat Bold"/>
            </a:endParaRPr>
          </a:p>
        </p:txBody>
      </p:sp>
      <p:sp>
        <p:nvSpPr>
          <p:cNvPr id="8" name="Скругленный прямоугольник 3"/>
          <p:cNvSpPr/>
          <p:nvPr/>
        </p:nvSpPr>
        <p:spPr>
          <a:xfrm>
            <a:off x="3911184" y="2311995"/>
            <a:ext cx="2092751" cy="7918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Интерфейс</a:t>
            </a:r>
            <a:endParaRPr lang="ru-RU" sz="2400" dirty="0"/>
          </a:p>
        </p:txBody>
      </p:sp>
      <p:sp>
        <p:nvSpPr>
          <p:cNvPr id="9" name="Скругленный прямоугольник 4"/>
          <p:cNvSpPr/>
          <p:nvPr/>
        </p:nvSpPr>
        <p:spPr>
          <a:xfrm>
            <a:off x="1683465" y="3620753"/>
            <a:ext cx="2421119" cy="7918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Реализация 1</a:t>
            </a:r>
            <a:endParaRPr lang="ru-RU" sz="2400" dirty="0"/>
          </a:p>
        </p:txBody>
      </p:sp>
      <p:cxnSp>
        <p:nvCxnSpPr>
          <p:cNvPr id="10" name="Прямая со стрелкой 5"/>
          <p:cNvCxnSpPr>
            <a:stCxn id="8" idx="2"/>
            <a:endCxn id="9" idx="0"/>
          </p:cNvCxnSpPr>
          <p:nvPr/>
        </p:nvCxnSpPr>
        <p:spPr>
          <a:xfrm flipH="1">
            <a:off x="2894025" y="3103847"/>
            <a:ext cx="2063535" cy="516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Скругленный прямоугольник 8"/>
          <p:cNvSpPr/>
          <p:nvPr/>
        </p:nvSpPr>
        <p:spPr>
          <a:xfrm>
            <a:off x="6131345" y="3632276"/>
            <a:ext cx="2421119" cy="7918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Реализация 2</a:t>
            </a:r>
            <a:endParaRPr lang="ru-RU" sz="2400" dirty="0"/>
          </a:p>
        </p:txBody>
      </p:sp>
      <p:cxnSp>
        <p:nvCxnSpPr>
          <p:cNvPr id="12" name="Прямая со стрелкой 9"/>
          <p:cNvCxnSpPr>
            <a:stCxn id="8" idx="2"/>
            <a:endCxn id="11" idx="0"/>
          </p:cNvCxnSpPr>
          <p:nvPr/>
        </p:nvCxnSpPr>
        <p:spPr>
          <a:xfrm>
            <a:off x="4957560" y="3103847"/>
            <a:ext cx="2384345" cy="5284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3" name="Скругленный прямоугольник 13"/>
          <p:cNvSpPr/>
          <p:nvPr/>
        </p:nvSpPr>
        <p:spPr>
          <a:xfrm>
            <a:off x="3231031" y="4929511"/>
            <a:ext cx="3701594" cy="8075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Доп. классы, перечисления и т.п.</a:t>
            </a:r>
            <a:endParaRPr lang="ru-RU" sz="2400" dirty="0"/>
          </a:p>
        </p:txBody>
      </p:sp>
    </p:spTree>
    <p:extLst>
      <p:ext uri="{BB962C8B-B14F-4D97-AF65-F5344CB8AC3E}">
        <p14:creationId xmlns:p14="http://schemas.microsoft.com/office/powerpoint/2010/main" val="2744400623"/>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Пользовательские элементы управления</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997159403"/>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Пользовательские элементы управления</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Пользовательские элементы управления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Преимущество пользовательских элементов управления заключается в том, что после того как какой-то элемент создан, его можно повторно использовать в нескольких страницах одного веб-приложения или формах десктоп-приложения. Элемент можно расширять собственными свойствами, событиями и методами.</a:t>
            </a:r>
          </a:p>
        </p:txBody>
      </p:sp>
      <p:sp>
        <p:nvSpPr>
          <p:cNvPr id="8" name="Скругленный прямоугольник 3"/>
          <p:cNvSpPr/>
          <p:nvPr/>
        </p:nvSpPr>
        <p:spPr>
          <a:xfrm>
            <a:off x="3968679" y="3553654"/>
            <a:ext cx="2092751" cy="7918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Элемент управления</a:t>
            </a:r>
            <a:endParaRPr lang="ru-RU" sz="2400" dirty="0"/>
          </a:p>
        </p:txBody>
      </p:sp>
      <p:sp>
        <p:nvSpPr>
          <p:cNvPr id="9" name="Скругленный прямоугольник 4"/>
          <p:cNvSpPr/>
          <p:nvPr/>
        </p:nvSpPr>
        <p:spPr>
          <a:xfrm>
            <a:off x="1740960" y="4862412"/>
            <a:ext cx="2421119" cy="7918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Визуальный</a:t>
            </a:r>
            <a:endParaRPr lang="ru-RU" sz="2400" dirty="0"/>
          </a:p>
        </p:txBody>
      </p:sp>
      <p:cxnSp>
        <p:nvCxnSpPr>
          <p:cNvPr id="10" name="Прямая со стрелкой 5"/>
          <p:cNvCxnSpPr>
            <a:stCxn id="8" idx="2"/>
            <a:endCxn id="9" idx="0"/>
          </p:cNvCxnSpPr>
          <p:nvPr/>
        </p:nvCxnSpPr>
        <p:spPr>
          <a:xfrm flipH="1">
            <a:off x="2951520" y="4345506"/>
            <a:ext cx="2063535" cy="51690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1" name="Скругленный прямоугольник 8"/>
          <p:cNvSpPr/>
          <p:nvPr/>
        </p:nvSpPr>
        <p:spPr>
          <a:xfrm>
            <a:off x="6188840" y="4873935"/>
            <a:ext cx="2421119" cy="79185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err="1" smtClean="0"/>
              <a:t>Невизуальный</a:t>
            </a:r>
            <a:endParaRPr lang="ru-RU" sz="2400" dirty="0"/>
          </a:p>
        </p:txBody>
      </p:sp>
      <p:cxnSp>
        <p:nvCxnSpPr>
          <p:cNvPr id="12" name="Прямая со стрелкой 9"/>
          <p:cNvCxnSpPr>
            <a:stCxn id="8" idx="2"/>
            <a:endCxn id="11" idx="0"/>
          </p:cNvCxnSpPr>
          <p:nvPr/>
        </p:nvCxnSpPr>
        <p:spPr>
          <a:xfrm>
            <a:off x="5015055" y="4345506"/>
            <a:ext cx="2384345" cy="52842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949052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Пользовательские элементы управления</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Пользовательские элементы управления</a:t>
            </a:r>
          </a:p>
        </p:txBody>
      </p:sp>
      <p:pic>
        <p:nvPicPr>
          <p:cNvPr id="3" name="Picture 2"/>
          <p:cNvPicPr>
            <a:picLocks noChangeAspect="1"/>
          </p:cNvPicPr>
          <p:nvPr/>
        </p:nvPicPr>
        <p:blipFill>
          <a:blip r:embed="rId4"/>
          <a:stretch>
            <a:fillRect/>
          </a:stretch>
        </p:blipFill>
        <p:spPr>
          <a:xfrm>
            <a:off x="1631092" y="1598082"/>
            <a:ext cx="7301152" cy="5833729"/>
          </a:xfrm>
          <a:prstGeom prst="rect">
            <a:avLst/>
          </a:prstGeom>
        </p:spPr>
      </p:pic>
    </p:spTree>
    <p:extLst>
      <p:ext uri="{BB962C8B-B14F-4D97-AF65-F5344CB8AC3E}">
        <p14:creationId xmlns:p14="http://schemas.microsoft.com/office/powerpoint/2010/main" val="297990004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Пользовательские элементы управления</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Пользовательские элементы управления</a:t>
            </a:r>
          </a:p>
        </p:txBody>
      </p:sp>
      <p:pic>
        <p:nvPicPr>
          <p:cNvPr id="2" name="Picture 1"/>
          <p:cNvPicPr>
            <a:picLocks noChangeAspect="1"/>
          </p:cNvPicPr>
          <p:nvPr/>
        </p:nvPicPr>
        <p:blipFill>
          <a:blip r:embed="rId4"/>
          <a:stretch>
            <a:fillRect/>
          </a:stretch>
        </p:blipFill>
        <p:spPr>
          <a:xfrm>
            <a:off x="1696292" y="1097021"/>
            <a:ext cx="7407415" cy="6139958"/>
          </a:xfrm>
          <a:prstGeom prst="rect">
            <a:avLst/>
          </a:prstGeom>
          <a:ln>
            <a:solidFill>
              <a:schemeClr val="tx1"/>
            </a:solidFill>
          </a:ln>
        </p:spPr>
      </p:pic>
    </p:spTree>
    <p:extLst>
      <p:ext uri="{BB962C8B-B14F-4D97-AF65-F5344CB8AC3E}">
        <p14:creationId xmlns:p14="http://schemas.microsoft.com/office/powerpoint/2010/main" val="65925131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57704303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Стандарты взаимодействия компонент</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err="1">
                <a:solidFill>
                  <a:srgbClr val="262626"/>
                </a:solidFill>
                <a:latin typeface="Montserrat"/>
              </a:rPr>
              <a:t>Component</a:t>
            </a:r>
            <a:r>
              <a:rPr lang="ru-RU" sz="2000" spc="-1" dirty="0">
                <a:solidFill>
                  <a:srgbClr val="262626"/>
                </a:solidFill>
                <a:latin typeface="Montserrat"/>
              </a:rPr>
              <a:t> </a:t>
            </a:r>
            <a:r>
              <a:rPr lang="ru-RU" sz="2000" spc="-1" dirty="0" err="1">
                <a:solidFill>
                  <a:srgbClr val="262626"/>
                </a:solidFill>
                <a:latin typeface="Montserrat"/>
              </a:rPr>
              <a:t>Object</a:t>
            </a:r>
            <a:r>
              <a:rPr lang="ru-RU" sz="2000" spc="-1" dirty="0">
                <a:solidFill>
                  <a:srgbClr val="262626"/>
                </a:solidFill>
                <a:latin typeface="Montserrat"/>
              </a:rPr>
              <a:t> </a:t>
            </a:r>
            <a:r>
              <a:rPr lang="ru-RU" sz="2000" spc="-1" dirty="0" err="1">
                <a:solidFill>
                  <a:srgbClr val="262626"/>
                </a:solidFill>
                <a:latin typeface="Montserrat"/>
              </a:rPr>
              <a:t>Model</a:t>
            </a:r>
            <a:r>
              <a:rPr lang="ru-RU" sz="2000" spc="-1" dirty="0">
                <a:solidFill>
                  <a:srgbClr val="262626"/>
                </a:solidFill>
                <a:latin typeface="Montserrat"/>
              </a:rPr>
              <a:t> (COM) – изначальный стандарт </a:t>
            </a:r>
            <a:r>
              <a:rPr lang="ru-RU" sz="2000" spc="-1" dirty="0" err="1">
                <a:solidFill>
                  <a:srgbClr val="262626"/>
                </a:solidFill>
                <a:latin typeface="Montserrat"/>
              </a:rPr>
              <a:t>Microsoft</a:t>
            </a:r>
            <a:r>
              <a:rPr lang="ru-RU" sz="2000" spc="-1" dirty="0">
                <a:solidFill>
                  <a:srgbClr val="262626"/>
                </a:solidFill>
                <a:latin typeface="Montserrat"/>
              </a:rPr>
              <a:t> для компонент. Определяет протокол для конкретизации и использования компонент внутри процесса, между процессами или между компьютерами. </a:t>
            </a:r>
          </a:p>
          <a:p>
            <a:pPr marL="342900" indent="-342900" algn="just">
              <a:lnSpc>
                <a:spcPct val="100000"/>
              </a:lnSpc>
              <a:buFont typeface="Wingdings" panose="05000000000000000000" pitchFamily="2" charset="2"/>
              <a:buChar char="§"/>
            </a:pPr>
            <a:r>
              <a:rPr lang="ru-RU" sz="2000" spc="-1" dirty="0" err="1">
                <a:solidFill>
                  <a:srgbClr val="262626"/>
                </a:solidFill>
                <a:latin typeface="Montserrat"/>
              </a:rPr>
              <a:t>Java</a:t>
            </a:r>
            <a:r>
              <a:rPr lang="ru-RU" sz="2000" spc="-1" dirty="0">
                <a:solidFill>
                  <a:srgbClr val="262626"/>
                </a:solidFill>
                <a:latin typeface="Montserrat"/>
              </a:rPr>
              <a:t> </a:t>
            </a:r>
            <a:r>
              <a:rPr lang="ru-RU" sz="2000" spc="-1" dirty="0" err="1">
                <a:solidFill>
                  <a:srgbClr val="262626"/>
                </a:solidFill>
                <a:latin typeface="Montserrat"/>
              </a:rPr>
              <a:t>Beans</a:t>
            </a:r>
            <a:r>
              <a:rPr lang="ru-RU" sz="2000" spc="-1" dirty="0">
                <a:solidFill>
                  <a:srgbClr val="262626"/>
                </a:solidFill>
                <a:latin typeface="Montserrat"/>
              </a:rPr>
              <a:t> – стандарт </a:t>
            </a:r>
            <a:r>
              <a:rPr lang="ru-RU" sz="2000" spc="-1" dirty="0" err="1">
                <a:solidFill>
                  <a:srgbClr val="262626"/>
                </a:solidFill>
                <a:latin typeface="Montserrat"/>
              </a:rPr>
              <a:t>Sun</a:t>
            </a:r>
            <a:r>
              <a:rPr lang="ru-RU" sz="2000" spc="-1" dirty="0">
                <a:solidFill>
                  <a:srgbClr val="262626"/>
                </a:solidFill>
                <a:latin typeface="Montserrat"/>
              </a:rPr>
              <a:t> </a:t>
            </a:r>
            <a:r>
              <a:rPr lang="ru-RU" sz="2000" spc="-1" dirty="0" err="1">
                <a:solidFill>
                  <a:srgbClr val="262626"/>
                </a:solidFill>
                <a:latin typeface="Montserrat"/>
              </a:rPr>
              <a:t>Microsystems</a:t>
            </a:r>
            <a:r>
              <a:rPr lang="ru-RU" sz="2000" spc="-1" dirty="0">
                <a:solidFill>
                  <a:srgbClr val="262626"/>
                </a:solidFill>
                <a:latin typeface="Montserrat"/>
              </a:rPr>
              <a:t> для компонентов (не является независимым от языка) </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CORBA (громоздкий IDL-интерфейс, сложность отображения одного языка реализации в другой)</a:t>
            </a:r>
          </a:p>
        </p:txBody>
      </p:sp>
    </p:spTree>
    <p:extLst>
      <p:ext uri="{BB962C8B-B14F-4D97-AF65-F5344CB8AC3E}">
        <p14:creationId xmlns:p14="http://schemas.microsoft.com/office/powerpoint/2010/main" val="4214968442"/>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CORBA</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CORBA (</a:t>
            </a:r>
            <a:r>
              <a:rPr lang="ru-RU" sz="2000" spc="-1" dirty="0" err="1">
                <a:solidFill>
                  <a:srgbClr val="262626"/>
                </a:solidFill>
                <a:latin typeface="Montserrat"/>
              </a:rPr>
              <a:t>Common</a:t>
            </a:r>
            <a:r>
              <a:rPr lang="ru-RU" sz="2000" spc="-1" dirty="0">
                <a:solidFill>
                  <a:srgbClr val="262626"/>
                </a:solidFill>
                <a:latin typeface="Montserrat"/>
              </a:rPr>
              <a:t> </a:t>
            </a:r>
            <a:r>
              <a:rPr lang="ru-RU" sz="2000" spc="-1" dirty="0" err="1">
                <a:solidFill>
                  <a:srgbClr val="262626"/>
                </a:solidFill>
                <a:latin typeface="Montserrat"/>
              </a:rPr>
              <a:t>Object</a:t>
            </a:r>
            <a:r>
              <a:rPr lang="ru-RU" sz="2000" spc="-1" dirty="0">
                <a:solidFill>
                  <a:srgbClr val="262626"/>
                </a:solidFill>
                <a:latin typeface="Montserrat"/>
              </a:rPr>
              <a:t> </a:t>
            </a:r>
            <a:r>
              <a:rPr lang="ru-RU" sz="2000" spc="-1" dirty="0" err="1">
                <a:solidFill>
                  <a:srgbClr val="262626"/>
                </a:solidFill>
                <a:latin typeface="Montserrat"/>
              </a:rPr>
              <a:t>Request</a:t>
            </a:r>
            <a:r>
              <a:rPr lang="ru-RU" sz="2000" spc="-1" dirty="0">
                <a:solidFill>
                  <a:srgbClr val="262626"/>
                </a:solidFill>
                <a:latin typeface="Montserrat"/>
              </a:rPr>
              <a:t> </a:t>
            </a:r>
            <a:r>
              <a:rPr lang="ru-RU" sz="2000" spc="-1" dirty="0" err="1">
                <a:solidFill>
                  <a:srgbClr val="262626"/>
                </a:solidFill>
                <a:latin typeface="Montserrat"/>
              </a:rPr>
              <a:t>Broker</a:t>
            </a:r>
            <a:r>
              <a:rPr lang="ru-RU" sz="2000" spc="-1" dirty="0">
                <a:solidFill>
                  <a:srgbClr val="262626"/>
                </a:solidFill>
                <a:latin typeface="Montserrat"/>
              </a:rPr>
              <a:t> </a:t>
            </a:r>
            <a:r>
              <a:rPr lang="ru-RU" sz="2000" spc="-1" dirty="0" err="1">
                <a:solidFill>
                  <a:srgbClr val="262626"/>
                </a:solidFill>
                <a:latin typeface="Montserrat"/>
              </a:rPr>
              <a:t>Architecture</a:t>
            </a:r>
            <a:r>
              <a:rPr lang="ru-RU" sz="2000" spc="-1" dirty="0">
                <a:solidFill>
                  <a:srgbClr val="262626"/>
                </a:solidFill>
                <a:latin typeface="Montserrat"/>
              </a:rPr>
              <a:t> - общая архитектура брокера объектных запросов) – это технология разработки </a:t>
            </a:r>
            <a:r>
              <a:rPr lang="ru-RU" sz="2000" spc="-1" dirty="0" smtClean="0">
                <a:solidFill>
                  <a:srgbClr val="262626"/>
                </a:solidFill>
                <a:latin typeface="Montserrat"/>
              </a:rPr>
              <a:t>распределенных </a:t>
            </a:r>
            <a:r>
              <a:rPr lang="ru-RU" sz="2000" spc="-1" dirty="0">
                <a:solidFill>
                  <a:srgbClr val="262626"/>
                </a:solidFill>
                <a:latin typeface="Montserrat"/>
              </a:rPr>
              <a:t>приложений, ориентированная на интеграцию распределенных изолированных систем.</a:t>
            </a:r>
          </a:p>
          <a:p>
            <a:pPr algn="just">
              <a:lnSpc>
                <a:spcPct val="100000"/>
              </a:lnSpc>
            </a:pPr>
            <a:r>
              <a:rPr lang="ru-RU" sz="2000" spc="-1" dirty="0">
                <a:solidFill>
                  <a:srgbClr val="262626"/>
                </a:solidFill>
                <a:latin typeface="Montserrat"/>
              </a:rPr>
              <a:t>Разработано OMG (</a:t>
            </a:r>
            <a:r>
              <a:rPr lang="ru-RU" sz="2000" spc="-1" dirty="0" err="1">
                <a:solidFill>
                  <a:srgbClr val="262626"/>
                </a:solidFill>
                <a:latin typeface="Montserrat"/>
              </a:rPr>
              <a:t>Object</a:t>
            </a:r>
            <a:r>
              <a:rPr lang="ru-RU" sz="2000" spc="-1" dirty="0">
                <a:solidFill>
                  <a:srgbClr val="262626"/>
                </a:solidFill>
                <a:latin typeface="Montserrat"/>
              </a:rPr>
              <a:t> </a:t>
            </a:r>
            <a:r>
              <a:rPr lang="ru-RU" sz="2000" spc="-1" dirty="0" err="1">
                <a:solidFill>
                  <a:srgbClr val="262626"/>
                </a:solidFill>
                <a:latin typeface="Montserrat"/>
              </a:rPr>
              <a:t>Management</a:t>
            </a:r>
            <a:r>
              <a:rPr lang="ru-RU" sz="2000" spc="-1" dirty="0">
                <a:solidFill>
                  <a:srgbClr val="262626"/>
                </a:solidFill>
                <a:latin typeface="Montserrat"/>
              </a:rPr>
              <a:t> </a:t>
            </a:r>
            <a:r>
              <a:rPr lang="ru-RU" sz="2000" spc="-1" dirty="0" err="1">
                <a:solidFill>
                  <a:srgbClr val="262626"/>
                </a:solidFill>
                <a:latin typeface="Montserrat"/>
              </a:rPr>
              <a:t>Group</a:t>
            </a:r>
            <a:r>
              <a:rPr lang="ru-RU" sz="2000" spc="-1" dirty="0">
                <a:solidFill>
                  <a:srgbClr val="262626"/>
                </a:solidFill>
                <a:latin typeface="Montserrat"/>
              </a:rPr>
              <a:t>), некоммерческое объединение, разрабатывающее стандарты для создания корпоративных платформенно-независимых </a:t>
            </a:r>
            <a:r>
              <a:rPr lang="ru-RU" sz="2000" spc="-1" dirty="0" smtClean="0">
                <a:solidFill>
                  <a:srgbClr val="262626"/>
                </a:solidFill>
                <a:latin typeface="Montserrat"/>
              </a:rPr>
              <a:t>приложений.</a:t>
            </a:r>
          </a:p>
          <a:p>
            <a:pPr algn="just">
              <a:lnSpc>
                <a:spcPct val="100000"/>
              </a:lnSpc>
            </a:pPr>
            <a:r>
              <a:rPr lang="ru-RU" sz="2000" spc="-1" dirty="0">
                <a:solidFill>
                  <a:srgbClr val="262626"/>
                </a:solidFill>
                <a:latin typeface="Montserrat"/>
              </a:rPr>
              <a:t>В состав </a:t>
            </a:r>
            <a:r>
              <a:rPr lang="en-US" sz="2000" spc="-1" dirty="0">
                <a:solidFill>
                  <a:srgbClr val="262626"/>
                </a:solidFill>
                <a:latin typeface="Montserrat"/>
              </a:rPr>
              <a:t>OMA </a:t>
            </a:r>
            <a:r>
              <a:rPr lang="ru-RU" sz="2000" spc="-1" dirty="0">
                <a:solidFill>
                  <a:srgbClr val="262626"/>
                </a:solidFill>
                <a:latin typeface="Montserrat"/>
              </a:rPr>
              <a:t>входят разнообразные стандартизованные </a:t>
            </a:r>
            <a:r>
              <a:rPr lang="en-US" sz="2000" spc="-1" dirty="0">
                <a:solidFill>
                  <a:srgbClr val="262626"/>
                </a:solidFill>
                <a:latin typeface="Montserrat"/>
              </a:rPr>
              <a:t>OMG </a:t>
            </a:r>
            <a:r>
              <a:rPr lang="ru-RU" sz="2000" spc="-1" dirty="0">
                <a:solidFill>
                  <a:srgbClr val="262626"/>
                </a:solidFill>
                <a:latin typeface="Montserrat"/>
              </a:rPr>
              <a:t>службы, сервисы, программные образцы и шаблоны (</a:t>
            </a:r>
            <a:r>
              <a:rPr lang="en-US" sz="2000" spc="-1" dirty="0" err="1">
                <a:solidFill>
                  <a:srgbClr val="262626"/>
                </a:solidFill>
                <a:latin typeface="Montserrat"/>
              </a:rPr>
              <a:t>CORBAservices</a:t>
            </a:r>
            <a:r>
              <a:rPr lang="en-US" sz="2000" spc="-1" dirty="0">
                <a:solidFill>
                  <a:srgbClr val="262626"/>
                </a:solidFill>
                <a:latin typeface="Montserrat"/>
              </a:rPr>
              <a:t>, horizontal and vertical </a:t>
            </a:r>
            <a:r>
              <a:rPr lang="en-US" sz="2000" spc="-1" dirty="0" err="1">
                <a:solidFill>
                  <a:srgbClr val="262626"/>
                </a:solidFill>
                <a:latin typeface="Montserrat"/>
              </a:rPr>
              <a:t>CORBAfacilities</a:t>
            </a:r>
            <a:r>
              <a:rPr lang="en-US" sz="2000" spc="-1" dirty="0">
                <a:solidFill>
                  <a:srgbClr val="262626"/>
                </a:solidFill>
                <a:latin typeface="Montserrat"/>
              </a:rPr>
              <a:t>), </a:t>
            </a:r>
            <a:r>
              <a:rPr lang="ru-RU" sz="2000" spc="-1" dirty="0">
                <a:solidFill>
                  <a:srgbClr val="262626"/>
                </a:solidFill>
                <a:latin typeface="Montserrat"/>
              </a:rPr>
              <a:t>язык определения интерфейсов распределенных объектов </a:t>
            </a:r>
            <a:r>
              <a:rPr lang="en-US" sz="2000" spc="-1" dirty="0">
                <a:solidFill>
                  <a:srgbClr val="262626"/>
                </a:solidFill>
                <a:latin typeface="Montserrat"/>
              </a:rPr>
              <a:t>IDL (Interface Definition Language), </a:t>
            </a:r>
            <a:r>
              <a:rPr lang="ru-RU" sz="2000" spc="-1" dirty="0">
                <a:solidFill>
                  <a:srgbClr val="262626"/>
                </a:solidFill>
                <a:latin typeface="Montserrat"/>
              </a:rPr>
              <a:t>стандартизованные или стандартизируемые отображения </a:t>
            </a:r>
            <a:r>
              <a:rPr lang="en-US" sz="2000" spc="-1" dirty="0">
                <a:solidFill>
                  <a:srgbClr val="262626"/>
                </a:solidFill>
                <a:latin typeface="Montserrat"/>
              </a:rPr>
              <a:t>IDL </a:t>
            </a:r>
            <a:r>
              <a:rPr lang="ru-RU" sz="2000" spc="-1" dirty="0">
                <a:solidFill>
                  <a:srgbClr val="262626"/>
                </a:solidFill>
                <a:latin typeface="Montserrat"/>
              </a:rPr>
              <a:t>на языки программирования и объектная модель </a:t>
            </a:r>
            <a:r>
              <a:rPr lang="en-US" sz="2000" spc="-1" dirty="0">
                <a:solidFill>
                  <a:srgbClr val="262626"/>
                </a:solidFill>
                <a:latin typeface="Montserrat"/>
              </a:rPr>
              <a:t>CORBA</a:t>
            </a:r>
            <a:r>
              <a:rPr lang="en-US" sz="2000" spc="-1" dirty="0" smtClean="0">
                <a:solidFill>
                  <a:srgbClr val="262626"/>
                </a:solidFill>
                <a:latin typeface="Montserrat"/>
              </a:rPr>
              <a:t>.</a:t>
            </a:r>
            <a:endParaRPr lang="en-US" sz="2000" spc="-1" dirty="0">
              <a:solidFill>
                <a:srgbClr val="262626"/>
              </a:solidFill>
              <a:latin typeface="Montserrat"/>
            </a:endParaRPr>
          </a:p>
        </p:txBody>
      </p:sp>
    </p:spTree>
    <p:extLst>
      <p:ext uri="{BB962C8B-B14F-4D97-AF65-F5344CB8AC3E}">
        <p14:creationId xmlns:p14="http://schemas.microsoft.com/office/powerpoint/2010/main" val="165716327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CORBA</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Технологический стандарт CORBA определяет язык IDL, применяемый для унифицированного описания интерфейсов распределенных объектов, и его отображения на языки </a:t>
            </a:r>
            <a:r>
              <a:rPr lang="ru-RU" sz="2000" spc="-1" dirty="0" err="1">
                <a:solidFill>
                  <a:srgbClr val="262626"/>
                </a:solidFill>
                <a:latin typeface="Montserrat"/>
              </a:rPr>
              <a:t>Ada</a:t>
            </a:r>
            <a:r>
              <a:rPr lang="ru-RU" sz="2000" spc="-1" dirty="0">
                <a:solidFill>
                  <a:srgbClr val="262626"/>
                </a:solidFill>
                <a:latin typeface="Montserrat"/>
              </a:rPr>
              <a:t>, C, C++, </a:t>
            </a:r>
            <a:r>
              <a:rPr lang="ru-RU" sz="2000" spc="-1" dirty="0" err="1">
                <a:solidFill>
                  <a:srgbClr val="262626"/>
                </a:solidFill>
                <a:latin typeface="Montserrat"/>
              </a:rPr>
              <a:t>Java</a:t>
            </a:r>
            <a:r>
              <a:rPr lang="ru-RU" sz="2000" spc="-1" dirty="0">
                <a:solidFill>
                  <a:srgbClr val="262626"/>
                </a:solidFill>
                <a:latin typeface="Montserrat"/>
              </a:rPr>
              <a:t>, </a:t>
            </a:r>
            <a:r>
              <a:rPr lang="ru-RU" sz="2000" spc="-1" dirty="0" err="1">
                <a:solidFill>
                  <a:srgbClr val="262626"/>
                </a:solidFill>
                <a:latin typeface="Montserrat"/>
              </a:rPr>
              <a:t>Python</a:t>
            </a:r>
            <a:r>
              <a:rPr lang="ru-RU" sz="2000" spc="-1" dirty="0">
                <a:solidFill>
                  <a:srgbClr val="262626"/>
                </a:solidFill>
                <a:latin typeface="Montserrat"/>
              </a:rPr>
              <a:t>, COBOL, </a:t>
            </a:r>
            <a:r>
              <a:rPr lang="ru-RU" sz="2000" spc="-1" dirty="0" err="1">
                <a:solidFill>
                  <a:srgbClr val="262626"/>
                </a:solidFill>
                <a:latin typeface="Montserrat"/>
              </a:rPr>
              <a:t>Lisp</a:t>
            </a:r>
            <a:r>
              <a:rPr lang="ru-RU" sz="2000" spc="-1" dirty="0">
                <a:solidFill>
                  <a:srgbClr val="262626"/>
                </a:solidFill>
                <a:latin typeface="Montserrat"/>
              </a:rPr>
              <a:t>, PL/1 и </a:t>
            </a:r>
            <a:r>
              <a:rPr lang="ru-RU" sz="2000" spc="-1" dirty="0" err="1">
                <a:solidFill>
                  <a:srgbClr val="262626"/>
                </a:solidFill>
                <a:latin typeface="Montserrat"/>
              </a:rPr>
              <a:t>Smalltalk</a:t>
            </a:r>
            <a:r>
              <a:rPr lang="ru-RU" sz="2000" spc="-1" dirty="0">
                <a:solidFill>
                  <a:srgbClr val="262626"/>
                </a:solidFill>
                <a:latin typeface="Montserrat"/>
              </a:rPr>
              <a:t>. </a:t>
            </a:r>
          </a:p>
          <a:p>
            <a:pPr algn="just">
              <a:lnSpc>
                <a:spcPct val="100000"/>
              </a:lnSpc>
            </a:pPr>
            <a:r>
              <a:rPr lang="ru-RU" sz="2000" spc="-1" dirty="0">
                <a:solidFill>
                  <a:srgbClr val="262626"/>
                </a:solidFill>
                <a:latin typeface="Montserrat"/>
              </a:rPr>
              <a:t>Для преобразования описания интерфейса на языке IDL на требуемый язык программирования используется специальный компилятор. В дальнейшем построенный с его помощью программный код может быть преобразован любым стандартным компилятором в исполняемый код.</a:t>
            </a:r>
          </a:p>
        </p:txBody>
      </p:sp>
    </p:spTree>
    <p:extLst>
      <p:ext uri="{BB962C8B-B14F-4D97-AF65-F5344CB8AC3E}">
        <p14:creationId xmlns:p14="http://schemas.microsoft.com/office/powerpoint/2010/main" val="4162258073"/>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CORBA</a:t>
            </a:r>
            <a:endParaRPr lang="ru-RU" sz="2000" spc="-1" dirty="0">
              <a:solidFill>
                <a:srgbClr val="004892"/>
              </a:solidFill>
              <a:latin typeface="Montserrat Bold"/>
            </a:endParaRPr>
          </a:p>
        </p:txBody>
      </p:sp>
      <p:pic>
        <p:nvPicPr>
          <p:cNvPr id="8" name="Content Placeholder 4"/>
          <p:cNvPicPr>
            <a:picLocks noChangeAspect="1"/>
          </p:cNvPicPr>
          <p:nvPr/>
        </p:nvPicPr>
        <p:blipFill>
          <a:blip r:embed="rId4"/>
          <a:stretch>
            <a:fillRect/>
          </a:stretch>
        </p:blipFill>
        <p:spPr>
          <a:xfrm>
            <a:off x="3499658" y="2314716"/>
            <a:ext cx="3641045" cy="2727270"/>
          </a:xfrm>
          <a:prstGeom prst="rect">
            <a:avLst/>
          </a:prstGeom>
        </p:spPr>
      </p:pic>
    </p:spTree>
    <p:extLst>
      <p:ext uri="{BB962C8B-B14F-4D97-AF65-F5344CB8AC3E}">
        <p14:creationId xmlns:p14="http://schemas.microsoft.com/office/powerpoint/2010/main" val="370481944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CORBA</a:t>
            </a:r>
            <a:r>
              <a:rPr lang="ru-RU" sz="2000" spc="-1" dirty="0" smtClean="0">
                <a:solidFill>
                  <a:srgbClr val="004892"/>
                </a:solidFill>
                <a:latin typeface="Montserrat Bold"/>
              </a:rPr>
              <a:t>. </a:t>
            </a:r>
            <a:r>
              <a:rPr lang="en-US" sz="2000" spc="-1" dirty="0">
                <a:solidFill>
                  <a:srgbClr val="004892"/>
                </a:solidFill>
                <a:latin typeface="Montserrat Bold"/>
              </a:rPr>
              <a:t>Object Resource Broker</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Для создания экземпляров объектов и вызова их методов используется компонент ORB (</a:t>
            </a:r>
            <a:r>
              <a:rPr lang="ru-RU" sz="2000" spc="-1" dirty="0" err="1">
                <a:solidFill>
                  <a:srgbClr val="262626"/>
                </a:solidFill>
                <a:latin typeface="Montserrat"/>
              </a:rPr>
              <a:t>Object</a:t>
            </a:r>
            <a:r>
              <a:rPr lang="ru-RU" sz="2000" spc="-1" dirty="0">
                <a:solidFill>
                  <a:srgbClr val="262626"/>
                </a:solidFill>
                <a:latin typeface="Montserrat"/>
              </a:rPr>
              <a:t> </a:t>
            </a:r>
            <a:r>
              <a:rPr lang="ru-RU" sz="2000" spc="-1" dirty="0" err="1">
                <a:solidFill>
                  <a:srgbClr val="262626"/>
                </a:solidFill>
                <a:latin typeface="Montserrat"/>
              </a:rPr>
              <a:t>Resource</a:t>
            </a:r>
            <a:r>
              <a:rPr lang="ru-RU" sz="2000" spc="-1" dirty="0">
                <a:solidFill>
                  <a:srgbClr val="262626"/>
                </a:solidFill>
                <a:latin typeface="Montserrat"/>
              </a:rPr>
              <a:t> </a:t>
            </a:r>
            <a:r>
              <a:rPr lang="ru-RU" sz="2000" spc="-1" dirty="0" err="1">
                <a:solidFill>
                  <a:srgbClr val="262626"/>
                </a:solidFill>
                <a:latin typeface="Montserrat"/>
              </a:rPr>
              <a:t>Broker</a:t>
            </a:r>
            <a:r>
              <a:rPr lang="ru-RU" sz="2000" spc="-1" dirty="0">
                <a:solidFill>
                  <a:srgbClr val="262626"/>
                </a:solidFill>
                <a:latin typeface="Montserrat"/>
              </a:rPr>
              <a:t> - брокер ресурсов объектов). Данный компонент формирует «мост» между приложением и инфраструктурой CORBA. ORB поддерживает удаленное взаимодействие с другими ORB, а также обеспечивает управление удаленными объектами, включая учет количества ссылок и времени жизни объекта.</a:t>
            </a:r>
          </a:p>
        </p:txBody>
      </p:sp>
    </p:spTree>
    <p:extLst>
      <p:ext uri="{BB962C8B-B14F-4D97-AF65-F5344CB8AC3E}">
        <p14:creationId xmlns:p14="http://schemas.microsoft.com/office/powerpoint/2010/main" val="3330310664"/>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CORBA</a:t>
            </a:r>
            <a:r>
              <a:rPr lang="ru-RU" sz="2000" spc="-1" dirty="0">
                <a:solidFill>
                  <a:srgbClr val="004892"/>
                </a:solidFill>
                <a:latin typeface="Montserrat Bold"/>
              </a:rPr>
              <a:t>. </a:t>
            </a:r>
            <a:r>
              <a:rPr lang="en-US" sz="2000" spc="-1" dirty="0">
                <a:solidFill>
                  <a:srgbClr val="004892"/>
                </a:solidFill>
                <a:latin typeface="Montserrat Bold"/>
              </a:rPr>
              <a:t>Object Resource Broker</a:t>
            </a:r>
            <a:endParaRPr lang="ru-RU" sz="2000" spc="-1" dirty="0">
              <a:solidFill>
                <a:srgbClr val="004892"/>
              </a:solidFill>
              <a:latin typeface="Montserrat Bold"/>
            </a:endParaRPr>
          </a:p>
        </p:txBody>
      </p:sp>
      <p:sp>
        <p:nvSpPr>
          <p:cNvPr id="9" name="Rounded Rectangle 8"/>
          <p:cNvSpPr/>
          <p:nvPr/>
        </p:nvSpPr>
        <p:spPr>
          <a:xfrm>
            <a:off x="793711" y="1882847"/>
            <a:ext cx="3179771" cy="20948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Прикладные объекты</a:t>
            </a:r>
            <a:endParaRPr lang="en-US" sz="2400" dirty="0"/>
          </a:p>
        </p:txBody>
      </p:sp>
      <p:sp>
        <p:nvSpPr>
          <p:cNvPr id="10" name="Rectangle 9"/>
          <p:cNvSpPr/>
          <p:nvPr/>
        </p:nvSpPr>
        <p:spPr>
          <a:xfrm>
            <a:off x="1138842" y="4212719"/>
            <a:ext cx="8287791" cy="73983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sz="2400" dirty="0"/>
              <a:t>Object Resource Broker</a:t>
            </a:r>
          </a:p>
        </p:txBody>
      </p:sp>
      <p:grpSp>
        <p:nvGrpSpPr>
          <p:cNvPr id="11" name="Group 10"/>
          <p:cNvGrpSpPr/>
          <p:nvPr/>
        </p:nvGrpSpPr>
        <p:grpSpPr>
          <a:xfrm>
            <a:off x="4297678" y="1882847"/>
            <a:ext cx="5361709" cy="2094807"/>
            <a:chOff x="4505497" y="1787236"/>
            <a:chExt cx="5361709" cy="2094807"/>
          </a:xfrm>
        </p:grpSpPr>
        <p:sp>
          <p:nvSpPr>
            <p:cNvPr id="12" name="Rectangle 11"/>
            <p:cNvSpPr/>
            <p:nvPr/>
          </p:nvSpPr>
          <p:spPr>
            <a:xfrm>
              <a:off x="4505497" y="1787236"/>
              <a:ext cx="5361709" cy="209480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t"/>
            <a:lstStyle/>
            <a:p>
              <a:pPr algn="ctr"/>
              <a:endParaRPr lang="en-US" dirty="0"/>
            </a:p>
          </p:txBody>
        </p:sp>
        <p:sp>
          <p:nvSpPr>
            <p:cNvPr id="13" name="Rounded Rectangle 12"/>
            <p:cNvSpPr/>
            <p:nvPr/>
          </p:nvSpPr>
          <p:spPr>
            <a:xfrm>
              <a:off x="4912822" y="1958108"/>
              <a:ext cx="4621877" cy="7232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ru-RU" sz="2400" dirty="0"/>
                <a:t>Общие средства</a:t>
              </a:r>
            </a:p>
          </p:txBody>
        </p:sp>
        <p:sp>
          <p:nvSpPr>
            <p:cNvPr id="14" name="Rounded Rectangle 13"/>
            <p:cNvSpPr/>
            <p:nvPr/>
          </p:nvSpPr>
          <p:spPr>
            <a:xfrm>
              <a:off x="5041727" y="2435166"/>
              <a:ext cx="2078124" cy="9975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sz="2400" dirty="0" smtClean="0"/>
                <a:t>Отраслевой интерфейс</a:t>
              </a:r>
              <a:endParaRPr lang="en-US" sz="2400" dirty="0"/>
            </a:p>
          </p:txBody>
        </p:sp>
        <p:sp>
          <p:nvSpPr>
            <p:cNvPr id="15" name="Rounded Rectangle 14"/>
            <p:cNvSpPr/>
            <p:nvPr/>
          </p:nvSpPr>
          <p:spPr>
            <a:xfrm>
              <a:off x="7360921" y="2435166"/>
              <a:ext cx="2078124" cy="997528"/>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ru-RU" sz="2400" dirty="0" smtClean="0"/>
                <a:t>Отраслевой интерфейс</a:t>
              </a:r>
              <a:endParaRPr lang="en-US" sz="2400" dirty="0"/>
            </a:p>
          </p:txBody>
        </p:sp>
      </p:grpSp>
      <p:sp>
        <p:nvSpPr>
          <p:cNvPr id="16" name="Right Arrow 15"/>
          <p:cNvSpPr/>
          <p:nvPr/>
        </p:nvSpPr>
        <p:spPr>
          <a:xfrm>
            <a:off x="9659387" y="4279222"/>
            <a:ext cx="906088" cy="593437"/>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Right Arrow 16"/>
          <p:cNvSpPr/>
          <p:nvPr/>
        </p:nvSpPr>
        <p:spPr>
          <a:xfrm flipH="1">
            <a:off x="0" y="4279221"/>
            <a:ext cx="906088" cy="593437"/>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ounded Rectangle 17"/>
          <p:cNvSpPr/>
          <p:nvPr/>
        </p:nvSpPr>
        <p:spPr>
          <a:xfrm>
            <a:off x="689955" y="5254119"/>
            <a:ext cx="9052560" cy="11970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400" dirty="0" smtClean="0"/>
              <a:t>Стандартные сервисы </a:t>
            </a:r>
          </a:p>
          <a:p>
            <a:pPr algn="ctr"/>
            <a:r>
              <a:rPr lang="ru-RU" sz="2400" dirty="0" smtClean="0"/>
              <a:t>(инфраструктура </a:t>
            </a:r>
            <a:r>
              <a:rPr lang="ru-RU" sz="2400" dirty="0"/>
              <a:t>CORBA</a:t>
            </a:r>
            <a:r>
              <a:rPr lang="ru-RU" sz="2400" dirty="0" smtClean="0"/>
              <a:t>)</a:t>
            </a:r>
            <a:endParaRPr lang="en-US" sz="2400" dirty="0"/>
          </a:p>
        </p:txBody>
      </p:sp>
    </p:spTree>
    <p:extLst>
      <p:ext uri="{BB962C8B-B14F-4D97-AF65-F5344CB8AC3E}">
        <p14:creationId xmlns:p14="http://schemas.microsoft.com/office/powerpoint/2010/main" val="4189607880"/>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CORBA</a:t>
            </a:r>
            <a:r>
              <a:rPr lang="ru-RU" sz="2000" spc="-1" dirty="0" smtClean="0">
                <a:solidFill>
                  <a:srgbClr val="004892"/>
                </a:solidFill>
                <a:latin typeface="Montserrat Bold"/>
              </a:rPr>
              <a:t>. </a:t>
            </a:r>
            <a:r>
              <a:rPr lang="en-US" sz="2000" spc="-1" dirty="0">
                <a:solidFill>
                  <a:srgbClr val="004892"/>
                </a:solidFill>
                <a:latin typeface="Montserrat Bold"/>
              </a:rPr>
              <a:t>General Inter-ORB Protocol </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Для обеспечения взаимодействия между ORB используется протокол GIOP (</a:t>
            </a:r>
            <a:r>
              <a:rPr lang="ru-RU" sz="2000" spc="-1" dirty="0" err="1">
                <a:solidFill>
                  <a:srgbClr val="262626"/>
                </a:solidFill>
                <a:latin typeface="Montserrat"/>
              </a:rPr>
              <a:t>General</a:t>
            </a:r>
            <a:r>
              <a:rPr lang="ru-RU" sz="2000" spc="-1" dirty="0">
                <a:solidFill>
                  <a:srgbClr val="262626"/>
                </a:solidFill>
                <a:latin typeface="Montserrat"/>
              </a:rPr>
              <a:t> </a:t>
            </a:r>
            <a:r>
              <a:rPr lang="ru-RU" sz="2000" spc="-1" dirty="0" err="1">
                <a:solidFill>
                  <a:srgbClr val="262626"/>
                </a:solidFill>
                <a:latin typeface="Montserrat"/>
              </a:rPr>
              <a:t>Inter</a:t>
            </a:r>
            <a:r>
              <a:rPr lang="ru-RU" sz="2000" spc="-1" dirty="0">
                <a:solidFill>
                  <a:srgbClr val="262626"/>
                </a:solidFill>
                <a:latin typeface="Montserrat"/>
              </a:rPr>
              <a:t>-ORB </a:t>
            </a:r>
            <a:r>
              <a:rPr lang="ru-RU" sz="2000" spc="-1" dirty="0" err="1">
                <a:solidFill>
                  <a:srgbClr val="262626"/>
                </a:solidFill>
                <a:latin typeface="Montserrat"/>
              </a:rPr>
              <a:t>Protocol</a:t>
            </a:r>
            <a:r>
              <a:rPr lang="ru-RU" sz="2000" spc="-1" dirty="0">
                <a:solidFill>
                  <a:srgbClr val="262626"/>
                </a:solidFill>
                <a:latin typeface="Montserrat"/>
              </a:rPr>
              <a:t> - общий протокол для коммуникации между ORB). Наиболее распространенной реализацией данного протокола является протокол IIOP (</a:t>
            </a:r>
            <a:r>
              <a:rPr lang="ru-RU" sz="2000" spc="-1" dirty="0" err="1">
                <a:solidFill>
                  <a:srgbClr val="262626"/>
                </a:solidFill>
                <a:latin typeface="Montserrat"/>
              </a:rPr>
              <a:t>Internet</a:t>
            </a:r>
            <a:r>
              <a:rPr lang="ru-RU" sz="2000" spc="-1" dirty="0">
                <a:solidFill>
                  <a:srgbClr val="262626"/>
                </a:solidFill>
                <a:latin typeface="Montserrat"/>
              </a:rPr>
              <a:t> </a:t>
            </a:r>
            <a:r>
              <a:rPr lang="ru-RU" sz="2000" spc="-1" dirty="0" err="1">
                <a:solidFill>
                  <a:srgbClr val="262626"/>
                </a:solidFill>
                <a:latin typeface="Montserrat"/>
              </a:rPr>
              <a:t>Inter</a:t>
            </a:r>
            <a:r>
              <a:rPr lang="ru-RU" sz="2000" spc="-1" dirty="0">
                <a:solidFill>
                  <a:srgbClr val="262626"/>
                </a:solidFill>
                <a:latin typeface="Montserrat"/>
              </a:rPr>
              <a:t>-ORB </a:t>
            </a:r>
            <a:r>
              <a:rPr lang="ru-RU" sz="2000" spc="-1" dirty="0" err="1">
                <a:solidFill>
                  <a:srgbClr val="262626"/>
                </a:solidFill>
                <a:latin typeface="Montserrat"/>
              </a:rPr>
              <a:t>Protocol</a:t>
            </a:r>
            <a:r>
              <a:rPr lang="ru-RU" sz="2000" spc="-1" dirty="0">
                <a:solidFill>
                  <a:srgbClr val="262626"/>
                </a:solidFill>
                <a:latin typeface="Montserrat"/>
              </a:rPr>
              <a:t> – протокол взаимодействия ORB в сети интернет), обеспечивающий отображение сообщений GIOP на стек протоколов TCP/IP.</a:t>
            </a:r>
          </a:p>
        </p:txBody>
      </p:sp>
    </p:spTree>
    <p:extLst>
      <p:ext uri="{BB962C8B-B14F-4D97-AF65-F5344CB8AC3E}">
        <p14:creationId xmlns:p14="http://schemas.microsoft.com/office/powerpoint/2010/main" val="322331481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CORBA</a:t>
            </a:r>
            <a:r>
              <a:rPr lang="ru-RU" sz="2000" spc="-1" dirty="0">
                <a:solidFill>
                  <a:srgbClr val="004892"/>
                </a:solidFill>
                <a:latin typeface="Montserrat Bold"/>
              </a:rPr>
              <a:t>. Разработка приложения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Процесс разработки приложения с использованием технологии CORBA состоит из следующих этапов:</a:t>
            </a:r>
          </a:p>
          <a:p>
            <a:pPr marL="457200" indent="-457200" algn="just">
              <a:lnSpc>
                <a:spcPct val="100000"/>
              </a:lnSpc>
              <a:buFont typeface="+mj-lt"/>
              <a:buAutoNum type="arabicPeriod"/>
            </a:pPr>
            <a:r>
              <a:rPr lang="ru-RU" sz="2000" spc="-1" dirty="0" smtClean="0">
                <a:solidFill>
                  <a:srgbClr val="262626"/>
                </a:solidFill>
                <a:latin typeface="Montserrat"/>
              </a:rPr>
              <a:t>Определение </a:t>
            </a:r>
            <a:r>
              <a:rPr lang="ru-RU" sz="2000" spc="-1" dirty="0">
                <a:solidFill>
                  <a:srgbClr val="262626"/>
                </a:solidFill>
                <a:latin typeface="Montserrat"/>
              </a:rPr>
              <a:t>интерфейса на IDL.</a:t>
            </a:r>
          </a:p>
          <a:p>
            <a:pPr marL="457200" indent="-457200" algn="just">
              <a:lnSpc>
                <a:spcPct val="100000"/>
              </a:lnSpc>
              <a:buFont typeface="+mj-lt"/>
              <a:buAutoNum type="arabicPeriod"/>
            </a:pPr>
            <a:r>
              <a:rPr lang="ru-RU" sz="2000" spc="-1" dirty="0" smtClean="0">
                <a:solidFill>
                  <a:srgbClr val="262626"/>
                </a:solidFill>
                <a:latin typeface="Montserrat"/>
              </a:rPr>
              <a:t>Обработка </a:t>
            </a:r>
            <a:r>
              <a:rPr lang="ru-RU" sz="2000" spc="-1" dirty="0">
                <a:solidFill>
                  <a:srgbClr val="262626"/>
                </a:solidFill>
                <a:latin typeface="Montserrat"/>
              </a:rPr>
              <a:t>IDL для создания кода заглушки и скелетона.</a:t>
            </a:r>
          </a:p>
          <a:p>
            <a:pPr marL="457200" indent="-457200" algn="just">
              <a:lnSpc>
                <a:spcPct val="100000"/>
              </a:lnSpc>
              <a:buFont typeface="+mj-lt"/>
              <a:buAutoNum type="arabicPeriod"/>
            </a:pPr>
            <a:r>
              <a:rPr lang="ru-RU" sz="2000" spc="-1" dirty="0" smtClean="0">
                <a:solidFill>
                  <a:srgbClr val="262626"/>
                </a:solidFill>
                <a:latin typeface="Montserrat"/>
              </a:rPr>
              <a:t>Создание </a:t>
            </a:r>
            <a:r>
              <a:rPr lang="ru-RU" sz="2000" spc="-1" dirty="0">
                <a:solidFill>
                  <a:srgbClr val="262626"/>
                </a:solidFill>
                <a:latin typeface="Montserrat"/>
              </a:rPr>
              <a:t>кода реализации объекта (сервер).</a:t>
            </a:r>
          </a:p>
          <a:p>
            <a:pPr marL="457200" indent="-457200" algn="just">
              <a:lnSpc>
                <a:spcPct val="100000"/>
              </a:lnSpc>
              <a:buFont typeface="+mj-lt"/>
              <a:buAutoNum type="arabicPeriod"/>
            </a:pPr>
            <a:r>
              <a:rPr lang="ru-RU" sz="2000" spc="-1" dirty="0" smtClean="0">
                <a:solidFill>
                  <a:srgbClr val="262626"/>
                </a:solidFill>
                <a:latin typeface="Montserrat"/>
              </a:rPr>
              <a:t>Создание </a:t>
            </a:r>
            <a:r>
              <a:rPr lang="ru-RU" sz="2000" spc="-1" dirty="0">
                <a:solidFill>
                  <a:srgbClr val="262626"/>
                </a:solidFill>
                <a:latin typeface="Montserrat"/>
              </a:rPr>
              <a:t>кода использования данного объекта (клиент</a:t>
            </a:r>
            <a:r>
              <a:rPr lang="ru-RU" sz="2000" spc="-1" dirty="0" smtClean="0">
                <a:solidFill>
                  <a:srgbClr val="262626"/>
                </a:solidFill>
                <a:latin typeface="Montserrat"/>
              </a:rPr>
              <a:t>)</a:t>
            </a:r>
          </a:p>
        </p:txBody>
      </p:sp>
    </p:spTree>
    <p:extLst>
      <p:ext uri="{BB962C8B-B14F-4D97-AF65-F5344CB8AC3E}">
        <p14:creationId xmlns:p14="http://schemas.microsoft.com/office/powerpoint/2010/main" val="295209420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CORBA</a:t>
            </a:r>
            <a:r>
              <a:rPr lang="ru-RU" sz="2000" spc="-1" dirty="0">
                <a:solidFill>
                  <a:srgbClr val="004892"/>
                </a:solidFill>
                <a:latin typeface="Montserrat Bold"/>
              </a:rPr>
              <a:t>. Разработка приложения</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Язык определения IDL позволяет независимо от используемого языка программирования создать универсальное описание интерфейса будущей системы.</a:t>
            </a:r>
          </a:p>
          <a:p>
            <a:pPr algn="just">
              <a:lnSpc>
                <a:spcPct val="100000"/>
              </a:lnSpc>
            </a:pPr>
            <a:r>
              <a:rPr lang="ru-RU" sz="2000" spc="-1" dirty="0">
                <a:solidFill>
                  <a:srgbClr val="262626"/>
                </a:solidFill>
                <a:latin typeface="Montserrat"/>
              </a:rPr>
              <a:t>Созданный на IDL код должен специальным компилятором преобразовываться в код интерфейса объекта на требуемом языке программирования.</a:t>
            </a:r>
          </a:p>
          <a:p>
            <a:pPr algn="just">
              <a:lnSpc>
                <a:spcPct val="100000"/>
              </a:lnSpc>
            </a:pPr>
            <a:r>
              <a:rPr lang="ru-RU" sz="2000" spc="-1" dirty="0" smtClean="0">
                <a:solidFill>
                  <a:srgbClr val="262626"/>
                </a:solidFill>
                <a:latin typeface="Montserrat"/>
              </a:rPr>
              <a:t>После </a:t>
            </a:r>
            <a:r>
              <a:rPr lang="ru-RU" sz="2000" spc="-1" dirty="0">
                <a:solidFill>
                  <a:srgbClr val="262626"/>
                </a:solidFill>
                <a:latin typeface="Montserrat"/>
              </a:rPr>
              <a:t>чего, на клиенте автоматически генерируется заглушка, преобразующая вызовы методы данного интерфейса в обращения к ORB. </a:t>
            </a:r>
          </a:p>
          <a:p>
            <a:pPr algn="just">
              <a:lnSpc>
                <a:spcPct val="100000"/>
              </a:lnSpc>
            </a:pPr>
            <a:r>
              <a:rPr lang="ru-RU" sz="2000" spc="-1" dirty="0">
                <a:solidFill>
                  <a:srgbClr val="262626"/>
                </a:solidFill>
                <a:latin typeface="Montserrat"/>
              </a:rPr>
              <a:t>На сервере программист на основе сгенерированного интерфейса создает собственную реализацию данного класса. </a:t>
            </a:r>
          </a:p>
          <a:p>
            <a:pPr algn="just">
              <a:lnSpc>
                <a:spcPct val="100000"/>
              </a:lnSpc>
            </a:pPr>
            <a:r>
              <a:rPr lang="ru-RU" sz="2000" spc="-1" dirty="0">
                <a:solidFill>
                  <a:srgbClr val="262626"/>
                </a:solidFill>
                <a:latin typeface="Montserrat"/>
              </a:rPr>
              <a:t>Скелетон автоматизирует получение и обработку удаленного вызова методов, поступающих через ORB.</a:t>
            </a:r>
          </a:p>
        </p:txBody>
      </p:sp>
    </p:spTree>
    <p:extLst>
      <p:ext uri="{BB962C8B-B14F-4D97-AF65-F5344CB8AC3E}">
        <p14:creationId xmlns:p14="http://schemas.microsoft.com/office/powerpoint/2010/main" val="58217198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CORBA</a:t>
            </a:r>
            <a:r>
              <a:rPr lang="ru-RU" sz="2000" spc="-1" dirty="0">
                <a:solidFill>
                  <a:srgbClr val="004892"/>
                </a:solidFill>
                <a:latin typeface="Montserrat Bold"/>
              </a:rPr>
              <a:t>. </a:t>
            </a:r>
            <a:r>
              <a:rPr lang="ru-RU" sz="2000" spc="-1" dirty="0" smtClean="0">
                <a:solidFill>
                  <a:srgbClr val="004892"/>
                </a:solidFill>
                <a:latin typeface="Montserrat Bold"/>
              </a:rPr>
              <a:t>Заключение</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Недостатки</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плохая совместимость различных реализаций технологии CORBA от различных поставщиков;</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проблемы взаимодействия узлов CORBA через Интернет;</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несогласованность многих архитектурных решений CORBA и отсутствие компонентной модели, которая могла бы значительно упростить </a:t>
            </a:r>
            <a:r>
              <a:rPr lang="ru-RU" sz="2000" spc="-1" dirty="0" smtClean="0">
                <a:solidFill>
                  <a:srgbClr val="262626"/>
                </a:solidFill>
                <a:latin typeface="Montserrat"/>
              </a:rPr>
              <a:t>разработку.</a:t>
            </a:r>
            <a:endParaRPr lang="ru-RU" sz="2000" spc="-1" dirty="0">
              <a:solidFill>
                <a:srgbClr val="262626"/>
              </a:solidFill>
              <a:latin typeface="Montserrat"/>
            </a:endParaRPr>
          </a:p>
          <a:p>
            <a:pPr algn="just">
              <a:lnSpc>
                <a:spcPct val="100000"/>
              </a:lnSpc>
            </a:pPr>
            <a:r>
              <a:rPr lang="ru-RU" sz="2000" spc="-1" dirty="0" smtClean="0">
                <a:solidFill>
                  <a:srgbClr val="262626"/>
                </a:solidFill>
                <a:latin typeface="Montserrat"/>
              </a:rPr>
              <a:t>*разработка </a:t>
            </a:r>
            <a:r>
              <a:rPr lang="ru-RU" sz="2000" spc="-1" dirty="0">
                <a:solidFill>
                  <a:srgbClr val="262626"/>
                </a:solidFill>
                <a:latin typeface="Montserrat"/>
              </a:rPr>
              <a:t>крупномасштабных меж-организационных систем</a:t>
            </a:r>
          </a:p>
          <a:p>
            <a:pPr algn="just">
              <a:lnSpc>
                <a:spcPct val="100000"/>
              </a:lnSpc>
            </a:pPr>
            <a:endParaRPr lang="ru-RU" sz="2000" spc="-1" dirty="0" smtClean="0">
              <a:solidFill>
                <a:srgbClr val="262626"/>
              </a:solidFill>
              <a:latin typeface="Montserrat"/>
            </a:endParaRPr>
          </a:p>
          <a:p>
            <a:pPr algn="just">
              <a:lnSpc>
                <a:spcPct val="100000"/>
              </a:lnSpc>
            </a:pPr>
            <a:r>
              <a:rPr lang="ru-RU" sz="2000" spc="-1" dirty="0">
                <a:solidFill>
                  <a:srgbClr val="262626"/>
                </a:solidFill>
                <a:latin typeface="Montserrat"/>
              </a:rPr>
              <a:t>На смену технологии CORBA, пришли стандартизованные протоколы веб-сервисов, такие как XML, WSDL, SOAP и др. В настоящее время CORBA используется для реализации узкого круга приложений и является фактически </a:t>
            </a:r>
            <a:r>
              <a:rPr lang="ru-RU" sz="2000" spc="-1" dirty="0" err="1">
                <a:solidFill>
                  <a:srgbClr val="262626"/>
                </a:solidFill>
                <a:latin typeface="Montserrat"/>
              </a:rPr>
              <a:t>нишевой</a:t>
            </a:r>
            <a:r>
              <a:rPr lang="ru-RU" sz="2000" spc="-1" dirty="0">
                <a:solidFill>
                  <a:srgbClr val="262626"/>
                </a:solidFill>
                <a:latin typeface="Montserrat"/>
              </a:rPr>
              <a:t> </a:t>
            </a:r>
            <a:r>
              <a:rPr lang="ru-RU" sz="2000" spc="-1" dirty="0" smtClean="0">
                <a:solidFill>
                  <a:srgbClr val="262626"/>
                </a:solidFill>
                <a:latin typeface="Montserrat"/>
              </a:rPr>
              <a:t>технологией.</a:t>
            </a:r>
            <a:endParaRPr lang="ru-RU" sz="2000" spc="-1" dirty="0">
              <a:solidFill>
                <a:srgbClr val="262626"/>
              </a:solidFill>
              <a:latin typeface="Montserrat"/>
            </a:endParaRPr>
          </a:p>
        </p:txBody>
      </p:sp>
    </p:spTree>
    <p:extLst>
      <p:ext uri="{BB962C8B-B14F-4D97-AF65-F5344CB8AC3E}">
        <p14:creationId xmlns:p14="http://schemas.microsoft.com/office/powerpoint/2010/main" val="213149591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COM</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Несмотря на свое удобство и эффективность, DLL имеют один серьезный недостаток: они зависят от конкретного языка программирования. Другими словами, DLL, компилированная из исходного кода С, может использоваться только из клиентской программы, которая также была написана на С. (Существуют исключения из этого правила, но такие исключения требуют от программиста специальных усилий</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COM была следующим шагом в эволюции повторного использования кода. С ее помощью программисты могли написать библиотеку классов на таком языке, как C++, откомпилировать библиотеку и использовать классы этой библиотеки из другого совместимого с COM языка программирования, такого как </a:t>
            </a:r>
            <a:r>
              <a:rPr lang="ru-RU" sz="2000" spc="-1" dirty="0" err="1">
                <a:solidFill>
                  <a:srgbClr val="262626"/>
                </a:solidFill>
                <a:latin typeface="Montserrat"/>
              </a:rPr>
              <a:t>Java</a:t>
            </a:r>
            <a:r>
              <a:rPr lang="ru-RU" sz="2000" spc="-1" dirty="0">
                <a:solidFill>
                  <a:srgbClr val="262626"/>
                </a:solidFill>
                <a:latin typeface="Montserrat"/>
              </a:rPr>
              <a:t> или C#. COM был технологией, лежащей в основе других технологий, таких как OLE (Связывание и встраивание объектов) и элементов управления </a:t>
            </a:r>
            <a:r>
              <a:rPr lang="ru-RU" sz="2000" spc="-1" dirty="0" err="1">
                <a:solidFill>
                  <a:srgbClr val="262626"/>
                </a:solidFill>
                <a:latin typeface="Montserrat"/>
              </a:rPr>
              <a:t>ActiveX</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3193999749"/>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COM</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COM устанавливает стандарты для интерфейсов, с помощью которых клиентский код общается с массами компонентов. Так как клиентский код общается с классами компонентов </a:t>
            </a:r>
            <a:r>
              <a:rPr lang="ru-RU" sz="2000" b="1" spc="-1" dirty="0" smtClean="0">
                <a:solidFill>
                  <a:srgbClr val="262626"/>
                </a:solidFill>
                <a:latin typeface="Montserrat"/>
              </a:rPr>
              <a:t>только</a:t>
            </a:r>
            <a:r>
              <a:rPr lang="ru-RU" sz="2000" spc="-1" dirty="0" smtClean="0">
                <a:solidFill>
                  <a:srgbClr val="262626"/>
                </a:solidFill>
                <a:latin typeface="Montserrat"/>
              </a:rPr>
              <a:t> через эти стандартизованные интерфейсы, он может оставаться полностью </a:t>
            </a:r>
            <a:r>
              <a:rPr lang="ru-RU" sz="2000" b="1" spc="-1" dirty="0" smtClean="0">
                <a:solidFill>
                  <a:srgbClr val="262626"/>
                </a:solidFill>
                <a:latin typeface="Montserrat"/>
              </a:rPr>
              <a:t>несведущим</a:t>
            </a:r>
            <a:r>
              <a:rPr lang="ru-RU" sz="2000" spc="-1" dirty="0" smtClean="0">
                <a:solidFill>
                  <a:srgbClr val="262626"/>
                </a:solidFill>
                <a:latin typeface="Montserrat"/>
              </a:rPr>
              <a:t> о деталях, специфических для языка программирования, то есть о том, как реализованы эти классы компонентов. Например, используя интерфейсы COM в качестве промежуточных, клиент C# может ссылаться на компоненты COM, первоначально закодированные на C++.</a:t>
            </a:r>
          </a:p>
          <a:p>
            <a:pPr algn="just">
              <a:lnSpc>
                <a:spcPct val="100000"/>
              </a:lnSpc>
            </a:pPr>
            <a:r>
              <a:rPr lang="ru-RU" sz="2000" spc="-1" dirty="0" smtClean="0">
                <a:solidFill>
                  <a:srgbClr val="262626"/>
                </a:solidFill>
                <a:latin typeface="Montserrat"/>
              </a:rPr>
              <a:t>Интерфейсы </a:t>
            </a:r>
            <a:r>
              <a:rPr lang="ru-RU" sz="2000" spc="-1" dirty="0">
                <a:solidFill>
                  <a:srgbClr val="262626"/>
                </a:solidFill>
                <a:latin typeface="Montserrat"/>
              </a:rPr>
              <a:t>COM предоставляют другие возможности в дополнение к межъязыковой коммуникации. Интерфейс COM </a:t>
            </a:r>
            <a:r>
              <a:rPr lang="ru-RU" sz="2000" b="1" spc="-1" dirty="0" err="1">
                <a:solidFill>
                  <a:srgbClr val="262626"/>
                </a:solidFill>
                <a:latin typeface="Montserrat"/>
              </a:rPr>
              <a:t>IUnknown</a:t>
            </a:r>
            <a:r>
              <a:rPr lang="ru-RU" sz="2000" spc="-1" dirty="0">
                <a:solidFill>
                  <a:srgbClr val="262626"/>
                </a:solidFill>
                <a:latin typeface="Montserrat"/>
              </a:rPr>
              <a:t>, например, позволяет объекту COM подсчитать число клиентов, которые на него ссылаются, и </a:t>
            </a:r>
            <a:r>
              <a:rPr lang="ru-RU" sz="2000" b="1" spc="-1" dirty="0">
                <a:solidFill>
                  <a:srgbClr val="262626"/>
                </a:solidFill>
                <a:latin typeface="Montserrat"/>
              </a:rPr>
              <a:t>автоматически выгрузить себя из памяти</a:t>
            </a:r>
            <a:r>
              <a:rPr lang="ru-RU" sz="2000" spc="-1" dirty="0">
                <a:solidFill>
                  <a:srgbClr val="262626"/>
                </a:solidFill>
                <a:latin typeface="Montserrat"/>
              </a:rPr>
              <a:t>, когда этот счетчик уменьшится до нуля. Более того, реализуя интерфейсы, распознаваемые службами COM+, класс COM может воспользоваться написанной ранее функциональностью для безопасности, организации пула объектов, и сохранения объектов</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235056842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COM</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Каждый класс COM и каждый интерфейс, который он поддерживает, имеет 128-битный идентификатор, который гарантированно является уникальным во все времена и во всех местах. Эти </a:t>
            </a:r>
            <a:r>
              <a:rPr lang="ru-RU" sz="2000" b="1" spc="-1" dirty="0">
                <a:solidFill>
                  <a:srgbClr val="262626"/>
                </a:solidFill>
                <a:latin typeface="Montserrat"/>
              </a:rPr>
              <a:t>глобально уникальные идентификаторы</a:t>
            </a:r>
            <a:r>
              <a:rPr lang="ru-RU" sz="2000" spc="-1" dirty="0">
                <a:solidFill>
                  <a:srgbClr val="262626"/>
                </a:solidFill>
                <a:latin typeface="Montserrat"/>
              </a:rPr>
              <a:t>, или GUID, централизованно хранятся в реестре машины, и поддерживающие COM языки имеют средства для получения значения GUID компонента COM и использования его для вызова функциональности компонента.</a:t>
            </a:r>
          </a:p>
        </p:txBody>
      </p:sp>
    </p:spTree>
    <p:extLst>
      <p:ext uri="{BB962C8B-B14F-4D97-AF65-F5344CB8AC3E}">
        <p14:creationId xmlns:p14="http://schemas.microsoft.com/office/powerpoint/2010/main" val="3968998417"/>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COM</a:t>
            </a:r>
            <a:r>
              <a:rPr lang="ru-RU" sz="2000" spc="-1" dirty="0" smtClean="0">
                <a:solidFill>
                  <a:srgbClr val="004892"/>
                </a:solidFill>
                <a:latin typeface="Montserrat Bold"/>
              </a:rPr>
              <a:t>. Недостатки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компоненты COM могут быть трудными для кодирования. В C++ разработка компонента COM включает реализацию стандартных интерфейсов COM и использование GUIDGEN.EXE для того, чтобы генерировать GUID для каждого класса и каждого интерфейса. (Хотя технологии, подобные VB и ATL </a:t>
            </a:r>
            <a:r>
              <a:rPr lang="ru-RU" sz="2000" spc="-1" dirty="0" err="1">
                <a:solidFill>
                  <a:srgbClr val="262626"/>
                </a:solidFill>
                <a:latin typeface="Montserrat"/>
              </a:rPr>
              <a:t>Object</a:t>
            </a:r>
            <a:r>
              <a:rPr lang="ru-RU" sz="2000" spc="-1" dirty="0">
                <a:solidFill>
                  <a:srgbClr val="262626"/>
                </a:solidFill>
                <a:latin typeface="Montserrat"/>
              </a:rPr>
              <a:t> </a:t>
            </a:r>
            <a:r>
              <a:rPr lang="ru-RU" sz="2000" spc="-1" dirty="0" err="1">
                <a:solidFill>
                  <a:srgbClr val="262626"/>
                </a:solidFill>
                <a:latin typeface="Montserrat"/>
              </a:rPr>
              <a:t>Wizard</a:t>
            </a:r>
            <a:r>
              <a:rPr lang="ru-RU" sz="2000" spc="-1" dirty="0">
                <a:solidFill>
                  <a:srgbClr val="262626"/>
                </a:solidFill>
                <a:latin typeface="Montserrat"/>
              </a:rPr>
              <a:t> упрощают процесс создания COM, они обеспечивают только подмножество свойств COM</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компоненты COM могут оказаться трудными для развертывания. Разработчики COM серверных компонентов предполагали обеспечить совместимость новых версий компонентов с более старыми, но не всегда это удавалось, поэтому установка нового приложения, которое ссылается на новую версию компонента COM, может внезапно дать отказ существующих приложений</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418126539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smtClean="0">
                <a:solidFill>
                  <a:srgbClr val="004892"/>
                </a:solidFill>
                <a:latin typeface="Montserrat Bold"/>
              </a:rPr>
              <a:t>COM</a:t>
            </a:r>
            <a:r>
              <a:rPr lang="ru-RU" sz="2000" spc="-1" dirty="0">
                <a:solidFill>
                  <a:srgbClr val="004892"/>
                </a:solidFill>
                <a:latin typeface="Montserrat Bold"/>
              </a:rPr>
              <a:t>. Взаимодействие</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Суть организации взаимодействий с COM-объектами та же, что и при использовании механизма P/</a:t>
            </a:r>
            <a:r>
              <a:rPr lang="ru-RU" sz="2000" spc="-1" dirty="0" err="1">
                <a:solidFill>
                  <a:srgbClr val="262626"/>
                </a:solidFill>
                <a:latin typeface="Montserrat"/>
              </a:rPr>
              <a:t>Invoke</a:t>
            </a:r>
            <a:r>
              <a:rPr lang="ru-RU" sz="2000" spc="-1" dirty="0">
                <a:solidFill>
                  <a:srgbClr val="262626"/>
                </a:solidFill>
                <a:latin typeface="Montserrat"/>
              </a:rPr>
              <a:t>: вы объявляете управляемое представление COM-объекта, а среда выполнения CLR создает объект-обертку, реализующий </a:t>
            </a:r>
            <a:r>
              <a:rPr lang="ru-RU" sz="2000" spc="-1" dirty="0" err="1">
                <a:solidFill>
                  <a:srgbClr val="262626"/>
                </a:solidFill>
                <a:latin typeface="Montserrat"/>
              </a:rPr>
              <a:t>маршалинг</a:t>
            </a:r>
            <a:r>
              <a:rPr lang="ru-RU" sz="2000" spc="-1" dirty="0">
                <a:solidFill>
                  <a:srgbClr val="262626"/>
                </a:solidFill>
                <a:latin typeface="Montserrat"/>
              </a:rPr>
              <a:t> (процесс преобразования типов при переходе от управляемого кода к машинному</a:t>
            </a:r>
            <a:r>
              <a:rPr lang="ru-RU" sz="2000" spc="-1" dirty="0" smtClean="0">
                <a:solidFill>
                  <a:srgbClr val="262626"/>
                </a:solidFill>
                <a:latin typeface="Montserrat"/>
              </a:rPr>
              <a:t>).</a:t>
            </a:r>
          </a:p>
          <a:p>
            <a:pPr algn="just">
              <a:lnSpc>
                <a:spcPct val="100000"/>
              </a:lnSpc>
            </a:pPr>
            <a:r>
              <a:rPr lang="ru-RU" sz="2000" spc="-1" dirty="0" smtClean="0">
                <a:solidFill>
                  <a:srgbClr val="262626"/>
                </a:solidFill>
                <a:latin typeface="Montserrat"/>
              </a:rPr>
              <a:t>Существует </a:t>
            </a:r>
            <a:r>
              <a:rPr lang="ru-RU" sz="2000" spc="-1" dirty="0">
                <a:solidFill>
                  <a:srgbClr val="262626"/>
                </a:solidFill>
                <a:latin typeface="Montserrat"/>
              </a:rPr>
              <a:t>две разновидности </a:t>
            </a:r>
            <a:r>
              <a:rPr lang="ru-RU" sz="2000" spc="-1" dirty="0" smtClean="0">
                <a:solidFill>
                  <a:srgbClr val="262626"/>
                </a:solidFill>
                <a:latin typeface="Montserrat"/>
              </a:rPr>
              <a:t>оберток</a:t>
            </a:r>
            <a:r>
              <a:rPr lang="ru-RU" sz="2000" spc="-1" dirty="0">
                <a:solidFill>
                  <a:srgbClr val="262626"/>
                </a:solidFill>
                <a:latin typeface="Montserrat"/>
              </a:rPr>
              <a:t>:</a:t>
            </a:r>
            <a:endParaRPr lang="ru-RU" sz="2000" spc="-1" dirty="0" smtClean="0">
              <a:solidFill>
                <a:srgbClr val="262626"/>
              </a:solidFill>
              <a:latin typeface="Montserrat"/>
            </a:endParaRPr>
          </a:p>
          <a:p>
            <a:pPr marL="342900" indent="-342900" algn="just">
              <a:buFont typeface="Wingdings" panose="05000000000000000000" pitchFamily="2" charset="2"/>
              <a:buChar char="§"/>
            </a:pPr>
            <a:r>
              <a:rPr lang="ru-RU" sz="2000" dirty="0" err="1" smtClean="0"/>
              <a:t>Runtime</a:t>
            </a:r>
            <a:r>
              <a:rPr lang="ru-RU" sz="2000" dirty="0" smtClean="0"/>
              <a:t> </a:t>
            </a:r>
            <a:r>
              <a:rPr lang="ru-RU" sz="2000" dirty="0" err="1"/>
              <a:t>Callable</a:t>
            </a:r>
            <a:r>
              <a:rPr lang="ru-RU" sz="2000" dirty="0"/>
              <a:t> </a:t>
            </a:r>
            <a:r>
              <a:rPr lang="ru-RU" sz="2000" dirty="0" err="1" smtClean="0"/>
              <a:t>Wrapper</a:t>
            </a:r>
            <a:r>
              <a:rPr lang="ru-RU" sz="2000" dirty="0" smtClean="0"/>
              <a:t> (RCW) – обертка</a:t>
            </a:r>
            <a:r>
              <a:rPr lang="ru-RU" sz="2000" dirty="0"/>
              <a:t>, вызываемая средой </a:t>
            </a:r>
            <a:r>
              <a:rPr lang="ru-RU" sz="2000" dirty="0" smtClean="0"/>
              <a:t>выполнения, </a:t>
            </a:r>
            <a:r>
              <a:rPr lang="ru-RU" sz="2000" dirty="0"/>
              <a:t>которая позволяет управляемому коду использовать </a:t>
            </a:r>
            <a:r>
              <a:rPr lang="ru-RU" sz="2000" dirty="0" smtClean="0"/>
              <a:t>COM-объекты.</a:t>
            </a:r>
          </a:p>
          <a:p>
            <a:pPr marL="342900" indent="-342900" algn="just">
              <a:buFont typeface="Wingdings" panose="05000000000000000000" pitchFamily="2" charset="2"/>
              <a:buChar char="§"/>
            </a:pPr>
            <a:r>
              <a:rPr lang="ru-RU" sz="2000" dirty="0" smtClean="0"/>
              <a:t>COM </a:t>
            </a:r>
            <a:r>
              <a:rPr lang="ru-RU" sz="2000" dirty="0" err="1"/>
              <a:t>Callable</a:t>
            </a:r>
            <a:r>
              <a:rPr lang="ru-RU" sz="2000" dirty="0"/>
              <a:t> </a:t>
            </a:r>
            <a:r>
              <a:rPr lang="ru-RU" sz="2000" dirty="0" err="1" smtClean="0"/>
              <a:t>Wrapper</a:t>
            </a:r>
            <a:r>
              <a:rPr lang="ru-RU" sz="2000" dirty="0" smtClean="0"/>
              <a:t> (CCW) </a:t>
            </a:r>
            <a:r>
              <a:rPr lang="ru-RU" sz="2000" dirty="0"/>
              <a:t>– </a:t>
            </a:r>
            <a:r>
              <a:rPr lang="ru-RU" sz="2000" dirty="0" smtClean="0"/>
              <a:t>обертка</a:t>
            </a:r>
            <a:r>
              <a:rPr lang="ru-RU" sz="2000" dirty="0"/>
              <a:t>, вызываемая </a:t>
            </a:r>
            <a:r>
              <a:rPr lang="ru-RU" sz="2000" dirty="0" smtClean="0"/>
              <a:t>COM-объектами, </a:t>
            </a:r>
            <a:r>
              <a:rPr lang="ru-RU" sz="2000" dirty="0"/>
              <a:t>дающая возможность COM-объектам вызывать управляемый </a:t>
            </a:r>
            <a:r>
              <a:rPr lang="ru-RU" sz="2000" dirty="0" smtClean="0"/>
              <a:t>код.</a:t>
            </a:r>
            <a:endParaRPr lang="ru-RU" sz="2000" dirty="0"/>
          </a:p>
          <a:p>
            <a:pPr algn="just">
              <a:lnSpc>
                <a:spcPct val="100000"/>
              </a:lnSpc>
            </a:pPr>
            <a:endParaRPr lang="ru-RU" sz="2000" spc="-1" dirty="0">
              <a:solidFill>
                <a:srgbClr val="262626"/>
              </a:solidFill>
              <a:latin typeface="Montserrat"/>
            </a:endParaRPr>
          </a:p>
        </p:txBody>
      </p:sp>
    </p:spTree>
    <p:extLst>
      <p:ext uri="{BB962C8B-B14F-4D97-AF65-F5344CB8AC3E}">
        <p14:creationId xmlns:p14="http://schemas.microsoft.com/office/powerpoint/2010/main" val="1631931333"/>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COM</a:t>
            </a:r>
            <a:r>
              <a:rPr lang="ru-RU" sz="2000" spc="-1" dirty="0">
                <a:solidFill>
                  <a:srgbClr val="004892"/>
                </a:solidFill>
                <a:latin typeface="Montserrat Bold"/>
              </a:rPr>
              <a:t>. Взаимодействие</a:t>
            </a:r>
          </a:p>
        </p:txBody>
      </p:sp>
      <p:pic>
        <p:nvPicPr>
          <p:cNvPr id="11" name="Picture 2" descr="Ð£Ð¿ÑÐ°Ð²Ð»ÑÐµÐ¼ÑÐ¹ ÐºÐ»Ð¸ÐµÐ½Ñ Ð²ÑÐ·ÑÐ²Ð°ÐµÑ Ð½ÐµÑÐ¿ÑÐ°Ð²Ð»ÑÐµÐ¼ÑÐ¹ COM-Ð¾Ð±ÑÐµÐºÑ"/>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86150" y="2081053"/>
            <a:ext cx="8838530" cy="41718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4478775"/>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COM</a:t>
            </a:r>
            <a:r>
              <a:rPr lang="ru-RU" sz="2000" spc="-1" dirty="0">
                <a:solidFill>
                  <a:srgbClr val="004892"/>
                </a:solidFill>
                <a:latin typeface="Montserrat Bold"/>
              </a:rPr>
              <a:t>. Взаимодействие</a:t>
            </a:r>
          </a:p>
        </p:txBody>
      </p:sp>
      <p:pic>
        <p:nvPicPr>
          <p:cNvPr id="11" name="Picture 2" descr="ÐÐµÑÐ¿ÑÐ°Ð²Ð»ÑÐµÐ¼ÑÐ¹ ÐºÐ»Ð¸ÐµÐ½Ñ Ð²ÑÐ·ÑÐ²Ð°ÐµÑ ÑÐ¿ÑÐ°Ð²Ð»ÑÐµÐ¼ÑÐ¹ COM-Ð¾Ð±ÑÐµÐºÑ"/>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4120" y="2241309"/>
            <a:ext cx="8147154" cy="3851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9345301"/>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Java Beans</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a:solidFill>
                  <a:srgbClr val="262626"/>
                </a:solidFill>
                <a:latin typeface="Montserrat"/>
              </a:rPr>
              <a:t>JavaBean</a:t>
            </a:r>
            <a:r>
              <a:rPr lang="ru-RU" sz="2000" spc="-1" dirty="0">
                <a:solidFill>
                  <a:srgbClr val="262626"/>
                </a:solidFill>
                <a:latin typeface="Montserrat"/>
              </a:rPr>
              <a:t> - это стандарт, определяющий, как должен выглядеть класс, для компонентного взаимодействия:</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Публичный конструктор без аргументов</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Для всех полей определяются геттеры и сеттеры</a:t>
            </a:r>
          </a:p>
          <a:p>
            <a:pPr marL="800100" lvl="1" indent="-342900" algn="just">
              <a:buFont typeface="Wingdings" panose="05000000000000000000" pitchFamily="2" charset="2"/>
              <a:buChar char="§"/>
            </a:pPr>
            <a:r>
              <a:rPr lang="ru-RU" sz="2000" spc="-1" dirty="0">
                <a:solidFill>
                  <a:srgbClr val="262626"/>
                </a:solidFill>
                <a:latin typeface="Montserrat"/>
              </a:rPr>
              <a:t>перед именем переменной добавляется </a:t>
            </a:r>
            <a:r>
              <a:rPr lang="ru-RU" sz="2000" spc="-1" dirty="0" err="1">
                <a:solidFill>
                  <a:srgbClr val="262626"/>
                </a:solidFill>
                <a:latin typeface="Montserrat"/>
              </a:rPr>
              <a:t>get</a:t>
            </a:r>
            <a:r>
              <a:rPr lang="ru-RU" sz="2000" spc="-1" dirty="0">
                <a:solidFill>
                  <a:srgbClr val="262626"/>
                </a:solidFill>
                <a:latin typeface="Montserrat"/>
              </a:rPr>
              <a:t> (для геттера) и </a:t>
            </a:r>
            <a:r>
              <a:rPr lang="ru-RU" sz="2000" spc="-1" dirty="0" err="1">
                <a:solidFill>
                  <a:srgbClr val="262626"/>
                </a:solidFill>
                <a:latin typeface="Montserrat"/>
              </a:rPr>
              <a:t>set</a:t>
            </a:r>
            <a:r>
              <a:rPr lang="ru-RU" sz="2000" spc="-1" dirty="0">
                <a:solidFill>
                  <a:srgbClr val="262626"/>
                </a:solidFill>
                <a:latin typeface="Montserrat"/>
              </a:rPr>
              <a:t> (для сеттера), а название переменной включается с большой </a:t>
            </a:r>
            <a:r>
              <a:rPr lang="ru-RU" sz="2000" spc="-1" dirty="0" smtClean="0">
                <a:solidFill>
                  <a:srgbClr val="262626"/>
                </a:solidFill>
                <a:latin typeface="Montserrat"/>
              </a:rPr>
              <a:t>буквы</a:t>
            </a:r>
          </a:p>
          <a:p>
            <a:pPr marL="800100" lvl="1" indent="-342900" algn="just">
              <a:buFont typeface="Wingdings" panose="05000000000000000000" pitchFamily="2" charset="2"/>
              <a:buChar char="§"/>
            </a:pPr>
            <a:r>
              <a:rPr lang="ru-RU" sz="2000" spc="-1" dirty="0">
                <a:solidFill>
                  <a:srgbClr val="262626"/>
                </a:solidFill>
                <a:latin typeface="Montserrat"/>
              </a:rPr>
              <a:t>для переменных типа </a:t>
            </a:r>
            <a:r>
              <a:rPr lang="en-US" sz="2000" spc="-1" dirty="0" err="1">
                <a:solidFill>
                  <a:srgbClr val="262626"/>
                </a:solidFill>
                <a:latin typeface="Montserrat"/>
              </a:rPr>
              <a:t>boolean</a:t>
            </a:r>
            <a:r>
              <a:rPr lang="en-US" sz="2000" spc="-1" dirty="0">
                <a:solidFill>
                  <a:srgbClr val="262626"/>
                </a:solidFill>
                <a:latin typeface="Montserrat"/>
              </a:rPr>
              <a:t> </a:t>
            </a:r>
            <a:r>
              <a:rPr lang="ru-RU" sz="2000" spc="-1" dirty="0">
                <a:solidFill>
                  <a:srgbClr val="262626"/>
                </a:solidFill>
                <a:latin typeface="Montserrat"/>
              </a:rPr>
              <a:t>для функции геттера используется вместо </a:t>
            </a:r>
            <a:r>
              <a:rPr lang="en-US" sz="2000" spc="-1" dirty="0">
                <a:solidFill>
                  <a:srgbClr val="262626"/>
                </a:solidFill>
                <a:latin typeface="Montserrat"/>
              </a:rPr>
              <a:t>get </a:t>
            </a:r>
            <a:r>
              <a:rPr lang="ru-RU" sz="2000" spc="-1" dirty="0">
                <a:solidFill>
                  <a:srgbClr val="262626"/>
                </a:solidFill>
                <a:latin typeface="Montserrat"/>
              </a:rPr>
              <a:t>приставка </a:t>
            </a:r>
            <a:r>
              <a:rPr lang="en-US" sz="2000" spc="-1" dirty="0">
                <a:solidFill>
                  <a:srgbClr val="262626"/>
                </a:solidFill>
                <a:latin typeface="Montserrat"/>
              </a:rPr>
              <a:t>is.</a:t>
            </a:r>
          </a:p>
          <a:p>
            <a:pPr marL="799200" algn="just">
              <a:lnSpc>
                <a:spcPct val="100000"/>
              </a:lnSpc>
            </a:pPr>
            <a:r>
              <a:rPr lang="ru-RU" sz="2000" spc="-1" dirty="0" smtClean="0">
                <a:solidFill>
                  <a:srgbClr val="262626"/>
                </a:solidFill>
                <a:latin typeface="Montserrat"/>
              </a:rPr>
              <a:t>Примеры</a:t>
            </a:r>
            <a:r>
              <a:rPr lang="ru-RU" sz="2000" spc="-1" dirty="0">
                <a:solidFill>
                  <a:srgbClr val="262626"/>
                </a:solidFill>
                <a:latin typeface="Montserrat"/>
              </a:rPr>
              <a:t>: для строковой переменной </a:t>
            </a:r>
            <a:r>
              <a:rPr lang="en-US" sz="2000" spc="-1" dirty="0" err="1">
                <a:solidFill>
                  <a:srgbClr val="262626"/>
                </a:solidFill>
                <a:latin typeface="Montserrat"/>
              </a:rPr>
              <a:t>firstName</a:t>
            </a:r>
            <a:r>
              <a:rPr lang="en-US" sz="2000" spc="-1" dirty="0">
                <a:solidFill>
                  <a:srgbClr val="262626"/>
                </a:solidFill>
                <a:latin typeface="Montserrat"/>
              </a:rPr>
              <a:t> </a:t>
            </a:r>
            <a:r>
              <a:rPr lang="ru-RU" sz="2000" spc="-1" dirty="0">
                <a:solidFill>
                  <a:srgbClr val="262626"/>
                </a:solidFill>
                <a:latin typeface="Montserrat"/>
              </a:rPr>
              <a:t>функции геттера и сеттера должны называться </a:t>
            </a:r>
            <a:r>
              <a:rPr lang="en-US" sz="2000" spc="-1" dirty="0" err="1">
                <a:solidFill>
                  <a:srgbClr val="262626"/>
                </a:solidFill>
                <a:latin typeface="Montserrat"/>
              </a:rPr>
              <a:t>getFirstName</a:t>
            </a:r>
            <a:r>
              <a:rPr lang="en-US" sz="2000" spc="-1" dirty="0">
                <a:solidFill>
                  <a:srgbClr val="262626"/>
                </a:solidFill>
                <a:latin typeface="Montserrat"/>
              </a:rPr>
              <a:t> </a:t>
            </a:r>
            <a:r>
              <a:rPr lang="ru-RU" sz="2000" spc="-1" dirty="0">
                <a:solidFill>
                  <a:srgbClr val="262626"/>
                </a:solidFill>
                <a:latin typeface="Montserrat"/>
              </a:rPr>
              <a:t>и </a:t>
            </a:r>
            <a:r>
              <a:rPr lang="en-US" sz="2000" spc="-1" dirty="0" err="1">
                <a:solidFill>
                  <a:srgbClr val="262626"/>
                </a:solidFill>
                <a:latin typeface="Montserrat"/>
              </a:rPr>
              <a:t>setFirstName</a:t>
            </a:r>
            <a:r>
              <a:rPr lang="en-US" sz="2000" spc="-1" dirty="0">
                <a:solidFill>
                  <a:srgbClr val="262626"/>
                </a:solidFill>
                <a:latin typeface="Montserrat"/>
              </a:rPr>
              <a:t>, </a:t>
            </a:r>
            <a:r>
              <a:rPr lang="ru-RU" sz="2000" spc="-1" dirty="0">
                <a:solidFill>
                  <a:srgbClr val="262626"/>
                </a:solidFill>
                <a:latin typeface="Montserrat"/>
              </a:rPr>
              <a:t>для </a:t>
            </a:r>
            <a:r>
              <a:rPr lang="en-US" sz="2000" spc="-1" dirty="0" err="1">
                <a:solidFill>
                  <a:srgbClr val="262626"/>
                </a:solidFill>
                <a:latin typeface="Montserrat"/>
              </a:rPr>
              <a:t>boolean</a:t>
            </a:r>
            <a:r>
              <a:rPr lang="en-US" sz="2000" spc="-1" dirty="0">
                <a:solidFill>
                  <a:srgbClr val="262626"/>
                </a:solidFill>
                <a:latin typeface="Montserrat"/>
              </a:rPr>
              <a:t> </a:t>
            </a:r>
            <a:r>
              <a:rPr lang="ru-RU" sz="2000" spc="-1" dirty="0">
                <a:solidFill>
                  <a:srgbClr val="262626"/>
                </a:solidFill>
                <a:latin typeface="Montserrat"/>
              </a:rPr>
              <a:t>переменной </a:t>
            </a:r>
            <a:r>
              <a:rPr lang="en-US" sz="2000" spc="-1" dirty="0">
                <a:solidFill>
                  <a:srgbClr val="262626"/>
                </a:solidFill>
                <a:latin typeface="Montserrat"/>
              </a:rPr>
              <a:t>enabled </a:t>
            </a:r>
            <a:r>
              <a:rPr lang="ru-RU" sz="2000" spc="-1" dirty="0">
                <a:solidFill>
                  <a:srgbClr val="262626"/>
                </a:solidFill>
                <a:latin typeface="Montserrat"/>
              </a:rPr>
              <a:t>геттер должен называться </a:t>
            </a:r>
            <a:r>
              <a:rPr lang="en-US" sz="2000" spc="-1" dirty="0" err="1">
                <a:solidFill>
                  <a:srgbClr val="262626"/>
                </a:solidFill>
                <a:latin typeface="Montserrat"/>
              </a:rPr>
              <a:t>isEnabled</a:t>
            </a:r>
            <a:r>
              <a:rPr lang="en-US" sz="2000" spc="-1" dirty="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Реализация </a:t>
            </a:r>
            <a:r>
              <a:rPr lang="en-US" sz="2000" spc="-1" dirty="0">
                <a:solidFill>
                  <a:srgbClr val="262626"/>
                </a:solidFill>
                <a:latin typeface="Montserrat"/>
              </a:rPr>
              <a:t>Serializable</a:t>
            </a:r>
            <a:r>
              <a:rPr lang="en-US" sz="2000" spc="-1" dirty="0" smtClean="0">
                <a:solidFill>
                  <a:srgbClr val="262626"/>
                </a:solidFill>
                <a:latin typeface="Montserrat"/>
              </a:rPr>
              <a:t>.</a:t>
            </a:r>
            <a:endParaRPr lang="en-US" sz="2000" spc="-1" dirty="0">
              <a:solidFill>
                <a:srgbClr val="262626"/>
              </a:solidFill>
              <a:latin typeface="Montserrat"/>
            </a:endParaRPr>
          </a:p>
        </p:txBody>
      </p:sp>
    </p:spTree>
    <p:extLst>
      <p:ext uri="{BB962C8B-B14F-4D97-AF65-F5344CB8AC3E}">
        <p14:creationId xmlns:p14="http://schemas.microsoft.com/office/powerpoint/2010/main" val="2881198458"/>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Стандарты взаимодействия компонент</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Java Beans</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err="1">
                <a:solidFill>
                  <a:srgbClr val="262626"/>
                </a:solidFill>
                <a:latin typeface="Montserrat"/>
              </a:rPr>
              <a:t>JavaBean</a:t>
            </a:r>
            <a:r>
              <a:rPr lang="ru-RU" sz="2000" spc="-1" dirty="0">
                <a:solidFill>
                  <a:srgbClr val="262626"/>
                </a:solidFill>
                <a:latin typeface="Montserrat"/>
              </a:rPr>
              <a:t> - это стандарт, определяющий, как должен выглядеть класс, для компонентного взаимодействия:</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нет никакой синтаксической разницы между </a:t>
            </a:r>
            <a:r>
              <a:rPr lang="ru-RU" sz="2000" spc="-1" dirty="0" err="1">
                <a:solidFill>
                  <a:srgbClr val="262626"/>
                </a:solidFill>
                <a:latin typeface="Montserrat"/>
              </a:rPr>
              <a:t>JavaBean</a:t>
            </a:r>
            <a:r>
              <a:rPr lang="ru-RU" sz="2000" spc="-1" dirty="0">
                <a:solidFill>
                  <a:srgbClr val="262626"/>
                </a:solidFill>
                <a:latin typeface="Montserrat"/>
              </a:rPr>
              <a:t> и другим классом - класс определяет </a:t>
            </a:r>
            <a:r>
              <a:rPr lang="ru-RU" sz="2000" spc="-1" dirty="0" err="1">
                <a:solidFill>
                  <a:srgbClr val="262626"/>
                </a:solidFill>
                <a:latin typeface="Montserrat"/>
              </a:rPr>
              <a:t>JavaBean</a:t>
            </a:r>
            <a:r>
              <a:rPr lang="ru-RU" sz="2000" spc="-1" dirty="0">
                <a:solidFill>
                  <a:srgbClr val="262626"/>
                </a:solidFill>
                <a:latin typeface="Montserrat"/>
              </a:rPr>
              <a:t>, если он соответствует выше описанным требованиям (стандартам).</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стандарт позволяет библиотекам </a:t>
            </a:r>
            <a:r>
              <a:rPr lang="ru-RU" sz="2000" spc="-1" dirty="0" err="1">
                <a:solidFill>
                  <a:srgbClr val="262626"/>
                </a:solidFill>
                <a:latin typeface="Montserrat"/>
              </a:rPr>
              <a:t>программно</a:t>
            </a:r>
            <a:r>
              <a:rPr lang="ru-RU" sz="2000" spc="-1" dirty="0">
                <a:solidFill>
                  <a:srgbClr val="262626"/>
                </a:solidFill>
                <a:latin typeface="Montserrat"/>
              </a:rPr>
              <a:t> делать что-либо с экземплярами класса, которые определяется предопределенным образом.</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Например, для обмена данными через потоки.</a:t>
            </a:r>
          </a:p>
        </p:txBody>
      </p:sp>
    </p:spTree>
    <p:extLst>
      <p:ext uri="{BB962C8B-B14F-4D97-AF65-F5344CB8AC3E}">
        <p14:creationId xmlns:p14="http://schemas.microsoft.com/office/powerpoint/2010/main" val="2542984516"/>
      </p:ext>
    </p:extLst>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2160000"/>
            <a:ext cx="10080000" cy="90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b="0" strike="noStrike" spc="-1" dirty="0">
              <a:latin typeface="Arial"/>
            </a:endParaRPr>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dirty="0">
                <a:solidFill>
                  <a:srgbClr val="004892"/>
                </a:solidFill>
                <a:latin typeface="Montserrat"/>
              </a:rPr>
              <a:t>Ульяновский государственный технический университет</a:t>
            </a:r>
            <a:endParaRPr lang="en-US" sz="1400" b="0" strike="noStrike" spc="-1" dirty="0">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Tree>
    <p:extLst>
      <p:ext uri="{BB962C8B-B14F-4D97-AF65-F5344CB8AC3E}">
        <p14:creationId xmlns:p14="http://schemas.microsoft.com/office/powerpoint/2010/main" val="137301072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Плагины</a:t>
            </a: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Плагин – это </a:t>
            </a:r>
            <a:r>
              <a:rPr lang="ru-RU" sz="2000" b="1" spc="-1" dirty="0" smtClean="0">
                <a:solidFill>
                  <a:srgbClr val="262626"/>
                </a:solidFill>
                <a:latin typeface="Montserrat"/>
              </a:rPr>
              <a:t>независимо</a:t>
            </a:r>
            <a:r>
              <a:rPr lang="ru-RU" sz="2000" spc="-1" dirty="0" smtClean="0">
                <a:solidFill>
                  <a:srgbClr val="262626"/>
                </a:solidFill>
                <a:latin typeface="Montserrat"/>
              </a:rPr>
              <a:t> </a:t>
            </a:r>
            <a:r>
              <a:rPr lang="ru-RU" sz="2000" spc="-1" dirty="0">
                <a:solidFill>
                  <a:srgbClr val="262626"/>
                </a:solidFill>
                <a:latin typeface="Montserrat"/>
              </a:rPr>
              <a:t>компилируемый программный модуль, </a:t>
            </a:r>
            <a:r>
              <a:rPr lang="ru-RU" sz="2000" b="1" spc="-1" dirty="0">
                <a:solidFill>
                  <a:srgbClr val="262626"/>
                </a:solidFill>
                <a:latin typeface="Montserrat"/>
              </a:rPr>
              <a:t>динамически</a:t>
            </a:r>
            <a:r>
              <a:rPr lang="ru-RU" sz="2000" spc="-1" dirty="0">
                <a:solidFill>
                  <a:srgbClr val="262626"/>
                </a:solidFill>
                <a:latin typeface="Montserrat"/>
              </a:rPr>
              <a:t> подключаемый к основной программе и предназначенный для расширения и/или использования её </a:t>
            </a:r>
            <a:r>
              <a:rPr lang="ru-RU" sz="2000" spc="-1" dirty="0" smtClean="0">
                <a:solidFill>
                  <a:srgbClr val="262626"/>
                </a:solidFill>
                <a:latin typeface="Montserrat"/>
              </a:rPr>
              <a:t>возможностей.</a:t>
            </a:r>
            <a:endParaRPr lang="ru-RU" sz="2000" spc="-1" dirty="0">
              <a:solidFill>
                <a:srgbClr val="262626"/>
              </a:solidFill>
              <a:latin typeface="Montserrat"/>
            </a:endParaRPr>
          </a:p>
          <a:p>
            <a:pPr algn="just">
              <a:lnSpc>
                <a:spcPct val="100000"/>
              </a:lnSpc>
            </a:pPr>
            <a:r>
              <a:rPr lang="ru-RU" sz="2000" spc="-1" dirty="0">
                <a:solidFill>
                  <a:srgbClr val="262626"/>
                </a:solidFill>
                <a:latin typeface="Montserrat"/>
              </a:rPr>
              <a:t>Плагин – это </a:t>
            </a:r>
            <a:r>
              <a:rPr lang="ru-RU" sz="2000" spc="-1" dirty="0" smtClean="0">
                <a:solidFill>
                  <a:srgbClr val="262626"/>
                </a:solidFill>
                <a:latin typeface="Montserrat"/>
              </a:rPr>
              <a:t>программный </a:t>
            </a:r>
            <a:r>
              <a:rPr lang="ru-RU" sz="2000" spc="-1" dirty="0">
                <a:solidFill>
                  <a:srgbClr val="262626"/>
                </a:solidFill>
                <a:latin typeface="Montserrat"/>
              </a:rPr>
              <a:t>модуль, несущий в себе определенный функционал, и </a:t>
            </a:r>
            <a:r>
              <a:rPr lang="ru-RU" sz="2000" b="1" spc="-1" dirty="0">
                <a:solidFill>
                  <a:srgbClr val="262626"/>
                </a:solidFill>
                <a:latin typeface="Montserrat"/>
              </a:rPr>
              <a:t>подключаемый</a:t>
            </a:r>
            <a:r>
              <a:rPr lang="ru-RU" sz="2000" spc="-1" dirty="0">
                <a:solidFill>
                  <a:srgbClr val="262626"/>
                </a:solidFill>
                <a:latin typeface="Montserrat"/>
              </a:rPr>
              <a:t> к какой-то основной системе</a:t>
            </a:r>
            <a:r>
              <a:rPr lang="ru-RU" sz="2000" spc="-1" dirty="0" smtClean="0">
                <a:solidFill>
                  <a:srgbClr val="262626"/>
                </a:solidFill>
                <a:latin typeface="Montserrat"/>
              </a:rPr>
              <a:t>.</a:t>
            </a:r>
          </a:p>
          <a:p>
            <a:pPr algn="just">
              <a:lnSpc>
                <a:spcPct val="100000"/>
              </a:lnSpc>
            </a:pPr>
            <a:r>
              <a:rPr lang="ru-RU" sz="2000" spc="-1" dirty="0">
                <a:solidFill>
                  <a:srgbClr val="262626"/>
                </a:solidFill>
                <a:latin typeface="Montserrat"/>
              </a:rPr>
              <a:t>Плагин – это часть которая </a:t>
            </a:r>
            <a:r>
              <a:rPr lang="ru-RU" sz="2000" b="1" spc="-1" dirty="0">
                <a:solidFill>
                  <a:srgbClr val="262626"/>
                </a:solidFill>
                <a:latin typeface="Montserrat"/>
              </a:rPr>
              <a:t>не обязательно </a:t>
            </a:r>
            <a:r>
              <a:rPr lang="ru-RU" sz="2000" spc="-1" dirty="0">
                <a:solidFill>
                  <a:srgbClr val="262626"/>
                </a:solidFill>
                <a:latin typeface="Montserrat"/>
              </a:rPr>
              <a:t>присутствует в системе, а лишь при определённых к ней требованиях.</a:t>
            </a:r>
          </a:p>
          <a:p>
            <a:pPr algn="just">
              <a:lnSpc>
                <a:spcPct val="100000"/>
              </a:lnSpc>
            </a:pPr>
            <a:r>
              <a:rPr lang="ru-RU" sz="2000" spc="-1" dirty="0" smtClean="0">
                <a:solidFill>
                  <a:srgbClr val="262626"/>
                </a:solidFill>
                <a:latin typeface="Montserrat"/>
              </a:rPr>
              <a:t>Плагин </a:t>
            </a:r>
            <a:r>
              <a:rPr lang="ru-RU" sz="2000" spc="-1" dirty="0">
                <a:solidFill>
                  <a:srgbClr val="262626"/>
                </a:solidFill>
                <a:latin typeface="Montserrat"/>
              </a:rPr>
              <a:t>– это программы/модули, которые пользователь сам устанавливает (подключает к) в приложение, </a:t>
            </a:r>
            <a:r>
              <a:rPr lang="ru-RU" sz="2000" b="1" spc="-1" dirty="0">
                <a:solidFill>
                  <a:srgbClr val="262626"/>
                </a:solidFill>
                <a:latin typeface="Montserrat"/>
              </a:rPr>
              <a:t>расширяя</a:t>
            </a:r>
            <a:r>
              <a:rPr lang="ru-RU" sz="2000" spc="-1" dirty="0">
                <a:solidFill>
                  <a:srgbClr val="262626"/>
                </a:solidFill>
                <a:latin typeface="Montserrat"/>
              </a:rPr>
              <a:t> его функционал, либо меня интерфейс </a:t>
            </a:r>
            <a:r>
              <a:rPr lang="ru-RU" sz="2000" spc="-1" dirty="0" smtClean="0">
                <a:solidFill>
                  <a:srgbClr val="262626"/>
                </a:solidFill>
                <a:latin typeface="Montserrat"/>
              </a:rPr>
              <a:t>взаимодействия.</a:t>
            </a:r>
            <a:endParaRPr lang="ru-RU" sz="2000" spc="-1" dirty="0">
              <a:solidFill>
                <a:srgbClr val="262626"/>
              </a:solidFill>
              <a:latin typeface="Montserrat"/>
            </a:endParaRPr>
          </a:p>
        </p:txBody>
      </p:sp>
    </p:spTree>
    <p:extLst>
      <p:ext uri="{BB962C8B-B14F-4D97-AF65-F5344CB8AC3E}">
        <p14:creationId xmlns:p14="http://schemas.microsoft.com/office/powerpoint/2010/main" val="377010436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Плагины. Отличительные особенности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Система может функционировать без </a:t>
            </a:r>
            <a:r>
              <a:rPr lang="ru-RU" sz="2000" spc="-1" dirty="0" smtClean="0">
                <a:solidFill>
                  <a:srgbClr val="262626"/>
                </a:solidFill>
                <a:latin typeface="Montserrat"/>
              </a:rPr>
              <a:t>модуля.</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Модуль не может функционировать без </a:t>
            </a:r>
            <a:r>
              <a:rPr lang="ru-RU" sz="2000" spc="-1" dirty="0" smtClean="0">
                <a:solidFill>
                  <a:srgbClr val="262626"/>
                </a:solidFill>
                <a:latin typeface="Montserrat"/>
              </a:rPr>
              <a:t>системы.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Модуль предназначен для конкретной </a:t>
            </a:r>
            <a:r>
              <a:rPr lang="ru-RU" sz="2000" spc="-1" dirty="0" smtClean="0">
                <a:solidFill>
                  <a:srgbClr val="262626"/>
                </a:solidFill>
                <a:latin typeface="Montserrat"/>
              </a:rPr>
              <a:t>системы.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Модуль несет функционал, расширяющий возможности </a:t>
            </a:r>
            <a:r>
              <a:rPr lang="ru-RU" sz="2000" spc="-1" dirty="0" smtClean="0">
                <a:solidFill>
                  <a:srgbClr val="262626"/>
                </a:solidFill>
                <a:latin typeface="Montserrat"/>
              </a:rPr>
              <a:t>системы.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Другие модули могут функционировать при отсутствии этого модуля*</a:t>
            </a:r>
          </a:p>
        </p:txBody>
      </p:sp>
    </p:spTree>
    <p:extLst>
      <p:ext uri="{BB962C8B-B14F-4D97-AF65-F5344CB8AC3E}">
        <p14:creationId xmlns:p14="http://schemas.microsoft.com/office/powerpoint/2010/main" val="181210125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Плагины. Область применения</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Изменяющие интерфейс пользователя, но не меняющие функционал </a:t>
            </a:r>
            <a:r>
              <a:rPr lang="ru-RU" sz="2000" spc="-1" dirty="0" smtClean="0">
                <a:solidFill>
                  <a:srgbClr val="262626"/>
                </a:solidFill>
                <a:latin typeface="Montserrat"/>
              </a:rPr>
              <a:t>системы.</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Дополняющие функционал при появлении новых решений (например, новый алгоритм архивирования для программы-архиватора</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Расширяющие функционал системы (например, отправка по почте для программы-архиватора</a:t>
            </a:r>
            <a:r>
              <a:rPr lang="ru-RU" sz="2000" spc="-1" dirty="0" smtClean="0">
                <a:solidFill>
                  <a:srgbClr val="262626"/>
                </a:solidFill>
                <a:latin typeface="Montserrat"/>
              </a:rPr>
              <a:t>).</a:t>
            </a: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Разделяющие систему на версии (бесплатная, облегченная, полная, </a:t>
            </a:r>
            <a:r>
              <a:rPr lang="ru-RU" sz="2000" spc="-1" dirty="0" err="1">
                <a:solidFill>
                  <a:srgbClr val="262626"/>
                </a:solidFill>
                <a:latin typeface="Montserrat"/>
              </a:rPr>
              <a:t>ultra</a:t>
            </a:r>
            <a:r>
              <a:rPr lang="ru-RU" sz="2000" spc="-1" dirty="0">
                <a:solidFill>
                  <a:srgbClr val="262626"/>
                </a:solidFill>
                <a:latin typeface="Montserrat"/>
              </a:rPr>
              <a:t> и т.д</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Адаптивные под конкретное </a:t>
            </a:r>
            <a:r>
              <a:rPr lang="ru-RU" sz="2000" spc="-1" dirty="0" smtClean="0">
                <a:solidFill>
                  <a:srgbClr val="262626"/>
                </a:solidFill>
                <a:latin typeface="Montserrat"/>
              </a:rPr>
              <a:t>предприятие.</a:t>
            </a:r>
            <a:endParaRPr lang="ru-RU" sz="2000" spc="-1" dirty="0">
              <a:solidFill>
                <a:srgbClr val="262626"/>
              </a:solidFill>
              <a:latin typeface="Montserrat"/>
            </a:endParaRPr>
          </a:p>
        </p:txBody>
      </p:sp>
    </p:spTree>
    <p:extLst>
      <p:ext uri="{BB962C8B-B14F-4D97-AF65-F5344CB8AC3E}">
        <p14:creationId xmlns:p14="http://schemas.microsoft.com/office/powerpoint/2010/main" val="149065574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Версионность через плагины</a:t>
            </a:r>
            <a:endParaRPr lang="ru-RU" sz="2000" spc="-1" dirty="0">
              <a:solidFill>
                <a:srgbClr val="004892"/>
              </a:solidFill>
              <a:latin typeface="Montserrat Bold"/>
            </a:endParaRPr>
          </a:p>
        </p:txBody>
      </p:sp>
      <p:sp>
        <p:nvSpPr>
          <p:cNvPr id="7" name="Rectangle 6"/>
          <p:cNvSpPr/>
          <p:nvPr/>
        </p:nvSpPr>
        <p:spPr>
          <a:xfrm>
            <a:off x="761488" y="5559810"/>
            <a:ext cx="7579150" cy="6975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smtClean="0">
                <a:latin typeface="Montserrat"/>
              </a:rPr>
              <a:t>Базовый набор возможностей</a:t>
            </a:r>
            <a:endParaRPr lang="en-US" sz="2000" dirty="0">
              <a:latin typeface="Montserrat"/>
            </a:endParaRPr>
          </a:p>
        </p:txBody>
      </p:sp>
      <p:sp>
        <p:nvSpPr>
          <p:cNvPr id="8" name="Rectangle 7"/>
          <p:cNvSpPr/>
          <p:nvPr/>
        </p:nvSpPr>
        <p:spPr>
          <a:xfrm>
            <a:off x="1320586" y="4895351"/>
            <a:ext cx="1168923" cy="5467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9" name="Rectangle 8"/>
          <p:cNvSpPr/>
          <p:nvPr/>
        </p:nvSpPr>
        <p:spPr>
          <a:xfrm>
            <a:off x="2623056" y="4895350"/>
            <a:ext cx="1168923" cy="5467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10" name="Rectangle 9"/>
          <p:cNvSpPr/>
          <p:nvPr/>
        </p:nvSpPr>
        <p:spPr>
          <a:xfrm>
            <a:off x="3925526" y="4895349"/>
            <a:ext cx="1168923" cy="5467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11" name="Rectangle 10"/>
          <p:cNvSpPr/>
          <p:nvPr/>
        </p:nvSpPr>
        <p:spPr>
          <a:xfrm>
            <a:off x="5227996" y="4895349"/>
            <a:ext cx="1168923" cy="5467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12" name="Rectangle 11"/>
          <p:cNvSpPr/>
          <p:nvPr/>
        </p:nvSpPr>
        <p:spPr>
          <a:xfrm>
            <a:off x="6530466" y="4895348"/>
            <a:ext cx="1168923" cy="546755"/>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13" name="TextBox 12"/>
          <p:cNvSpPr txBox="1"/>
          <p:nvPr/>
        </p:nvSpPr>
        <p:spPr>
          <a:xfrm>
            <a:off x="8472050" y="4753226"/>
            <a:ext cx="2077239" cy="707886"/>
          </a:xfrm>
          <a:prstGeom prst="rect">
            <a:avLst/>
          </a:prstGeom>
          <a:noFill/>
        </p:spPr>
        <p:txBody>
          <a:bodyPr wrap="square" rtlCol="0">
            <a:spAutoFit/>
          </a:bodyPr>
          <a:lstStyle/>
          <a:p>
            <a:r>
              <a:rPr lang="ru-RU" sz="2000" dirty="0" smtClean="0">
                <a:latin typeface="Montserrat"/>
              </a:rPr>
              <a:t>Бесплатная версия</a:t>
            </a:r>
            <a:endParaRPr lang="en-US" sz="2000" dirty="0">
              <a:latin typeface="Montserrat"/>
            </a:endParaRPr>
          </a:p>
        </p:txBody>
      </p:sp>
      <p:sp>
        <p:nvSpPr>
          <p:cNvPr id="14" name="Rectangle 13"/>
          <p:cNvSpPr/>
          <p:nvPr/>
        </p:nvSpPr>
        <p:spPr>
          <a:xfrm>
            <a:off x="1525059" y="4174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15" name="Rectangle 14"/>
          <p:cNvSpPr/>
          <p:nvPr/>
        </p:nvSpPr>
        <p:spPr>
          <a:xfrm>
            <a:off x="2997210" y="4174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16" name="Rectangle 15"/>
          <p:cNvSpPr/>
          <p:nvPr/>
        </p:nvSpPr>
        <p:spPr>
          <a:xfrm>
            <a:off x="4469361" y="417878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17" name="Rectangle 16"/>
          <p:cNvSpPr/>
          <p:nvPr/>
        </p:nvSpPr>
        <p:spPr>
          <a:xfrm>
            <a:off x="5941512" y="4174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18" name="Rectangle 17"/>
          <p:cNvSpPr/>
          <p:nvPr/>
        </p:nvSpPr>
        <p:spPr>
          <a:xfrm>
            <a:off x="1525059" y="3476485"/>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19" name="Rectangle 18"/>
          <p:cNvSpPr/>
          <p:nvPr/>
        </p:nvSpPr>
        <p:spPr>
          <a:xfrm>
            <a:off x="2997210" y="3476486"/>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20" name="Rectangle 19"/>
          <p:cNvSpPr/>
          <p:nvPr/>
        </p:nvSpPr>
        <p:spPr>
          <a:xfrm>
            <a:off x="4466108" y="3476485"/>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21" name="Rectangle 20"/>
          <p:cNvSpPr/>
          <p:nvPr/>
        </p:nvSpPr>
        <p:spPr>
          <a:xfrm>
            <a:off x="5941512" y="347412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sz="2000">
              <a:latin typeface="Montserrat"/>
            </a:endParaRPr>
          </a:p>
        </p:txBody>
      </p:sp>
      <p:sp>
        <p:nvSpPr>
          <p:cNvPr id="22" name="TextBox 21"/>
          <p:cNvSpPr txBox="1"/>
          <p:nvPr/>
        </p:nvSpPr>
        <p:spPr>
          <a:xfrm>
            <a:off x="8472050" y="3624236"/>
            <a:ext cx="2077238" cy="707886"/>
          </a:xfrm>
          <a:prstGeom prst="rect">
            <a:avLst/>
          </a:prstGeom>
          <a:noFill/>
        </p:spPr>
        <p:txBody>
          <a:bodyPr wrap="square" rtlCol="0">
            <a:spAutoFit/>
          </a:bodyPr>
          <a:lstStyle/>
          <a:p>
            <a:r>
              <a:rPr lang="ru-RU" sz="2000" dirty="0" smtClean="0">
                <a:latin typeface="Montserrat"/>
              </a:rPr>
              <a:t>Продвинутая версия</a:t>
            </a:r>
            <a:endParaRPr lang="en-US" sz="2000" dirty="0">
              <a:latin typeface="Montserrat"/>
            </a:endParaRPr>
          </a:p>
        </p:txBody>
      </p:sp>
      <p:sp>
        <p:nvSpPr>
          <p:cNvPr id="23" name="Rectangle 22"/>
          <p:cNvSpPr/>
          <p:nvPr/>
        </p:nvSpPr>
        <p:spPr>
          <a:xfrm>
            <a:off x="1936696" y="2788330"/>
            <a:ext cx="1272618" cy="5656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a:latin typeface="Montserrat"/>
            </a:endParaRPr>
          </a:p>
        </p:txBody>
      </p:sp>
      <p:sp>
        <p:nvSpPr>
          <p:cNvPr id="24" name="Rectangle 23"/>
          <p:cNvSpPr/>
          <p:nvPr/>
        </p:nvSpPr>
        <p:spPr>
          <a:xfrm>
            <a:off x="3597272" y="2793040"/>
            <a:ext cx="1272618" cy="5656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a:latin typeface="Montserrat"/>
            </a:endParaRPr>
          </a:p>
        </p:txBody>
      </p:sp>
      <p:sp>
        <p:nvSpPr>
          <p:cNvPr id="25" name="Rectangle 24"/>
          <p:cNvSpPr/>
          <p:nvPr/>
        </p:nvSpPr>
        <p:spPr>
          <a:xfrm>
            <a:off x="5257848" y="2790684"/>
            <a:ext cx="1272618" cy="5656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a:latin typeface="Montserrat"/>
            </a:endParaRPr>
          </a:p>
        </p:txBody>
      </p:sp>
      <p:sp>
        <p:nvSpPr>
          <p:cNvPr id="26" name="Rectangle 25"/>
          <p:cNvSpPr/>
          <p:nvPr/>
        </p:nvSpPr>
        <p:spPr>
          <a:xfrm>
            <a:off x="2797677" y="2076606"/>
            <a:ext cx="1272618" cy="5656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a:latin typeface="Montserrat"/>
            </a:endParaRPr>
          </a:p>
        </p:txBody>
      </p:sp>
      <p:sp>
        <p:nvSpPr>
          <p:cNvPr id="27" name="Rectangle 26"/>
          <p:cNvSpPr/>
          <p:nvPr/>
        </p:nvSpPr>
        <p:spPr>
          <a:xfrm>
            <a:off x="4537032" y="2079223"/>
            <a:ext cx="1272618" cy="5656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2000">
              <a:latin typeface="Montserrat"/>
            </a:endParaRPr>
          </a:p>
        </p:txBody>
      </p:sp>
      <p:sp>
        <p:nvSpPr>
          <p:cNvPr id="28" name="TextBox 27"/>
          <p:cNvSpPr txBox="1"/>
          <p:nvPr/>
        </p:nvSpPr>
        <p:spPr>
          <a:xfrm>
            <a:off x="8472049" y="2241570"/>
            <a:ext cx="2077239" cy="400110"/>
          </a:xfrm>
          <a:prstGeom prst="rect">
            <a:avLst/>
          </a:prstGeom>
          <a:noFill/>
        </p:spPr>
        <p:txBody>
          <a:bodyPr wrap="square" rtlCol="0">
            <a:spAutoFit/>
          </a:bodyPr>
          <a:lstStyle/>
          <a:p>
            <a:r>
              <a:rPr lang="ru-RU" sz="2000" dirty="0" smtClean="0">
                <a:latin typeface="Montserrat"/>
              </a:rPr>
              <a:t>Полная версия</a:t>
            </a:r>
            <a:endParaRPr lang="en-US" sz="2000" dirty="0">
              <a:latin typeface="Montserrat"/>
            </a:endParaRPr>
          </a:p>
        </p:txBody>
      </p:sp>
    </p:spTree>
    <p:extLst>
      <p:ext uri="{BB962C8B-B14F-4D97-AF65-F5344CB8AC3E}">
        <p14:creationId xmlns:p14="http://schemas.microsoft.com/office/powerpoint/2010/main" val="425412795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animBg="1"/>
      <p:bldP spid="12" grpId="0" animBg="1"/>
      <p:bldP spid="13" grpId="0"/>
      <p:bldP spid="14" grpId="0" animBg="1"/>
      <p:bldP spid="15" grpId="0" animBg="1"/>
      <p:bldP spid="16" grpId="0" animBg="1"/>
      <p:bldP spid="17" grpId="0" animBg="1"/>
      <p:bldP spid="18" grpId="0" animBg="1"/>
      <p:bldP spid="19" grpId="0" animBg="1"/>
      <p:bldP spid="20" grpId="0" animBg="1"/>
      <p:bldP spid="21" grpId="0" animBg="1"/>
      <p:bldP spid="22" grpId="0"/>
      <p:bldP spid="23" grpId="0" animBg="1"/>
      <p:bldP spid="24" grpId="0" animBg="1"/>
      <p:bldP spid="25" grpId="0" animBg="1"/>
      <p:bldP spid="26" grpId="0" animBg="1"/>
      <p:bldP spid="27" grpId="0" animBg="1"/>
      <p:bldP spid="28"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Адаптивность</a:t>
            </a:r>
            <a:endParaRPr lang="ru-RU" sz="2000" spc="-1" dirty="0">
              <a:solidFill>
                <a:srgbClr val="004892"/>
              </a:solidFill>
              <a:latin typeface="Montserrat Bold"/>
            </a:endParaRPr>
          </a:p>
        </p:txBody>
      </p:sp>
      <p:sp>
        <p:nvSpPr>
          <p:cNvPr id="7" name="Oval 6"/>
          <p:cNvSpPr/>
          <p:nvPr/>
        </p:nvSpPr>
        <p:spPr>
          <a:xfrm>
            <a:off x="5025479" y="2488081"/>
            <a:ext cx="3136744" cy="280357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z="2000" dirty="0">
                <a:latin typeface="Montserrat"/>
              </a:rPr>
              <a:t>Базовый набор возможностей</a:t>
            </a:r>
          </a:p>
        </p:txBody>
      </p:sp>
      <p:grpSp>
        <p:nvGrpSpPr>
          <p:cNvPr id="8" name="Group 7"/>
          <p:cNvGrpSpPr/>
          <p:nvPr/>
        </p:nvGrpSpPr>
        <p:grpSpPr>
          <a:xfrm>
            <a:off x="3013784" y="1426826"/>
            <a:ext cx="1490831" cy="1046375"/>
            <a:chOff x="677334" y="2422689"/>
            <a:chExt cx="1783062" cy="1418734"/>
          </a:xfrm>
        </p:grpSpPr>
        <p:sp>
          <p:nvSpPr>
            <p:cNvPr id="9" name="Rectangle 8"/>
            <p:cNvSpPr/>
            <p:nvPr/>
          </p:nvSpPr>
          <p:spPr>
            <a:xfrm>
              <a:off x="677334" y="3355942"/>
              <a:ext cx="1783062" cy="48548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0" name="Rectangle 9"/>
            <p:cNvSpPr/>
            <p:nvPr/>
          </p:nvSpPr>
          <p:spPr>
            <a:xfrm>
              <a:off x="923827" y="2422689"/>
              <a:ext cx="339365" cy="9332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1" name="Rectangle 10"/>
            <p:cNvSpPr/>
            <p:nvPr/>
          </p:nvSpPr>
          <p:spPr>
            <a:xfrm>
              <a:off x="1263192" y="2762054"/>
              <a:ext cx="829558" cy="5938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grpSp>
      <p:grpSp>
        <p:nvGrpSpPr>
          <p:cNvPr id="12" name="Group 11"/>
          <p:cNvGrpSpPr/>
          <p:nvPr/>
        </p:nvGrpSpPr>
        <p:grpSpPr>
          <a:xfrm>
            <a:off x="3221743" y="5291653"/>
            <a:ext cx="1490831" cy="1046375"/>
            <a:chOff x="677334" y="2422689"/>
            <a:chExt cx="1783062" cy="1418734"/>
          </a:xfrm>
        </p:grpSpPr>
        <p:sp>
          <p:nvSpPr>
            <p:cNvPr id="13" name="Rectangle 12"/>
            <p:cNvSpPr/>
            <p:nvPr/>
          </p:nvSpPr>
          <p:spPr>
            <a:xfrm>
              <a:off x="677334" y="3355942"/>
              <a:ext cx="1783062" cy="48548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14" name="Rectangle 13"/>
            <p:cNvSpPr/>
            <p:nvPr/>
          </p:nvSpPr>
          <p:spPr>
            <a:xfrm>
              <a:off x="923827" y="2422689"/>
              <a:ext cx="339365" cy="9332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15" name="Rectangle 14"/>
            <p:cNvSpPr/>
            <p:nvPr/>
          </p:nvSpPr>
          <p:spPr>
            <a:xfrm>
              <a:off x="1263192" y="2762054"/>
              <a:ext cx="829558" cy="5938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grpSp>
      <p:grpSp>
        <p:nvGrpSpPr>
          <p:cNvPr id="16" name="Group 15"/>
          <p:cNvGrpSpPr/>
          <p:nvPr/>
        </p:nvGrpSpPr>
        <p:grpSpPr>
          <a:xfrm>
            <a:off x="8594530" y="1372942"/>
            <a:ext cx="1490831" cy="1046375"/>
            <a:chOff x="677334" y="2422689"/>
            <a:chExt cx="1783062" cy="1418734"/>
          </a:xfrm>
        </p:grpSpPr>
        <p:sp>
          <p:nvSpPr>
            <p:cNvPr id="17" name="Rectangle 16"/>
            <p:cNvSpPr/>
            <p:nvPr/>
          </p:nvSpPr>
          <p:spPr>
            <a:xfrm>
              <a:off x="677334" y="3355942"/>
              <a:ext cx="1783062" cy="48548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8" name="Rectangle 17"/>
            <p:cNvSpPr/>
            <p:nvPr/>
          </p:nvSpPr>
          <p:spPr>
            <a:xfrm>
              <a:off x="923827" y="2422689"/>
              <a:ext cx="339365" cy="9332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9" name="Rectangle 18"/>
            <p:cNvSpPr/>
            <p:nvPr/>
          </p:nvSpPr>
          <p:spPr>
            <a:xfrm>
              <a:off x="1263192" y="2762054"/>
              <a:ext cx="829558" cy="5938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grpSp>
      <p:grpSp>
        <p:nvGrpSpPr>
          <p:cNvPr id="20" name="Group 19"/>
          <p:cNvGrpSpPr/>
          <p:nvPr/>
        </p:nvGrpSpPr>
        <p:grpSpPr>
          <a:xfrm>
            <a:off x="8594531" y="5304697"/>
            <a:ext cx="1490831" cy="1046375"/>
            <a:chOff x="677334" y="2422689"/>
            <a:chExt cx="1783062" cy="1418734"/>
          </a:xfrm>
        </p:grpSpPr>
        <p:sp>
          <p:nvSpPr>
            <p:cNvPr id="21" name="Rectangle 20"/>
            <p:cNvSpPr/>
            <p:nvPr/>
          </p:nvSpPr>
          <p:spPr>
            <a:xfrm>
              <a:off x="677334" y="3355942"/>
              <a:ext cx="1783062" cy="48548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22" name="Rectangle 21"/>
            <p:cNvSpPr/>
            <p:nvPr/>
          </p:nvSpPr>
          <p:spPr>
            <a:xfrm>
              <a:off x="923827" y="2422689"/>
              <a:ext cx="339365" cy="9332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sp>
          <p:nvSpPr>
            <p:cNvPr id="23" name="Rectangle 22"/>
            <p:cNvSpPr/>
            <p:nvPr/>
          </p:nvSpPr>
          <p:spPr>
            <a:xfrm>
              <a:off x="1263192" y="2762054"/>
              <a:ext cx="829558" cy="5938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000">
                <a:latin typeface="Montserrat"/>
              </a:endParaRPr>
            </a:p>
          </p:txBody>
        </p:sp>
      </p:grpSp>
      <p:grpSp>
        <p:nvGrpSpPr>
          <p:cNvPr id="24" name="Group 23"/>
          <p:cNvGrpSpPr/>
          <p:nvPr/>
        </p:nvGrpSpPr>
        <p:grpSpPr>
          <a:xfrm>
            <a:off x="4553062" y="2208708"/>
            <a:ext cx="1507157" cy="1351641"/>
            <a:chOff x="1002531" y="3562863"/>
            <a:chExt cx="1507157" cy="1351641"/>
          </a:xfrm>
        </p:grpSpPr>
        <p:sp>
          <p:nvSpPr>
            <p:cNvPr id="25" name="Diagonal Stripe 24"/>
            <p:cNvSpPr/>
            <p:nvPr/>
          </p:nvSpPr>
          <p:spPr>
            <a:xfrm>
              <a:off x="1024644" y="3562863"/>
              <a:ext cx="1485044" cy="1351641"/>
            </a:xfrm>
            <a:prstGeom prst="diagStripe">
              <a:avLst/>
            </a:prstGeom>
          </p:spPr>
          <p:style>
            <a:lnRef idx="2">
              <a:schemeClr val="accent4">
                <a:shade val="50000"/>
              </a:schemeClr>
            </a:lnRef>
            <a:fillRef idx="1">
              <a:schemeClr val="accent4"/>
            </a:fillRef>
            <a:effectRef idx="0">
              <a:schemeClr val="accent4"/>
            </a:effectRef>
            <a:fontRef idx="minor">
              <a:schemeClr val="lt1"/>
            </a:fontRef>
          </p:style>
          <p:txBody>
            <a:bodyPr tIns="90000" bIns="90000" rtlCol="0" anchor="ctr">
              <a:noAutofit/>
            </a:bodyPr>
            <a:lstStyle/>
            <a:p>
              <a:pPr algn="ctr"/>
              <a:endParaRPr lang="en-US" sz="2000" dirty="0">
                <a:solidFill>
                  <a:schemeClr val="tx1"/>
                </a:solidFill>
                <a:latin typeface="Montserrat"/>
              </a:endParaRPr>
            </a:p>
          </p:txBody>
        </p:sp>
        <p:sp>
          <p:nvSpPr>
            <p:cNvPr id="26" name="TextBox 25"/>
            <p:cNvSpPr txBox="1"/>
            <p:nvPr/>
          </p:nvSpPr>
          <p:spPr>
            <a:xfrm rot="19051153">
              <a:off x="1002531" y="3831306"/>
              <a:ext cx="1221809" cy="400110"/>
            </a:xfrm>
            <a:prstGeom prst="rect">
              <a:avLst/>
            </a:prstGeom>
            <a:noFill/>
          </p:spPr>
          <p:txBody>
            <a:bodyPr wrap="none" rtlCol="0">
              <a:spAutoFit/>
            </a:bodyPr>
            <a:lstStyle/>
            <a:p>
              <a:r>
                <a:rPr lang="ru-RU" sz="2000" dirty="0" smtClean="0">
                  <a:latin typeface="Montserrat"/>
                </a:rPr>
                <a:t>Плагины</a:t>
              </a:r>
              <a:endParaRPr lang="en-US" sz="2000" dirty="0">
                <a:latin typeface="Montserrat"/>
              </a:endParaRPr>
            </a:p>
          </p:txBody>
        </p:sp>
      </p:grpSp>
      <p:grpSp>
        <p:nvGrpSpPr>
          <p:cNvPr id="27" name="Group 26"/>
          <p:cNvGrpSpPr/>
          <p:nvPr/>
        </p:nvGrpSpPr>
        <p:grpSpPr>
          <a:xfrm rot="5400000">
            <a:off x="7326187" y="2284270"/>
            <a:ext cx="1507156" cy="1351641"/>
            <a:chOff x="1002532" y="3562863"/>
            <a:chExt cx="1507156" cy="1351641"/>
          </a:xfrm>
        </p:grpSpPr>
        <p:sp>
          <p:nvSpPr>
            <p:cNvPr id="28" name="Diagonal Stripe 27"/>
            <p:cNvSpPr/>
            <p:nvPr/>
          </p:nvSpPr>
          <p:spPr>
            <a:xfrm>
              <a:off x="1024644" y="3562863"/>
              <a:ext cx="1485044" cy="1351641"/>
            </a:xfrm>
            <a:prstGeom prst="diagStripe">
              <a:avLst/>
            </a:prstGeom>
          </p:spPr>
          <p:style>
            <a:lnRef idx="2">
              <a:schemeClr val="accent4">
                <a:shade val="50000"/>
              </a:schemeClr>
            </a:lnRef>
            <a:fillRef idx="1">
              <a:schemeClr val="accent4"/>
            </a:fillRef>
            <a:effectRef idx="0">
              <a:schemeClr val="accent4"/>
            </a:effectRef>
            <a:fontRef idx="minor">
              <a:schemeClr val="lt1"/>
            </a:fontRef>
          </p:style>
          <p:txBody>
            <a:bodyPr tIns="90000" bIns="90000" rtlCol="0" anchor="ctr">
              <a:noAutofit/>
            </a:bodyPr>
            <a:lstStyle/>
            <a:p>
              <a:pPr algn="ctr"/>
              <a:endParaRPr lang="en-US" sz="2000" dirty="0">
                <a:solidFill>
                  <a:schemeClr val="tx1"/>
                </a:solidFill>
                <a:latin typeface="Montserrat"/>
              </a:endParaRPr>
            </a:p>
          </p:txBody>
        </p:sp>
        <p:sp>
          <p:nvSpPr>
            <p:cNvPr id="29" name="TextBox 28"/>
            <p:cNvSpPr txBox="1"/>
            <p:nvPr/>
          </p:nvSpPr>
          <p:spPr>
            <a:xfrm rot="19051153">
              <a:off x="1002532" y="3831307"/>
              <a:ext cx="1221809" cy="400110"/>
            </a:xfrm>
            <a:prstGeom prst="rect">
              <a:avLst/>
            </a:prstGeom>
            <a:noFill/>
          </p:spPr>
          <p:txBody>
            <a:bodyPr wrap="none" rtlCol="0">
              <a:spAutoFit/>
            </a:bodyPr>
            <a:lstStyle/>
            <a:p>
              <a:r>
                <a:rPr lang="ru-RU" sz="2000" dirty="0" smtClean="0">
                  <a:latin typeface="Montserrat"/>
                </a:rPr>
                <a:t>Плагины</a:t>
              </a:r>
              <a:endParaRPr lang="en-US" sz="2000" dirty="0">
                <a:latin typeface="Montserrat"/>
              </a:endParaRPr>
            </a:p>
          </p:txBody>
        </p:sp>
      </p:grpSp>
      <p:grpSp>
        <p:nvGrpSpPr>
          <p:cNvPr id="30" name="Group 29"/>
          <p:cNvGrpSpPr/>
          <p:nvPr/>
        </p:nvGrpSpPr>
        <p:grpSpPr>
          <a:xfrm rot="16200000">
            <a:off x="4497419" y="4298459"/>
            <a:ext cx="1507156" cy="1351641"/>
            <a:chOff x="1002532" y="3562863"/>
            <a:chExt cx="1507156" cy="1351641"/>
          </a:xfrm>
        </p:grpSpPr>
        <p:sp>
          <p:nvSpPr>
            <p:cNvPr id="31" name="Diagonal Stripe 30"/>
            <p:cNvSpPr/>
            <p:nvPr/>
          </p:nvSpPr>
          <p:spPr>
            <a:xfrm>
              <a:off x="1024644" y="3562863"/>
              <a:ext cx="1485044" cy="1351641"/>
            </a:xfrm>
            <a:prstGeom prst="diagStripe">
              <a:avLst/>
            </a:prstGeom>
          </p:spPr>
          <p:style>
            <a:lnRef idx="2">
              <a:schemeClr val="accent4">
                <a:shade val="50000"/>
              </a:schemeClr>
            </a:lnRef>
            <a:fillRef idx="1">
              <a:schemeClr val="accent4"/>
            </a:fillRef>
            <a:effectRef idx="0">
              <a:schemeClr val="accent4"/>
            </a:effectRef>
            <a:fontRef idx="minor">
              <a:schemeClr val="lt1"/>
            </a:fontRef>
          </p:style>
          <p:txBody>
            <a:bodyPr tIns="90000" bIns="90000" rtlCol="0" anchor="ctr">
              <a:noAutofit/>
            </a:bodyPr>
            <a:lstStyle/>
            <a:p>
              <a:pPr algn="ctr"/>
              <a:endParaRPr lang="en-US" sz="2000" dirty="0">
                <a:solidFill>
                  <a:schemeClr val="tx1"/>
                </a:solidFill>
                <a:latin typeface="Montserrat"/>
              </a:endParaRPr>
            </a:p>
          </p:txBody>
        </p:sp>
        <p:sp>
          <p:nvSpPr>
            <p:cNvPr id="32" name="TextBox 31"/>
            <p:cNvSpPr txBox="1"/>
            <p:nvPr/>
          </p:nvSpPr>
          <p:spPr>
            <a:xfrm rot="19051153">
              <a:off x="1002532" y="3831307"/>
              <a:ext cx="1221809" cy="400110"/>
            </a:xfrm>
            <a:prstGeom prst="rect">
              <a:avLst/>
            </a:prstGeom>
            <a:noFill/>
          </p:spPr>
          <p:txBody>
            <a:bodyPr wrap="none" rtlCol="0">
              <a:spAutoFit/>
            </a:bodyPr>
            <a:lstStyle/>
            <a:p>
              <a:r>
                <a:rPr lang="ru-RU" sz="2000" dirty="0" smtClean="0">
                  <a:latin typeface="Montserrat"/>
                </a:rPr>
                <a:t>Плагины</a:t>
              </a:r>
              <a:endParaRPr lang="en-US" sz="2000" dirty="0">
                <a:latin typeface="Montserrat"/>
              </a:endParaRPr>
            </a:p>
          </p:txBody>
        </p:sp>
      </p:grpSp>
      <p:grpSp>
        <p:nvGrpSpPr>
          <p:cNvPr id="33" name="Group 32"/>
          <p:cNvGrpSpPr/>
          <p:nvPr/>
        </p:nvGrpSpPr>
        <p:grpSpPr>
          <a:xfrm rot="10800000">
            <a:off x="7258972" y="4300225"/>
            <a:ext cx="1507156" cy="1351641"/>
            <a:chOff x="1002532" y="3562863"/>
            <a:chExt cx="1507156" cy="1351641"/>
          </a:xfrm>
        </p:grpSpPr>
        <p:sp>
          <p:nvSpPr>
            <p:cNvPr id="34" name="Diagonal Stripe 33"/>
            <p:cNvSpPr/>
            <p:nvPr/>
          </p:nvSpPr>
          <p:spPr>
            <a:xfrm>
              <a:off x="1024644" y="3562863"/>
              <a:ext cx="1485044" cy="1351641"/>
            </a:xfrm>
            <a:prstGeom prst="diagStripe">
              <a:avLst/>
            </a:prstGeom>
          </p:spPr>
          <p:style>
            <a:lnRef idx="2">
              <a:schemeClr val="accent4">
                <a:shade val="50000"/>
              </a:schemeClr>
            </a:lnRef>
            <a:fillRef idx="1">
              <a:schemeClr val="accent4"/>
            </a:fillRef>
            <a:effectRef idx="0">
              <a:schemeClr val="accent4"/>
            </a:effectRef>
            <a:fontRef idx="minor">
              <a:schemeClr val="lt1"/>
            </a:fontRef>
          </p:style>
          <p:txBody>
            <a:bodyPr tIns="90000" bIns="90000" rtlCol="0" anchor="ctr">
              <a:noAutofit/>
            </a:bodyPr>
            <a:lstStyle/>
            <a:p>
              <a:pPr algn="ctr"/>
              <a:endParaRPr lang="en-US" sz="2000" dirty="0">
                <a:solidFill>
                  <a:schemeClr val="tx1"/>
                </a:solidFill>
                <a:latin typeface="Montserrat"/>
              </a:endParaRPr>
            </a:p>
          </p:txBody>
        </p:sp>
        <p:sp>
          <p:nvSpPr>
            <p:cNvPr id="35" name="TextBox 34"/>
            <p:cNvSpPr txBox="1"/>
            <p:nvPr/>
          </p:nvSpPr>
          <p:spPr>
            <a:xfrm rot="19051153">
              <a:off x="1002532" y="3831307"/>
              <a:ext cx="1221809" cy="400110"/>
            </a:xfrm>
            <a:prstGeom prst="rect">
              <a:avLst/>
            </a:prstGeom>
            <a:noFill/>
          </p:spPr>
          <p:txBody>
            <a:bodyPr wrap="none" rtlCol="0">
              <a:spAutoFit/>
            </a:bodyPr>
            <a:lstStyle/>
            <a:p>
              <a:r>
                <a:rPr lang="ru-RU" sz="2000" dirty="0" smtClean="0">
                  <a:latin typeface="Montserrat"/>
                </a:rPr>
                <a:t>Плагины</a:t>
              </a:r>
              <a:endParaRPr lang="en-US" sz="2000" dirty="0">
                <a:latin typeface="Montserrat"/>
              </a:endParaRPr>
            </a:p>
          </p:txBody>
        </p:sp>
      </p:grpSp>
    </p:spTree>
    <p:extLst>
      <p:ext uri="{BB962C8B-B14F-4D97-AF65-F5344CB8AC3E}">
        <p14:creationId xmlns:p14="http://schemas.microsoft.com/office/powerpoint/2010/main" val="126857325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Адаптивность-2</a:t>
            </a:r>
            <a:endParaRPr lang="ru-RU" sz="2000" spc="-1" dirty="0">
              <a:solidFill>
                <a:srgbClr val="004892"/>
              </a:solidFill>
              <a:latin typeface="Montserrat Bold"/>
            </a:endParaRPr>
          </a:p>
        </p:txBody>
      </p:sp>
      <p:grpSp>
        <p:nvGrpSpPr>
          <p:cNvPr id="29" name="Group 28"/>
          <p:cNvGrpSpPr/>
          <p:nvPr/>
        </p:nvGrpSpPr>
        <p:grpSpPr>
          <a:xfrm>
            <a:off x="876695" y="3485544"/>
            <a:ext cx="2978870" cy="1865925"/>
            <a:chOff x="1828800" y="2215881"/>
            <a:chExt cx="5689071" cy="3378924"/>
          </a:xfrm>
        </p:grpSpPr>
        <p:sp>
          <p:nvSpPr>
            <p:cNvPr id="30" name="Rectangle 29"/>
            <p:cNvSpPr/>
            <p:nvPr/>
          </p:nvSpPr>
          <p:spPr>
            <a:xfrm>
              <a:off x="1828800" y="502448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1" name="Rectangle 30"/>
            <p:cNvSpPr/>
            <p:nvPr/>
          </p:nvSpPr>
          <p:spPr>
            <a:xfrm>
              <a:off x="3300951" y="502448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2" name="Rectangle 31"/>
            <p:cNvSpPr/>
            <p:nvPr/>
          </p:nvSpPr>
          <p:spPr>
            <a:xfrm>
              <a:off x="4773102" y="502919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3" name="Rectangle 32"/>
            <p:cNvSpPr/>
            <p:nvPr/>
          </p:nvSpPr>
          <p:spPr>
            <a:xfrm>
              <a:off x="6245253" y="502448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4" name="Rectangle 33"/>
            <p:cNvSpPr/>
            <p:nvPr/>
          </p:nvSpPr>
          <p:spPr>
            <a:xfrm>
              <a:off x="1828800" y="4326902"/>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5" name="Rectangle 34"/>
            <p:cNvSpPr/>
            <p:nvPr/>
          </p:nvSpPr>
          <p:spPr>
            <a:xfrm>
              <a:off x="3300951" y="4326903"/>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6" name="Rectangle 35"/>
            <p:cNvSpPr/>
            <p:nvPr/>
          </p:nvSpPr>
          <p:spPr>
            <a:xfrm>
              <a:off x="4769849" y="4326902"/>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7" name="Rectangle 36"/>
            <p:cNvSpPr/>
            <p:nvPr/>
          </p:nvSpPr>
          <p:spPr>
            <a:xfrm>
              <a:off x="6245253" y="4324544"/>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8" name="Rectangle 37"/>
            <p:cNvSpPr/>
            <p:nvPr/>
          </p:nvSpPr>
          <p:spPr>
            <a:xfrm>
              <a:off x="1828800" y="3621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39" name="Rectangle 38"/>
            <p:cNvSpPr/>
            <p:nvPr/>
          </p:nvSpPr>
          <p:spPr>
            <a:xfrm>
              <a:off x="3300951" y="3621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0" name="Rectangle 39"/>
            <p:cNvSpPr/>
            <p:nvPr/>
          </p:nvSpPr>
          <p:spPr>
            <a:xfrm>
              <a:off x="4773102" y="362578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1" name="Rectangle 40"/>
            <p:cNvSpPr/>
            <p:nvPr/>
          </p:nvSpPr>
          <p:spPr>
            <a:xfrm>
              <a:off x="6245253" y="3621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2" name="Rectangle 41"/>
            <p:cNvSpPr/>
            <p:nvPr/>
          </p:nvSpPr>
          <p:spPr>
            <a:xfrm>
              <a:off x="1828800" y="2923485"/>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3" name="Rectangle 42"/>
            <p:cNvSpPr/>
            <p:nvPr/>
          </p:nvSpPr>
          <p:spPr>
            <a:xfrm>
              <a:off x="3300951" y="2923486"/>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4" name="Rectangle 43"/>
            <p:cNvSpPr/>
            <p:nvPr/>
          </p:nvSpPr>
          <p:spPr>
            <a:xfrm>
              <a:off x="4769849" y="2923485"/>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5" name="Rectangle 44"/>
            <p:cNvSpPr/>
            <p:nvPr/>
          </p:nvSpPr>
          <p:spPr>
            <a:xfrm>
              <a:off x="6245253" y="292112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6" name="Rectangle 45"/>
            <p:cNvSpPr/>
            <p:nvPr/>
          </p:nvSpPr>
          <p:spPr>
            <a:xfrm>
              <a:off x="1828800" y="2218239"/>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7" name="Rectangle 46"/>
            <p:cNvSpPr/>
            <p:nvPr/>
          </p:nvSpPr>
          <p:spPr>
            <a:xfrm>
              <a:off x="3300951" y="221824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8" name="Rectangle 47"/>
            <p:cNvSpPr/>
            <p:nvPr/>
          </p:nvSpPr>
          <p:spPr>
            <a:xfrm>
              <a:off x="4769849" y="2218239"/>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49" name="Rectangle 48"/>
            <p:cNvSpPr/>
            <p:nvPr/>
          </p:nvSpPr>
          <p:spPr>
            <a:xfrm>
              <a:off x="6245253" y="2215881"/>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grpSp>
      <p:grpSp>
        <p:nvGrpSpPr>
          <p:cNvPr id="50" name="Group 49"/>
          <p:cNvGrpSpPr/>
          <p:nvPr/>
        </p:nvGrpSpPr>
        <p:grpSpPr>
          <a:xfrm>
            <a:off x="1711096" y="2019659"/>
            <a:ext cx="1490831" cy="1046375"/>
            <a:chOff x="677334" y="2422689"/>
            <a:chExt cx="1783062" cy="1418734"/>
          </a:xfrm>
        </p:grpSpPr>
        <p:sp>
          <p:nvSpPr>
            <p:cNvPr id="51" name="Rectangle 50"/>
            <p:cNvSpPr/>
            <p:nvPr/>
          </p:nvSpPr>
          <p:spPr>
            <a:xfrm>
              <a:off x="677334" y="3355942"/>
              <a:ext cx="1783062" cy="485481"/>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2" name="Rectangle 51"/>
            <p:cNvSpPr/>
            <p:nvPr/>
          </p:nvSpPr>
          <p:spPr>
            <a:xfrm>
              <a:off x="923827" y="2422689"/>
              <a:ext cx="339365" cy="93325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53" name="Rectangle 52"/>
            <p:cNvSpPr/>
            <p:nvPr/>
          </p:nvSpPr>
          <p:spPr>
            <a:xfrm>
              <a:off x="1263192" y="2762054"/>
              <a:ext cx="829558" cy="59388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grpSp>
      <p:grpSp>
        <p:nvGrpSpPr>
          <p:cNvPr id="54" name="Group 53"/>
          <p:cNvGrpSpPr/>
          <p:nvPr/>
        </p:nvGrpSpPr>
        <p:grpSpPr>
          <a:xfrm>
            <a:off x="7783171" y="2019659"/>
            <a:ext cx="1490831" cy="1046375"/>
            <a:chOff x="677334" y="2422689"/>
            <a:chExt cx="1783062" cy="1418734"/>
          </a:xfrm>
        </p:grpSpPr>
        <p:sp>
          <p:nvSpPr>
            <p:cNvPr id="55" name="Rectangle 54"/>
            <p:cNvSpPr/>
            <p:nvPr/>
          </p:nvSpPr>
          <p:spPr>
            <a:xfrm>
              <a:off x="677334" y="3355942"/>
              <a:ext cx="1783062" cy="485481"/>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6" name="Rectangle 55"/>
            <p:cNvSpPr/>
            <p:nvPr/>
          </p:nvSpPr>
          <p:spPr>
            <a:xfrm>
              <a:off x="923827" y="2422689"/>
              <a:ext cx="339365" cy="93325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7" name="Rectangle 56"/>
            <p:cNvSpPr/>
            <p:nvPr/>
          </p:nvSpPr>
          <p:spPr>
            <a:xfrm>
              <a:off x="1263192" y="2762054"/>
              <a:ext cx="829558" cy="59388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sp>
        <p:nvSpPr>
          <p:cNvPr id="58" name="Right Arrow 57"/>
          <p:cNvSpPr/>
          <p:nvPr/>
        </p:nvSpPr>
        <p:spPr>
          <a:xfrm>
            <a:off x="4440025" y="3997333"/>
            <a:ext cx="1875934" cy="791851"/>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pSp>
        <p:nvGrpSpPr>
          <p:cNvPr id="59" name="Group 58"/>
          <p:cNvGrpSpPr/>
          <p:nvPr/>
        </p:nvGrpSpPr>
        <p:grpSpPr>
          <a:xfrm>
            <a:off x="7130375" y="3482943"/>
            <a:ext cx="2978870" cy="2248547"/>
            <a:chOff x="7130375" y="3482943"/>
            <a:chExt cx="2978870" cy="2248547"/>
          </a:xfrm>
        </p:grpSpPr>
        <p:grpSp>
          <p:nvGrpSpPr>
            <p:cNvPr id="60" name="Group 59"/>
            <p:cNvGrpSpPr/>
            <p:nvPr/>
          </p:nvGrpSpPr>
          <p:grpSpPr>
            <a:xfrm>
              <a:off x="7130375" y="3482943"/>
              <a:ext cx="2978870" cy="1865925"/>
              <a:chOff x="1828800" y="2215881"/>
              <a:chExt cx="5689071" cy="3378924"/>
            </a:xfrm>
          </p:grpSpPr>
          <p:sp>
            <p:nvSpPr>
              <p:cNvPr id="62" name="Rectangle 61"/>
              <p:cNvSpPr/>
              <p:nvPr/>
            </p:nvSpPr>
            <p:spPr>
              <a:xfrm>
                <a:off x="1828800" y="502448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3" name="Rectangle 62"/>
              <p:cNvSpPr/>
              <p:nvPr/>
            </p:nvSpPr>
            <p:spPr>
              <a:xfrm>
                <a:off x="3300951" y="502448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4" name="Rectangle 63"/>
              <p:cNvSpPr/>
              <p:nvPr/>
            </p:nvSpPr>
            <p:spPr>
              <a:xfrm>
                <a:off x="4773102" y="502919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5" name="Rectangle 64"/>
              <p:cNvSpPr/>
              <p:nvPr/>
            </p:nvSpPr>
            <p:spPr>
              <a:xfrm>
                <a:off x="6245253" y="502448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6" name="Rectangle 65"/>
              <p:cNvSpPr/>
              <p:nvPr/>
            </p:nvSpPr>
            <p:spPr>
              <a:xfrm>
                <a:off x="1828800" y="4326902"/>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7" name="Rectangle 66"/>
              <p:cNvSpPr/>
              <p:nvPr/>
            </p:nvSpPr>
            <p:spPr>
              <a:xfrm>
                <a:off x="4769849" y="4326902"/>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8" name="Rectangle 67"/>
              <p:cNvSpPr/>
              <p:nvPr/>
            </p:nvSpPr>
            <p:spPr>
              <a:xfrm>
                <a:off x="6245253" y="4324544"/>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69" name="Rectangle 68"/>
              <p:cNvSpPr/>
              <p:nvPr/>
            </p:nvSpPr>
            <p:spPr>
              <a:xfrm>
                <a:off x="1828800" y="3621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0" name="Rectangle 69"/>
              <p:cNvSpPr/>
              <p:nvPr/>
            </p:nvSpPr>
            <p:spPr>
              <a:xfrm>
                <a:off x="3300951" y="3621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1" name="Rectangle 70"/>
              <p:cNvSpPr/>
              <p:nvPr/>
            </p:nvSpPr>
            <p:spPr>
              <a:xfrm>
                <a:off x="4773102" y="3625780"/>
                <a:ext cx="1272618" cy="56560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2" name="Rectangle 71"/>
              <p:cNvSpPr/>
              <p:nvPr/>
            </p:nvSpPr>
            <p:spPr>
              <a:xfrm>
                <a:off x="6245253" y="3621070"/>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3" name="Rectangle 72"/>
              <p:cNvSpPr/>
              <p:nvPr/>
            </p:nvSpPr>
            <p:spPr>
              <a:xfrm>
                <a:off x="1828800" y="2923485"/>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4" name="Rectangle 73"/>
              <p:cNvSpPr/>
              <p:nvPr/>
            </p:nvSpPr>
            <p:spPr>
              <a:xfrm>
                <a:off x="3300951" y="2923486"/>
                <a:ext cx="1272618" cy="56560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5" name="Rectangle 74"/>
              <p:cNvSpPr/>
              <p:nvPr/>
            </p:nvSpPr>
            <p:spPr>
              <a:xfrm>
                <a:off x="4769849" y="2923485"/>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6" name="Rectangle 75"/>
              <p:cNvSpPr/>
              <p:nvPr/>
            </p:nvSpPr>
            <p:spPr>
              <a:xfrm>
                <a:off x="6245253" y="2921127"/>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7" name="Rectangle 76"/>
              <p:cNvSpPr/>
              <p:nvPr/>
            </p:nvSpPr>
            <p:spPr>
              <a:xfrm>
                <a:off x="1828800" y="2218239"/>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8" name="Rectangle 77"/>
              <p:cNvSpPr/>
              <p:nvPr/>
            </p:nvSpPr>
            <p:spPr>
              <a:xfrm>
                <a:off x="3300951" y="2218240"/>
                <a:ext cx="1272618" cy="56560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79" name="Rectangle 78"/>
              <p:cNvSpPr/>
              <p:nvPr/>
            </p:nvSpPr>
            <p:spPr>
              <a:xfrm>
                <a:off x="4769849" y="2218239"/>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0" name="Rectangle 79"/>
              <p:cNvSpPr/>
              <p:nvPr/>
            </p:nvSpPr>
            <p:spPr>
              <a:xfrm>
                <a:off x="6245253" y="2215881"/>
                <a:ext cx="1272618" cy="56560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grpSp>
        <p:sp>
          <p:nvSpPr>
            <p:cNvPr id="61" name="Rectangle 60"/>
            <p:cNvSpPr/>
            <p:nvPr/>
          </p:nvSpPr>
          <p:spPr>
            <a:xfrm>
              <a:off x="7130375" y="5419147"/>
              <a:ext cx="666359" cy="312343"/>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26921976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Плагины</a:t>
            </a:r>
            <a:r>
              <a:rPr lang="ru-RU" sz="2000" spc="-1" dirty="0">
                <a:solidFill>
                  <a:srgbClr val="004892"/>
                </a:solidFill>
                <a:latin typeface="Montserrat Bold"/>
              </a:rPr>
              <a:t>. Достоинства</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Простая </a:t>
            </a:r>
            <a:r>
              <a:rPr lang="ru-RU" sz="2000" spc="-1" dirty="0" smtClean="0">
                <a:solidFill>
                  <a:srgbClr val="262626"/>
                </a:solidFill>
                <a:latin typeface="Montserrat"/>
              </a:rPr>
              <a:t>заменимость модулей.</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Независимая разработка (разработку плагинов можно отдать сторонним разработчикам</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Простая расширяемость системы (периодические релизы версий без необходимости переустановки софта или иных манипуляций в системе</a:t>
            </a:r>
            <a:r>
              <a:rPr lang="ru-RU" sz="2000" spc="-1" dirty="0" smtClean="0">
                <a:solidFill>
                  <a:srgbClr val="262626"/>
                </a:solidFill>
                <a:latin typeface="Montserrat"/>
              </a:rPr>
              <a:t>).</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Уменьшение ресурсов при компиляции и </a:t>
            </a:r>
            <a:r>
              <a:rPr lang="ru-RU" sz="2000" spc="-1" dirty="0" smtClean="0">
                <a:solidFill>
                  <a:srgbClr val="262626"/>
                </a:solidFill>
                <a:latin typeface="Montserrat"/>
              </a:rPr>
              <a:t>отладке.</a:t>
            </a:r>
            <a:endParaRPr lang="ru-RU" sz="2000" spc="-1" dirty="0">
              <a:solidFill>
                <a:srgbClr val="262626"/>
              </a:solidFill>
              <a:latin typeface="Montserrat"/>
            </a:endParaRPr>
          </a:p>
        </p:txBody>
      </p:sp>
    </p:spTree>
    <p:extLst>
      <p:ext uri="{BB962C8B-B14F-4D97-AF65-F5344CB8AC3E}">
        <p14:creationId xmlns:p14="http://schemas.microsoft.com/office/powerpoint/2010/main" val="417001019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Плагины</a:t>
            </a:r>
            <a:r>
              <a:rPr lang="ru-RU" sz="2000" spc="-1" dirty="0">
                <a:solidFill>
                  <a:srgbClr val="004892"/>
                </a:solidFill>
                <a:latin typeface="Montserrat Bold"/>
              </a:rPr>
              <a:t>. Недостатки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Сложность в построении архитектуры и зависимостей между </a:t>
            </a:r>
            <a:r>
              <a:rPr lang="ru-RU" sz="2000" spc="-1" dirty="0" smtClean="0">
                <a:solidFill>
                  <a:srgbClr val="262626"/>
                </a:solidFill>
                <a:latin typeface="Montserrat"/>
              </a:rPr>
              <a:t>плагинами.</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Требуется тестирование на уровне взаимодействия </a:t>
            </a:r>
            <a:r>
              <a:rPr lang="ru-RU" sz="2000" spc="-1" dirty="0" smtClean="0">
                <a:solidFill>
                  <a:srgbClr val="262626"/>
                </a:solidFill>
                <a:latin typeface="Montserrat"/>
              </a:rPr>
              <a:t>плагинов.</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smtClean="0">
                <a:solidFill>
                  <a:srgbClr val="262626"/>
                </a:solidFill>
                <a:latin typeface="Montserrat"/>
              </a:rPr>
              <a:t>Неприменимость </a:t>
            </a:r>
            <a:r>
              <a:rPr lang="ru-RU" sz="2000" spc="-1" dirty="0">
                <a:solidFill>
                  <a:srgbClr val="262626"/>
                </a:solidFill>
                <a:latin typeface="Montserrat"/>
              </a:rPr>
              <a:t>плагинов для разных версий </a:t>
            </a:r>
            <a:r>
              <a:rPr lang="ru-RU" sz="2000" spc="-1" dirty="0" smtClean="0">
                <a:solidFill>
                  <a:srgbClr val="262626"/>
                </a:solidFill>
                <a:latin typeface="Montserrat"/>
              </a:rPr>
              <a:t>продукта.</a:t>
            </a:r>
            <a:endParaRPr lang="ru-RU" sz="2000" spc="-1" dirty="0">
              <a:solidFill>
                <a:srgbClr val="262626"/>
              </a:solidFill>
              <a:latin typeface="Montserrat"/>
            </a:endParaRPr>
          </a:p>
        </p:txBody>
      </p:sp>
    </p:spTree>
    <p:extLst>
      <p:ext uri="{BB962C8B-B14F-4D97-AF65-F5344CB8AC3E}">
        <p14:creationId xmlns:p14="http://schemas.microsoft.com/office/powerpoint/2010/main" val="4654514"/>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Плагины</a:t>
            </a:r>
            <a:r>
              <a:rPr lang="ru-RU" sz="2000" spc="-1" dirty="0">
                <a:solidFill>
                  <a:srgbClr val="004892"/>
                </a:solidFill>
                <a:latin typeface="Montserrat Bold"/>
              </a:rPr>
              <a:t>. Как сделать плагин</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342900" indent="-342900" algn="just">
              <a:lnSpc>
                <a:spcPct val="100000"/>
              </a:lnSpc>
              <a:buFont typeface="Wingdings" panose="05000000000000000000" pitchFamily="2" charset="2"/>
              <a:buChar char="§"/>
            </a:pPr>
            <a:r>
              <a:rPr lang="ru-RU" sz="2000" spc="-1" dirty="0">
                <a:solidFill>
                  <a:srgbClr val="262626"/>
                </a:solidFill>
                <a:latin typeface="Montserrat"/>
              </a:rPr>
              <a:t>«Соглашение» по работе плагина, как система может его «использовать», что может делать </a:t>
            </a:r>
            <a:r>
              <a:rPr lang="ru-RU" sz="2000" spc="-1" dirty="0" smtClean="0">
                <a:solidFill>
                  <a:srgbClr val="262626"/>
                </a:solidFill>
                <a:latin typeface="Montserrat"/>
              </a:rPr>
              <a:t>плагин.</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Реализация плагином этого «соглашения</a:t>
            </a:r>
            <a:r>
              <a:rPr lang="ru-RU" sz="2000" spc="-1" dirty="0" smtClean="0">
                <a:solidFill>
                  <a:srgbClr val="262626"/>
                </a:solidFill>
                <a:latin typeface="Montserrat"/>
              </a:rPr>
              <a:t>» (сам плагин).</a:t>
            </a:r>
            <a:endParaRPr lang="ru-RU" sz="2000" spc="-1" dirty="0">
              <a:solidFill>
                <a:srgbClr val="262626"/>
              </a:solidFill>
              <a:latin typeface="Montserrat"/>
            </a:endParaRPr>
          </a:p>
          <a:p>
            <a:pPr marL="342900" indent="-342900" algn="just">
              <a:lnSpc>
                <a:spcPct val="100000"/>
              </a:lnSpc>
              <a:buFont typeface="Wingdings" panose="05000000000000000000" pitchFamily="2" charset="2"/>
              <a:buChar char="§"/>
            </a:pPr>
            <a:r>
              <a:rPr lang="ru-RU" sz="2000" spc="-1" dirty="0">
                <a:solidFill>
                  <a:srgbClr val="262626"/>
                </a:solidFill>
                <a:latin typeface="Montserrat"/>
              </a:rPr>
              <a:t>«Подключение» плагина в </a:t>
            </a:r>
            <a:r>
              <a:rPr lang="ru-RU" sz="2000" spc="-1" dirty="0" smtClean="0">
                <a:solidFill>
                  <a:srgbClr val="262626"/>
                </a:solidFill>
                <a:latin typeface="Montserrat"/>
              </a:rPr>
              <a:t>систему.</a:t>
            </a:r>
            <a:endParaRPr lang="ru-RU" sz="2000" spc="-1" dirty="0">
              <a:solidFill>
                <a:srgbClr val="262626"/>
              </a:solidFill>
              <a:latin typeface="Montserrat"/>
            </a:endParaRPr>
          </a:p>
        </p:txBody>
      </p:sp>
    </p:spTree>
    <p:extLst>
      <p:ext uri="{BB962C8B-B14F-4D97-AF65-F5344CB8AC3E}">
        <p14:creationId xmlns:p14="http://schemas.microsoft.com/office/powerpoint/2010/main" val="27206927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Managed Extensibility Framework</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en-US" sz="2000" spc="-1" dirty="0">
                <a:solidFill>
                  <a:srgbClr val="262626"/>
                </a:solidFill>
                <a:latin typeface="Montserrat"/>
              </a:rPr>
              <a:t>Managed Extensibility </a:t>
            </a:r>
            <a:r>
              <a:rPr lang="en-US" sz="2000" spc="-1" dirty="0" smtClean="0">
                <a:solidFill>
                  <a:srgbClr val="262626"/>
                </a:solidFill>
                <a:latin typeface="Montserrat"/>
              </a:rPr>
              <a:t>Framework</a:t>
            </a:r>
            <a:r>
              <a:rPr lang="ru-RU" sz="2000" spc="-1" dirty="0" smtClean="0">
                <a:solidFill>
                  <a:srgbClr val="262626"/>
                </a:solidFill>
                <a:latin typeface="Montserrat"/>
              </a:rPr>
              <a:t> – это </a:t>
            </a:r>
            <a:r>
              <a:rPr lang="ru-RU" sz="2000" spc="-1" dirty="0">
                <a:solidFill>
                  <a:srgbClr val="262626"/>
                </a:solidFill>
                <a:latin typeface="Montserrat"/>
              </a:rPr>
              <a:t>библиотека для создания простых расширяемых приложений. Она позволяет разработчикам приложений находить и использовать расширения без каких-либо настроек. </a:t>
            </a:r>
          </a:p>
          <a:p>
            <a:pPr algn="just">
              <a:lnSpc>
                <a:spcPct val="100000"/>
              </a:lnSpc>
            </a:pPr>
            <a:r>
              <a:rPr lang="ru-RU" sz="2000" spc="-1" dirty="0">
                <a:solidFill>
                  <a:srgbClr val="262626"/>
                </a:solidFill>
                <a:latin typeface="Montserrat"/>
              </a:rPr>
              <a:t>Она также позволяет разработчикам расширений легко инкапсулировать код и избегать ненадежных жестких зависимостей. </a:t>
            </a:r>
          </a:p>
          <a:p>
            <a:pPr algn="just">
              <a:lnSpc>
                <a:spcPct val="100000"/>
              </a:lnSpc>
            </a:pPr>
            <a:r>
              <a:rPr lang="ru-RU" sz="2000" spc="-1" dirty="0">
                <a:solidFill>
                  <a:srgbClr val="262626"/>
                </a:solidFill>
                <a:latin typeface="Montserrat"/>
              </a:rPr>
              <a:t>MEF позволяет повторно использовать в приложениях не только расширения, но и целые приложения.</a:t>
            </a:r>
          </a:p>
        </p:txBody>
      </p:sp>
    </p:spTree>
    <p:extLst>
      <p:ext uri="{BB962C8B-B14F-4D97-AF65-F5344CB8AC3E}">
        <p14:creationId xmlns:p14="http://schemas.microsoft.com/office/powerpoint/2010/main" val="173820945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Managed Extensibility Framework</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Вместо явной регистрации доступных компонент MEF позволяет обнаруживать их неявным образом –</a:t>
            </a:r>
            <a:r>
              <a:rPr lang="ru-RU" sz="2000" spc="-1" dirty="0" smtClean="0">
                <a:solidFill>
                  <a:srgbClr val="262626"/>
                </a:solidFill>
                <a:latin typeface="Montserrat"/>
              </a:rPr>
              <a:t> </a:t>
            </a:r>
            <a:r>
              <a:rPr lang="ru-RU" sz="2000" spc="-1" dirty="0">
                <a:solidFill>
                  <a:srgbClr val="262626"/>
                </a:solidFill>
                <a:latin typeface="Montserrat"/>
              </a:rPr>
              <a:t>с помощью композиции. Компонент MEF, называемый частью, декларативно указывает как свои зависимости (называемые </a:t>
            </a:r>
            <a:r>
              <a:rPr lang="ru-RU" sz="2000" b="1" spc="-1" dirty="0">
                <a:solidFill>
                  <a:srgbClr val="262626"/>
                </a:solidFill>
                <a:latin typeface="Montserrat"/>
              </a:rPr>
              <a:t>импортом</a:t>
            </a:r>
            <a:r>
              <a:rPr lang="ru-RU" sz="2000" spc="-1" dirty="0">
                <a:solidFill>
                  <a:srgbClr val="262626"/>
                </a:solidFill>
                <a:latin typeface="Montserrat"/>
              </a:rPr>
              <a:t>), так и свои возможности, которые он предоставляет (называемые </a:t>
            </a:r>
            <a:r>
              <a:rPr lang="ru-RU" sz="2000" b="1" spc="-1" dirty="0">
                <a:solidFill>
                  <a:srgbClr val="262626"/>
                </a:solidFill>
                <a:latin typeface="Montserrat"/>
              </a:rPr>
              <a:t>экспортом</a:t>
            </a:r>
            <a:r>
              <a:rPr lang="ru-RU" sz="2000" spc="-1" dirty="0">
                <a:solidFill>
                  <a:srgbClr val="262626"/>
                </a:solidFill>
                <a:latin typeface="Montserrat"/>
              </a:rPr>
              <a:t>). При создании некоторой части обработчик композиции MEF удовлетворяет свои импортируемые компоненты за счет элементов, доступных из других частей</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3019735260"/>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Managed Extensibility Framework</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smtClean="0">
                <a:solidFill>
                  <a:srgbClr val="262626"/>
                </a:solidFill>
                <a:latin typeface="Montserrat"/>
              </a:rPr>
              <a:t>Так </a:t>
            </a:r>
            <a:r>
              <a:rPr lang="ru-RU" sz="2000" spc="-1" dirty="0">
                <a:solidFill>
                  <a:srgbClr val="262626"/>
                </a:solidFill>
                <a:latin typeface="Montserrat"/>
              </a:rPr>
              <a:t>как части MEF декларативно указывают свои возможности, они могут быть обнаружены во время выполнения, то есть, приложение может применять части без жестко кодированных ссылок или ненадежных файлов конфигурации. Платформа MEF позволяет приложениям обнаруживать и анализировать части с помощью своих метаданных без создания экземпляров и даже без загрузки их сборок. В результате нет необходимости четко указывать время и способ загрузки расширений</a:t>
            </a:r>
            <a:r>
              <a:rPr lang="ru-RU" sz="2000" spc="-1" dirty="0" smtClean="0">
                <a:solidFill>
                  <a:srgbClr val="262626"/>
                </a:solidFill>
                <a:latin typeface="Montserrat"/>
              </a:rPr>
              <a:t>.</a:t>
            </a:r>
            <a:endParaRPr lang="ru-RU" sz="2000" spc="-1" dirty="0">
              <a:solidFill>
                <a:srgbClr val="262626"/>
              </a:solidFill>
              <a:latin typeface="Montserrat"/>
            </a:endParaRPr>
          </a:p>
        </p:txBody>
      </p:sp>
    </p:spTree>
    <p:extLst>
      <p:ext uri="{BB962C8B-B14F-4D97-AF65-F5344CB8AC3E}">
        <p14:creationId xmlns:p14="http://schemas.microsoft.com/office/powerpoint/2010/main" val="10722463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Managed Extensibility Framework</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Расширяемое приложение, созданное с помощью платформы MEF, объявляет </a:t>
            </a:r>
            <a:r>
              <a:rPr lang="ru-RU" sz="2000" b="1" spc="-1" dirty="0">
                <a:solidFill>
                  <a:srgbClr val="262626"/>
                </a:solidFill>
                <a:latin typeface="Montserrat"/>
              </a:rPr>
              <a:t>импортируемый</a:t>
            </a:r>
            <a:r>
              <a:rPr lang="ru-RU" sz="2000" spc="-1" dirty="0">
                <a:solidFill>
                  <a:srgbClr val="262626"/>
                </a:solidFill>
                <a:latin typeface="Montserrat"/>
              </a:rPr>
              <a:t> элемент, который может быть заполнен компонентами расширения, а также может объявить </a:t>
            </a:r>
            <a:r>
              <a:rPr lang="ru-RU" sz="2000" b="1" spc="-1" dirty="0">
                <a:solidFill>
                  <a:srgbClr val="262626"/>
                </a:solidFill>
                <a:latin typeface="Montserrat"/>
              </a:rPr>
              <a:t>экспортируемые</a:t>
            </a:r>
            <a:r>
              <a:rPr lang="ru-RU" sz="2000" spc="-1" dirty="0">
                <a:solidFill>
                  <a:srgbClr val="262626"/>
                </a:solidFill>
                <a:latin typeface="Montserrat"/>
              </a:rPr>
              <a:t> элементы, позволяющие применять службы приложений для расширений. Каждый компонент расширения объявляет экспортируемый элемент, а также может объявлять импортируемые элементы. Таким образом, сами компоненты расширения автоматически становятся расширяемыми.</a:t>
            </a:r>
          </a:p>
        </p:txBody>
      </p:sp>
    </p:spTree>
    <p:extLst>
      <p:ext uri="{BB962C8B-B14F-4D97-AF65-F5344CB8AC3E}">
        <p14:creationId xmlns:p14="http://schemas.microsoft.com/office/powerpoint/2010/main" val="50726049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2000" spc="-1" dirty="0">
                <a:solidFill>
                  <a:srgbClr val="004892"/>
                </a:solidFill>
                <a:latin typeface="Montserrat Bold"/>
              </a:rPr>
              <a:t>Managed Extensibility </a:t>
            </a:r>
            <a:r>
              <a:rPr lang="en-US" sz="2000" spc="-1" dirty="0" smtClean="0">
                <a:solidFill>
                  <a:srgbClr val="004892"/>
                </a:solidFill>
                <a:latin typeface="Montserrat Bold"/>
              </a:rPr>
              <a:t>Framework</a:t>
            </a:r>
            <a:r>
              <a:rPr lang="ru-RU" sz="2000" spc="-1" dirty="0" smtClean="0">
                <a:solidFill>
                  <a:srgbClr val="004892"/>
                </a:solidFill>
                <a:latin typeface="Montserrat Bold"/>
              </a:rPr>
              <a:t>. </a:t>
            </a:r>
            <a:r>
              <a:rPr lang="ru-RU" sz="2000" spc="-1" dirty="0">
                <a:solidFill>
                  <a:srgbClr val="004892"/>
                </a:solidFill>
                <a:latin typeface="Montserrat Bold"/>
              </a:rPr>
              <a:t>Пример. Программа «Калькулятор</a:t>
            </a:r>
            <a:r>
              <a:rPr lang="ru-RU" sz="2000" spc="-1" dirty="0" smtClean="0">
                <a:solidFill>
                  <a:srgbClr val="004892"/>
                </a:solidFill>
                <a:latin typeface="Montserrat Bold"/>
              </a:rPr>
              <a:t>».</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just">
              <a:lnSpc>
                <a:spcPct val="100000"/>
              </a:lnSpc>
            </a:pPr>
            <a:r>
              <a:rPr lang="ru-RU" sz="2000" spc="-1" dirty="0">
                <a:solidFill>
                  <a:srgbClr val="262626"/>
                </a:solidFill>
                <a:latin typeface="Montserrat"/>
              </a:rPr>
              <a:t>Структурно программа состоит из основной части - формы с обработчиками событий интерфейса, класса менеджера плагинов, инкапсулирующего в себе всю логику загрузки плагинов и предоставления имеющейся в них функциональности, и собственно плагинов –</a:t>
            </a:r>
            <a:r>
              <a:rPr lang="ru-RU" sz="2000" spc="-1" dirty="0" smtClean="0">
                <a:solidFill>
                  <a:srgbClr val="262626"/>
                </a:solidFill>
                <a:latin typeface="Montserrat"/>
              </a:rPr>
              <a:t> </a:t>
            </a:r>
            <a:r>
              <a:rPr lang="ru-RU" sz="2000" spc="-1" dirty="0">
                <a:solidFill>
                  <a:srgbClr val="262626"/>
                </a:solidFill>
                <a:latin typeface="Montserrat"/>
              </a:rPr>
              <a:t>библиотек </a:t>
            </a:r>
            <a:r>
              <a:rPr lang="ru-RU" sz="2000" spc="-1" dirty="0" err="1">
                <a:solidFill>
                  <a:srgbClr val="262626"/>
                </a:solidFill>
                <a:latin typeface="Montserrat"/>
              </a:rPr>
              <a:t>dll</a:t>
            </a:r>
            <a:r>
              <a:rPr lang="ru-RU" sz="2000" spc="-1" dirty="0">
                <a:solidFill>
                  <a:srgbClr val="262626"/>
                </a:solidFill>
                <a:latin typeface="Montserrat"/>
              </a:rPr>
              <a:t>, реализующих общедоступный интерфейс основного приложения.</a:t>
            </a:r>
          </a:p>
        </p:txBody>
      </p:sp>
    </p:spTree>
    <p:extLst>
      <p:ext uri="{BB962C8B-B14F-4D97-AF65-F5344CB8AC3E}">
        <p14:creationId xmlns:p14="http://schemas.microsoft.com/office/powerpoint/2010/main" val="86417615"/>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Программа </a:t>
            </a:r>
            <a:r>
              <a:rPr lang="ru-RU" sz="2000" spc="-1" dirty="0">
                <a:solidFill>
                  <a:srgbClr val="004892"/>
                </a:solidFill>
                <a:latin typeface="Montserrat Bold"/>
              </a:rPr>
              <a:t>«Калькулятор</a:t>
            </a:r>
            <a:r>
              <a:rPr lang="ru-RU" sz="2000" spc="-1" dirty="0" smtClean="0">
                <a:solidFill>
                  <a:srgbClr val="004892"/>
                </a:solidFill>
                <a:latin typeface="Montserrat Bold"/>
              </a:rPr>
              <a:t>». «Соглашение»</a:t>
            </a:r>
            <a:endParaRPr lang="ru-RU" sz="2000" spc="-1" dirty="0">
              <a:solidFill>
                <a:srgbClr val="004892"/>
              </a:solidFill>
              <a:latin typeface="Montserrat Bold"/>
            </a:endParaRPr>
          </a:p>
        </p:txBody>
      </p:sp>
      <p:pic>
        <p:nvPicPr>
          <p:cNvPr id="81" name="Picture 80"/>
          <p:cNvPicPr>
            <a:picLocks noChangeAspect="1"/>
          </p:cNvPicPr>
          <p:nvPr/>
        </p:nvPicPr>
        <p:blipFill>
          <a:blip r:embed="rId4"/>
          <a:stretch>
            <a:fillRect/>
          </a:stretch>
        </p:blipFill>
        <p:spPr>
          <a:xfrm>
            <a:off x="2032298" y="2230257"/>
            <a:ext cx="6735403" cy="3593027"/>
          </a:xfrm>
          <a:prstGeom prst="rect">
            <a:avLst/>
          </a:prstGeom>
          <a:ln>
            <a:solidFill>
              <a:schemeClr val="tx1"/>
            </a:solidFill>
          </a:ln>
        </p:spPr>
      </p:pic>
    </p:spTree>
    <p:extLst>
      <p:ext uri="{BB962C8B-B14F-4D97-AF65-F5344CB8AC3E}">
        <p14:creationId xmlns:p14="http://schemas.microsoft.com/office/powerpoint/2010/main" val="262475970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Программа </a:t>
            </a:r>
            <a:r>
              <a:rPr lang="ru-RU" sz="2000" spc="-1" dirty="0">
                <a:solidFill>
                  <a:srgbClr val="004892"/>
                </a:solidFill>
                <a:latin typeface="Montserrat Bold"/>
              </a:rPr>
              <a:t>«Калькулятор</a:t>
            </a:r>
            <a:r>
              <a:rPr lang="ru-RU" sz="2000" spc="-1" dirty="0" smtClean="0">
                <a:solidFill>
                  <a:srgbClr val="004892"/>
                </a:solidFill>
                <a:latin typeface="Montserrat Bold"/>
              </a:rPr>
              <a:t>». Реализации</a:t>
            </a:r>
            <a:endParaRPr lang="ru-RU" sz="2000" spc="-1" dirty="0">
              <a:solidFill>
                <a:srgbClr val="004892"/>
              </a:solidFill>
              <a:latin typeface="Montserrat Bold"/>
            </a:endParaRPr>
          </a:p>
        </p:txBody>
      </p:sp>
      <p:pic>
        <p:nvPicPr>
          <p:cNvPr id="8" name="Picture 7"/>
          <p:cNvPicPr>
            <a:picLocks noChangeAspect="1"/>
          </p:cNvPicPr>
          <p:nvPr/>
        </p:nvPicPr>
        <p:blipFill>
          <a:blip r:embed="rId4"/>
          <a:stretch>
            <a:fillRect/>
          </a:stretch>
        </p:blipFill>
        <p:spPr>
          <a:xfrm>
            <a:off x="999715" y="1742427"/>
            <a:ext cx="3802563" cy="2218161"/>
          </a:xfrm>
          <a:prstGeom prst="rect">
            <a:avLst/>
          </a:prstGeom>
          <a:ln>
            <a:solidFill>
              <a:schemeClr val="tx1"/>
            </a:solidFill>
          </a:ln>
        </p:spPr>
      </p:pic>
      <p:pic>
        <p:nvPicPr>
          <p:cNvPr id="9" name="Picture 8"/>
          <p:cNvPicPr>
            <a:picLocks noChangeAspect="1"/>
          </p:cNvPicPr>
          <p:nvPr/>
        </p:nvPicPr>
        <p:blipFill>
          <a:blip r:embed="rId5"/>
          <a:stretch>
            <a:fillRect/>
          </a:stretch>
        </p:blipFill>
        <p:spPr>
          <a:xfrm>
            <a:off x="5524581" y="1742428"/>
            <a:ext cx="3802563" cy="2218161"/>
          </a:xfrm>
          <a:prstGeom prst="rect">
            <a:avLst/>
          </a:prstGeom>
          <a:ln>
            <a:solidFill>
              <a:schemeClr val="tx1"/>
            </a:solidFill>
          </a:ln>
        </p:spPr>
      </p:pic>
      <p:pic>
        <p:nvPicPr>
          <p:cNvPr id="10" name="Picture 9"/>
          <p:cNvPicPr>
            <a:picLocks noChangeAspect="1"/>
          </p:cNvPicPr>
          <p:nvPr/>
        </p:nvPicPr>
        <p:blipFill>
          <a:blip r:embed="rId6"/>
          <a:stretch>
            <a:fillRect/>
          </a:stretch>
        </p:blipFill>
        <p:spPr>
          <a:xfrm>
            <a:off x="999714" y="4164738"/>
            <a:ext cx="3802563" cy="2218161"/>
          </a:xfrm>
          <a:prstGeom prst="rect">
            <a:avLst/>
          </a:prstGeom>
          <a:ln>
            <a:solidFill>
              <a:schemeClr val="tx1"/>
            </a:solidFill>
          </a:ln>
        </p:spPr>
      </p:pic>
      <p:pic>
        <p:nvPicPr>
          <p:cNvPr id="11" name="Picture 10"/>
          <p:cNvPicPr>
            <a:picLocks noChangeAspect="1"/>
          </p:cNvPicPr>
          <p:nvPr/>
        </p:nvPicPr>
        <p:blipFill>
          <a:blip r:embed="rId7"/>
          <a:stretch>
            <a:fillRect/>
          </a:stretch>
        </p:blipFill>
        <p:spPr>
          <a:xfrm>
            <a:off x="5524581" y="4164738"/>
            <a:ext cx="3802563" cy="2218161"/>
          </a:xfrm>
          <a:prstGeom prst="rect">
            <a:avLst/>
          </a:prstGeom>
          <a:ln>
            <a:solidFill>
              <a:schemeClr val="tx1"/>
            </a:solidFill>
          </a:ln>
        </p:spPr>
      </p:pic>
    </p:spTree>
    <p:extLst>
      <p:ext uri="{BB962C8B-B14F-4D97-AF65-F5344CB8AC3E}">
        <p14:creationId xmlns:p14="http://schemas.microsoft.com/office/powerpoint/2010/main" val="540927126"/>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Программа </a:t>
            </a:r>
            <a:r>
              <a:rPr lang="ru-RU" sz="2000" spc="-1" dirty="0">
                <a:solidFill>
                  <a:srgbClr val="004892"/>
                </a:solidFill>
                <a:latin typeface="Montserrat Bold"/>
              </a:rPr>
              <a:t>«Калькулятор</a:t>
            </a:r>
            <a:r>
              <a:rPr lang="ru-RU" sz="2000" spc="-1" dirty="0" smtClean="0">
                <a:solidFill>
                  <a:srgbClr val="004892"/>
                </a:solidFill>
                <a:latin typeface="Montserrat Bold"/>
              </a:rPr>
              <a:t>». Менеджер</a:t>
            </a:r>
            <a:endParaRPr lang="ru-RU" sz="2000" spc="-1" dirty="0">
              <a:solidFill>
                <a:srgbClr val="004892"/>
              </a:solidFill>
              <a:latin typeface="Montserrat Bold"/>
            </a:endParaRPr>
          </a:p>
        </p:txBody>
      </p:sp>
      <p:pic>
        <p:nvPicPr>
          <p:cNvPr id="8" name="Рисунок 3"/>
          <p:cNvPicPr>
            <a:picLocks noChangeAspect="1"/>
          </p:cNvPicPr>
          <p:nvPr/>
        </p:nvPicPr>
        <p:blipFill>
          <a:blip r:embed="rId4"/>
          <a:stretch>
            <a:fillRect/>
          </a:stretch>
        </p:blipFill>
        <p:spPr>
          <a:xfrm>
            <a:off x="854435" y="1800001"/>
            <a:ext cx="8809330" cy="4714182"/>
          </a:xfrm>
          <a:prstGeom prst="rect">
            <a:avLst/>
          </a:prstGeom>
          <a:ln>
            <a:solidFill>
              <a:schemeClr val="tx1"/>
            </a:solidFill>
          </a:ln>
        </p:spPr>
      </p:pic>
    </p:spTree>
    <p:extLst>
      <p:ext uri="{BB962C8B-B14F-4D97-AF65-F5344CB8AC3E}">
        <p14:creationId xmlns:p14="http://schemas.microsoft.com/office/powerpoint/2010/main" val="260601615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Программа </a:t>
            </a:r>
            <a:r>
              <a:rPr lang="ru-RU" sz="2000" spc="-1" dirty="0">
                <a:solidFill>
                  <a:srgbClr val="004892"/>
                </a:solidFill>
                <a:latin typeface="Montserrat Bold"/>
              </a:rPr>
              <a:t>«Калькулятор</a:t>
            </a:r>
            <a:r>
              <a:rPr lang="ru-RU" sz="2000" spc="-1" dirty="0" smtClean="0">
                <a:solidFill>
                  <a:srgbClr val="004892"/>
                </a:solidFill>
                <a:latin typeface="Montserrat Bold"/>
              </a:rPr>
              <a:t>». Использование</a:t>
            </a:r>
            <a:endParaRPr lang="ru-RU" sz="2000" spc="-1" dirty="0">
              <a:solidFill>
                <a:srgbClr val="004892"/>
              </a:solidFill>
              <a:latin typeface="Montserrat Bold"/>
            </a:endParaRPr>
          </a:p>
        </p:txBody>
      </p:sp>
      <p:pic>
        <p:nvPicPr>
          <p:cNvPr id="9" name="Рисунок 3"/>
          <p:cNvPicPr>
            <a:picLocks noChangeAspect="1"/>
          </p:cNvPicPr>
          <p:nvPr/>
        </p:nvPicPr>
        <p:blipFill>
          <a:blip r:embed="rId4"/>
          <a:stretch>
            <a:fillRect/>
          </a:stretch>
        </p:blipFill>
        <p:spPr>
          <a:xfrm>
            <a:off x="1385519" y="1843673"/>
            <a:ext cx="3056428" cy="2918464"/>
          </a:xfrm>
          <a:prstGeom prst="rect">
            <a:avLst/>
          </a:prstGeom>
        </p:spPr>
      </p:pic>
      <p:pic>
        <p:nvPicPr>
          <p:cNvPr id="10" name="Рисунок 3"/>
          <p:cNvPicPr>
            <a:picLocks noChangeAspect="1"/>
          </p:cNvPicPr>
          <p:nvPr/>
        </p:nvPicPr>
        <p:blipFill>
          <a:blip r:embed="rId5"/>
          <a:stretch>
            <a:fillRect/>
          </a:stretch>
        </p:blipFill>
        <p:spPr>
          <a:xfrm>
            <a:off x="360000" y="4868298"/>
            <a:ext cx="5107467" cy="1715100"/>
          </a:xfrm>
          <a:prstGeom prst="rect">
            <a:avLst/>
          </a:prstGeom>
          <a:ln>
            <a:solidFill>
              <a:schemeClr val="tx1"/>
            </a:solidFill>
          </a:ln>
        </p:spPr>
      </p:pic>
      <p:pic>
        <p:nvPicPr>
          <p:cNvPr id="11" name="Рисунок 4"/>
          <p:cNvPicPr>
            <a:picLocks noChangeAspect="1"/>
          </p:cNvPicPr>
          <p:nvPr/>
        </p:nvPicPr>
        <p:blipFill>
          <a:blip r:embed="rId6"/>
          <a:stretch>
            <a:fillRect/>
          </a:stretch>
        </p:blipFill>
        <p:spPr>
          <a:xfrm>
            <a:off x="5574747" y="1703849"/>
            <a:ext cx="4955592" cy="5091871"/>
          </a:xfrm>
          <a:prstGeom prst="rect">
            <a:avLst/>
          </a:prstGeom>
          <a:ln>
            <a:solidFill>
              <a:schemeClr val="tx1"/>
            </a:solidFill>
          </a:ln>
        </p:spPr>
      </p:pic>
    </p:spTree>
    <p:extLst>
      <p:ext uri="{BB962C8B-B14F-4D97-AF65-F5344CB8AC3E}">
        <p14:creationId xmlns:p14="http://schemas.microsoft.com/office/powerpoint/2010/main" val="85477857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Программа </a:t>
            </a:r>
            <a:r>
              <a:rPr lang="ru-RU" sz="2000" spc="-1" dirty="0">
                <a:solidFill>
                  <a:srgbClr val="004892"/>
                </a:solidFill>
                <a:latin typeface="Montserrat Bold"/>
              </a:rPr>
              <a:t>«Калькулятор</a:t>
            </a:r>
            <a:r>
              <a:rPr lang="ru-RU" sz="2000" spc="-1" dirty="0" smtClean="0">
                <a:solidFill>
                  <a:srgbClr val="004892"/>
                </a:solidFill>
                <a:latin typeface="Montserrat Bold"/>
              </a:rPr>
              <a:t>». Как работает</a:t>
            </a:r>
            <a:endParaRPr lang="ru-RU" sz="2000" spc="-1" dirty="0">
              <a:solidFill>
                <a:srgbClr val="004892"/>
              </a:solidFill>
              <a:latin typeface="Montserrat Bold"/>
            </a:endParaRPr>
          </a:p>
        </p:txBody>
      </p:sp>
      <p:pic>
        <p:nvPicPr>
          <p:cNvPr id="9" name="Рисунок 3"/>
          <p:cNvPicPr>
            <a:picLocks noChangeAspect="1"/>
          </p:cNvPicPr>
          <p:nvPr/>
        </p:nvPicPr>
        <p:blipFill rotWithShape="1">
          <a:blip r:embed="rId4"/>
          <a:srcRect l="-1" r="36655"/>
          <a:stretch/>
        </p:blipFill>
        <p:spPr>
          <a:xfrm>
            <a:off x="610257" y="2244270"/>
            <a:ext cx="5184450" cy="3034841"/>
          </a:xfrm>
          <a:prstGeom prst="rect">
            <a:avLst/>
          </a:prstGeom>
          <a:ln>
            <a:solidFill>
              <a:schemeClr val="tx1"/>
            </a:solidFill>
          </a:ln>
        </p:spPr>
      </p:pic>
      <p:pic>
        <p:nvPicPr>
          <p:cNvPr id="10" name="Рисунок 3"/>
          <p:cNvPicPr>
            <a:picLocks noChangeAspect="1"/>
          </p:cNvPicPr>
          <p:nvPr/>
        </p:nvPicPr>
        <p:blipFill>
          <a:blip r:embed="rId5"/>
          <a:stretch>
            <a:fillRect/>
          </a:stretch>
        </p:blipFill>
        <p:spPr>
          <a:xfrm>
            <a:off x="6207981" y="2044778"/>
            <a:ext cx="3568487" cy="3433827"/>
          </a:xfrm>
          <a:prstGeom prst="rect">
            <a:avLst/>
          </a:prstGeom>
        </p:spPr>
      </p:pic>
    </p:spTree>
    <p:extLst>
      <p:ext uri="{BB962C8B-B14F-4D97-AF65-F5344CB8AC3E}">
        <p14:creationId xmlns:p14="http://schemas.microsoft.com/office/powerpoint/2010/main" val="75181777"/>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2"/>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smtClean="0">
                <a:solidFill>
                  <a:srgbClr val="004892"/>
                </a:solidFill>
                <a:latin typeface="Montserrat Bold"/>
              </a:rPr>
              <a:t>Плагины. Как </a:t>
            </a:r>
            <a:r>
              <a:rPr lang="ru-RU" sz="2000" spc="-1" dirty="0">
                <a:solidFill>
                  <a:srgbClr val="004892"/>
                </a:solidFill>
                <a:latin typeface="Montserrat Bold"/>
              </a:rPr>
              <a:t>сделать своими руками</a:t>
            </a:r>
            <a:endParaRPr lang="ru-RU" sz="2000" spc="-1" dirty="0">
              <a:solidFill>
                <a:srgbClr val="004892"/>
              </a:solidFill>
              <a:latin typeface="Montserrat Bold"/>
            </a:endParaRPr>
          </a:p>
        </p:txBody>
      </p:sp>
      <p:sp>
        <p:nvSpPr>
          <p:cNvPr id="7" name="CustomShape 4"/>
          <p:cNvSpPr/>
          <p:nvPr/>
        </p:nvSpPr>
        <p:spPr>
          <a:xfrm>
            <a:off x="360000" y="1980000"/>
            <a:ext cx="10080000" cy="32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marL="457200" indent="-457200" algn="just">
              <a:lnSpc>
                <a:spcPct val="100000"/>
              </a:lnSpc>
              <a:buFont typeface="+mj-lt"/>
              <a:buAutoNum type="arabicPeriod"/>
            </a:pPr>
            <a:r>
              <a:rPr lang="ru-RU" sz="2000" spc="-1" dirty="0" smtClean="0">
                <a:solidFill>
                  <a:srgbClr val="262626"/>
                </a:solidFill>
                <a:latin typeface="Montserrat"/>
              </a:rPr>
              <a:t>Определить интерфейс.</a:t>
            </a:r>
            <a:endParaRPr lang="ru-RU" sz="2000" spc="-1" dirty="0">
              <a:solidFill>
                <a:srgbClr val="262626"/>
              </a:solidFill>
              <a:latin typeface="Montserrat"/>
            </a:endParaRPr>
          </a:p>
          <a:p>
            <a:pPr marL="457200" indent="-457200" algn="just">
              <a:lnSpc>
                <a:spcPct val="100000"/>
              </a:lnSpc>
              <a:buFont typeface="+mj-lt"/>
              <a:buAutoNum type="arabicPeriod"/>
            </a:pPr>
            <a:r>
              <a:rPr lang="ru-RU" sz="2000" spc="-1" dirty="0" smtClean="0">
                <a:solidFill>
                  <a:srgbClr val="262626"/>
                </a:solidFill>
                <a:latin typeface="Montserrat"/>
              </a:rPr>
              <a:t>Сделать плагины.</a:t>
            </a:r>
            <a:endParaRPr lang="ru-RU" sz="2000" spc="-1" dirty="0">
              <a:solidFill>
                <a:srgbClr val="262626"/>
              </a:solidFill>
              <a:latin typeface="Montserrat"/>
            </a:endParaRPr>
          </a:p>
          <a:p>
            <a:pPr marL="457200" indent="-457200" algn="just">
              <a:lnSpc>
                <a:spcPct val="100000"/>
              </a:lnSpc>
              <a:buFont typeface="+mj-lt"/>
              <a:buAutoNum type="arabicPeriod"/>
            </a:pPr>
            <a:r>
              <a:rPr lang="ru-RU" sz="2000" spc="-1" dirty="0" smtClean="0">
                <a:solidFill>
                  <a:srgbClr val="262626"/>
                </a:solidFill>
                <a:latin typeface="Montserrat"/>
              </a:rPr>
              <a:t>Разработать </a:t>
            </a:r>
            <a:r>
              <a:rPr lang="ru-RU" sz="2000" spc="-1" dirty="0">
                <a:solidFill>
                  <a:srgbClr val="262626"/>
                </a:solidFill>
                <a:latin typeface="Montserrat"/>
              </a:rPr>
              <a:t>метод извлечения из библиотек классов, выборку классов от интерфейса и создание объектов от выбранных классов == </a:t>
            </a:r>
            <a:r>
              <a:rPr lang="ru-RU" sz="2000" spc="-1" dirty="0" smtClean="0">
                <a:solidFill>
                  <a:srgbClr val="262626"/>
                </a:solidFill>
                <a:latin typeface="Montserrat"/>
              </a:rPr>
              <a:t>рефлексия.</a:t>
            </a:r>
            <a:endParaRPr lang="ru-RU" sz="2000" spc="-1" dirty="0">
              <a:solidFill>
                <a:srgbClr val="262626"/>
              </a:solidFill>
              <a:latin typeface="Montserrat"/>
            </a:endParaRPr>
          </a:p>
        </p:txBody>
      </p:sp>
    </p:spTree>
    <p:extLst>
      <p:ext uri="{BB962C8B-B14F-4D97-AF65-F5344CB8AC3E}">
        <p14:creationId xmlns:p14="http://schemas.microsoft.com/office/powerpoint/2010/main" val="1507816662"/>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Плагины. Как сделать своими </a:t>
            </a:r>
            <a:r>
              <a:rPr lang="ru-RU" sz="2000" spc="-1" dirty="0" smtClean="0">
                <a:solidFill>
                  <a:srgbClr val="004892"/>
                </a:solidFill>
                <a:latin typeface="Montserrat Bold"/>
              </a:rPr>
              <a:t>руками. Пример</a:t>
            </a:r>
            <a:endParaRPr lang="ru-RU" sz="2000" spc="-1" dirty="0">
              <a:solidFill>
                <a:srgbClr val="004892"/>
              </a:solidFill>
              <a:latin typeface="Montserrat Bold"/>
            </a:endParaRPr>
          </a:p>
        </p:txBody>
      </p:sp>
      <p:pic>
        <p:nvPicPr>
          <p:cNvPr id="2" name="Picture 1"/>
          <p:cNvPicPr>
            <a:picLocks noChangeAspect="1"/>
          </p:cNvPicPr>
          <p:nvPr/>
        </p:nvPicPr>
        <p:blipFill>
          <a:blip r:embed="rId4"/>
          <a:stretch>
            <a:fillRect/>
          </a:stretch>
        </p:blipFill>
        <p:spPr>
          <a:xfrm>
            <a:off x="1163847" y="1974597"/>
            <a:ext cx="8364117" cy="3610479"/>
          </a:xfrm>
          <a:prstGeom prst="rect">
            <a:avLst/>
          </a:prstGeom>
          <a:ln>
            <a:solidFill>
              <a:schemeClr val="tx1"/>
            </a:solidFill>
          </a:ln>
        </p:spPr>
      </p:pic>
    </p:spTree>
    <p:extLst>
      <p:ext uri="{BB962C8B-B14F-4D97-AF65-F5344CB8AC3E}">
        <p14:creationId xmlns:p14="http://schemas.microsoft.com/office/powerpoint/2010/main" val="761375323"/>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Плагины. Как сделать своими </a:t>
            </a:r>
            <a:r>
              <a:rPr lang="ru-RU" sz="2000" spc="-1" dirty="0" smtClean="0">
                <a:solidFill>
                  <a:srgbClr val="004892"/>
                </a:solidFill>
                <a:latin typeface="Montserrat Bold"/>
              </a:rPr>
              <a:t>руками. Пример</a:t>
            </a:r>
            <a:endParaRPr lang="ru-RU" sz="2000" spc="-1" dirty="0">
              <a:solidFill>
                <a:srgbClr val="004892"/>
              </a:solidFill>
              <a:latin typeface="Montserrat Bold"/>
            </a:endParaRPr>
          </a:p>
        </p:txBody>
      </p:sp>
      <p:pic>
        <p:nvPicPr>
          <p:cNvPr id="2" name="Picture 1"/>
          <p:cNvPicPr>
            <a:picLocks noChangeAspect="1"/>
          </p:cNvPicPr>
          <p:nvPr/>
        </p:nvPicPr>
        <p:blipFill>
          <a:blip r:embed="rId4"/>
          <a:stretch>
            <a:fillRect/>
          </a:stretch>
        </p:blipFill>
        <p:spPr>
          <a:xfrm>
            <a:off x="636635" y="1880681"/>
            <a:ext cx="8783276" cy="4572638"/>
          </a:xfrm>
          <a:prstGeom prst="rect">
            <a:avLst/>
          </a:prstGeom>
          <a:ln>
            <a:solidFill>
              <a:schemeClr val="tx1"/>
            </a:solidFill>
          </a:ln>
        </p:spPr>
      </p:pic>
    </p:spTree>
    <p:extLst>
      <p:ext uri="{BB962C8B-B14F-4D97-AF65-F5344CB8AC3E}">
        <p14:creationId xmlns:p14="http://schemas.microsoft.com/office/powerpoint/2010/main" val="2758326604"/>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Плагины. Как сделать своими </a:t>
            </a:r>
            <a:r>
              <a:rPr lang="ru-RU" sz="2000" spc="-1" dirty="0" smtClean="0">
                <a:solidFill>
                  <a:srgbClr val="004892"/>
                </a:solidFill>
                <a:latin typeface="Montserrat Bold"/>
              </a:rPr>
              <a:t>руками. Пример</a:t>
            </a:r>
            <a:endParaRPr lang="ru-RU" sz="2000" spc="-1" dirty="0">
              <a:solidFill>
                <a:srgbClr val="004892"/>
              </a:solidFill>
              <a:latin typeface="Montserrat Bold"/>
            </a:endParaRPr>
          </a:p>
        </p:txBody>
      </p:sp>
      <p:pic>
        <p:nvPicPr>
          <p:cNvPr id="3" name="Picture 2"/>
          <p:cNvPicPr>
            <a:picLocks noChangeAspect="1"/>
          </p:cNvPicPr>
          <p:nvPr/>
        </p:nvPicPr>
        <p:blipFill>
          <a:blip r:embed="rId4"/>
          <a:stretch>
            <a:fillRect/>
          </a:stretch>
        </p:blipFill>
        <p:spPr>
          <a:xfrm>
            <a:off x="204057" y="3707902"/>
            <a:ext cx="6029274" cy="2752495"/>
          </a:xfrm>
          <a:prstGeom prst="rect">
            <a:avLst/>
          </a:prstGeom>
          <a:ln>
            <a:solidFill>
              <a:schemeClr val="tx1"/>
            </a:solidFill>
          </a:ln>
        </p:spPr>
      </p:pic>
      <p:pic>
        <p:nvPicPr>
          <p:cNvPr id="2" name="Picture 1"/>
          <p:cNvPicPr>
            <a:picLocks noChangeAspect="1"/>
          </p:cNvPicPr>
          <p:nvPr/>
        </p:nvPicPr>
        <p:blipFill>
          <a:blip r:embed="rId5"/>
          <a:stretch>
            <a:fillRect/>
          </a:stretch>
        </p:blipFill>
        <p:spPr>
          <a:xfrm>
            <a:off x="6077387" y="1198585"/>
            <a:ext cx="4362613" cy="4926489"/>
          </a:xfrm>
          <a:prstGeom prst="rect">
            <a:avLst/>
          </a:prstGeom>
          <a:ln>
            <a:solidFill>
              <a:schemeClr val="tx1"/>
            </a:solidFill>
          </a:ln>
        </p:spPr>
      </p:pic>
    </p:spTree>
    <p:extLst>
      <p:ext uri="{BB962C8B-B14F-4D97-AF65-F5344CB8AC3E}">
        <p14:creationId xmlns:p14="http://schemas.microsoft.com/office/powerpoint/2010/main" val="1145084411"/>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CustomShape 1"/>
          <p:cNvSpPr/>
          <p:nvPr/>
        </p:nvSpPr>
        <p:spPr>
          <a:xfrm>
            <a:off x="360000" y="360000"/>
            <a:ext cx="10080000" cy="72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ru-RU" sz="3600" spc="-1" dirty="0">
                <a:solidFill>
                  <a:srgbClr val="004892"/>
                </a:solidFill>
                <a:latin typeface="Montserrat"/>
              </a:rPr>
              <a:t>Плагины</a:t>
            </a:r>
            <a:endParaRPr lang="en-US" sz="3600" spc="-1" dirty="0"/>
          </a:p>
        </p:txBody>
      </p:sp>
      <p:pic>
        <p:nvPicPr>
          <p:cNvPr id="87" name="Рисунок 7"/>
          <p:cNvPicPr/>
          <p:nvPr/>
        </p:nvPicPr>
        <p:blipFill>
          <a:blip r:embed="rId3"/>
          <a:stretch/>
        </p:blipFill>
        <p:spPr>
          <a:xfrm>
            <a:off x="467280" y="6534000"/>
            <a:ext cx="1273680" cy="813960"/>
          </a:xfrm>
          <a:prstGeom prst="rect">
            <a:avLst/>
          </a:prstGeom>
          <a:ln>
            <a:noFill/>
          </a:ln>
        </p:spPr>
      </p:pic>
      <p:sp>
        <p:nvSpPr>
          <p:cNvPr id="88" name="CustomShape 2"/>
          <p:cNvSpPr/>
          <p:nvPr/>
        </p:nvSpPr>
        <p:spPr>
          <a:xfrm>
            <a:off x="2124000" y="6795720"/>
            <a:ext cx="566712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1400" b="0" strike="noStrike" spc="-1">
                <a:solidFill>
                  <a:srgbClr val="004892"/>
                </a:solidFill>
                <a:latin typeface="Montserrat"/>
              </a:rPr>
              <a:t>Ульяновский государственный технический университет</a:t>
            </a:r>
            <a:endParaRPr lang="en-US" sz="1400" b="0" strike="noStrike" spc="-1">
              <a:latin typeface="Arial"/>
            </a:endParaRPr>
          </a:p>
        </p:txBody>
      </p:sp>
      <p:sp>
        <p:nvSpPr>
          <p:cNvPr id="89" name="CustomShape 3"/>
          <p:cNvSpPr/>
          <p:nvPr/>
        </p:nvSpPr>
        <p:spPr>
          <a:xfrm>
            <a:off x="9086760" y="6795720"/>
            <a:ext cx="1275840" cy="35712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en-US" sz="1400" b="0" strike="noStrike" spc="-1">
                <a:solidFill>
                  <a:srgbClr val="004892"/>
                </a:solidFill>
                <a:latin typeface="Montserrat"/>
              </a:rPr>
              <a:t>ULSTU.RU </a:t>
            </a:r>
            <a:endParaRPr lang="en-US" sz="1400" b="0" strike="noStrike" spc="-1">
              <a:latin typeface="Arial"/>
            </a:endParaRPr>
          </a:p>
        </p:txBody>
      </p:sp>
      <p:sp>
        <p:nvSpPr>
          <p:cNvPr id="90" name="CustomShape 4"/>
          <p:cNvSpPr/>
          <p:nvPr/>
        </p:nvSpPr>
        <p:spPr>
          <a:xfrm>
            <a:off x="360000" y="1260000"/>
            <a:ext cx="10080000" cy="54000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spc="-1" dirty="0">
                <a:solidFill>
                  <a:srgbClr val="004892"/>
                </a:solidFill>
                <a:latin typeface="Montserrat Bold"/>
              </a:rPr>
              <a:t>Плагины. Как сделать своими </a:t>
            </a:r>
            <a:r>
              <a:rPr lang="ru-RU" sz="2000" spc="-1" dirty="0" smtClean="0">
                <a:solidFill>
                  <a:srgbClr val="004892"/>
                </a:solidFill>
                <a:latin typeface="Montserrat Bold"/>
              </a:rPr>
              <a:t>руками. Пример</a:t>
            </a:r>
            <a:endParaRPr lang="ru-RU" sz="2000" spc="-1" dirty="0">
              <a:solidFill>
                <a:srgbClr val="004892"/>
              </a:solidFill>
              <a:latin typeface="Montserrat Bold"/>
            </a:endParaRPr>
          </a:p>
        </p:txBody>
      </p:sp>
      <p:pic>
        <p:nvPicPr>
          <p:cNvPr id="3" name="Picture 2"/>
          <p:cNvPicPr>
            <a:picLocks noChangeAspect="1"/>
          </p:cNvPicPr>
          <p:nvPr/>
        </p:nvPicPr>
        <p:blipFill>
          <a:blip r:embed="rId4"/>
          <a:stretch>
            <a:fillRect/>
          </a:stretch>
        </p:blipFill>
        <p:spPr>
          <a:xfrm>
            <a:off x="574787" y="1819487"/>
            <a:ext cx="8371370" cy="4534492"/>
          </a:xfrm>
          <a:prstGeom prst="rect">
            <a:avLst/>
          </a:prstGeom>
          <a:ln>
            <a:solidFill>
              <a:schemeClr val="tx1"/>
            </a:solidFill>
          </a:ln>
        </p:spPr>
      </p:pic>
      <p:pic>
        <p:nvPicPr>
          <p:cNvPr id="2" name="Picture 1"/>
          <p:cNvPicPr>
            <a:picLocks noChangeAspect="1"/>
          </p:cNvPicPr>
          <p:nvPr/>
        </p:nvPicPr>
        <p:blipFill rotWithShape="1">
          <a:blip r:embed="rId5"/>
          <a:srcRect r="74507" b="6631"/>
          <a:stretch/>
        </p:blipFill>
        <p:spPr>
          <a:xfrm>
            <a:off x="6285561" y="1099487"/>
            <a:ext cx="1971148" cy="2906979"/>
          </a:xfrm>
          <a:prstGeom prst="rect">
            <a:avLst/>
          </a:prstGeom>
          <a:solidFill>
            <a:schemeClr val="accent2"/>
          </a:solidFill>
          <a:ln>
            <a:solidFill>
              <a:schemeClr val="tx1"/>
            </a:solidFill>
          </a:ln>
        </p:spPr>
      </p:pic>
      <p:pic>
        <p:nvPicPr>
          <p:cNvPr id="4" name="Picture 3"/>
          <p:cNvPicPr>
            <a:picLocks noChangeAspect="1"/>
          </p:cNvPicPr>
          <p:nvPr/>
        </p:nvPicPr>
        <p:blipFill>
          <a:blip r:embed="rId6"/>
          <a:stretch>
            <a:fillRect/>
          </a:stretch>
        </p:blipFill>
        <p:spPr>
          <a:xfrm>
            <a:off x="8592190" y="1080000"/>
            <a:ext cx="1292956" cy="1371715"/>
          </a:xfrm>
          <a:prstGeom prst="rect">
            <a:avLst/>
          </a:prstGeom>
          <a:ln>
            <a:solidFill>
              <a:schemeClr val="tx1"/>
            </a:solidFill>
          </a:ln>
        </p:spPr>
      </p:pic>
    </p:spTree>
    <p:extLst>
      <p:ext uri="{BB962C8B-B14F-4D97-AF65-F5344CB8AC3E}">
        <p14:creationId xmlns:p14="http://schemas.microsoft.com/office/powerpoint/2010/main" val="1589461008"/>
      </p:ext>
    </p:extLst>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TextShape 1"/>
          <p:cNvSpPr txBox="1"/>
          <p:nvPr/>
        </p:nvSpPr>
        <p:spPr>
          <a:xfrm>
            <a:off x="581040" y="800280"/>
            <a:ext cx="8048160" cy="2297160"/>
          </a:xfrm>
          <a:prstGeom prst="rect">
            <a:avLst/>
          </a:prstGeom>
          <a:noFill/>
          <a:ln>
            <a:noFill/>
          </a:ln>
        </p:spPr>
        <p:txBody>
          <a:bodyPr>
            <a:noAutofit/>
          </a:bodyPr>
          <a:lstStyle/>
          <a:p>
            <a:pPr>
              <a:lnSpc>
                <a:spcPct val="100000"/>
              </a:lnSpc>
            </a:pPr>
            <a:r>
              <a:rPr lang="ru-RU" sz="4800" b="0" strike="noStrike" spc="-1">
                <a:solidFill>
                  <a:srgbClr val="004892"/>
                </a:solidFill>
                <a:latin typeface="Montserrat Bold"/>
              </a:rPr>
              <a:t>Спасибо за внимание!</a:t>
            </a:r>
            <a:endParaRPr lang="en-US" sz="4800" b="0" strike="noStrike" spc="-1">
              <a:solidFill>
                <a:srgbClr val="000000"/>
              </a:solidFill>
              <a:latin typeface="Geometria light"/>
            </a:endParaRPr>
          </a:p>
        </p:txBody>
      </p:sp>
      <p:sp>
        <p:nvSpPr>
          <p:cNvPr id="103" name="CustomShape 2"/>
          <p:cNvSpPr/>
          <p:nvPr/>
        </p:nvSpPr>
        <p:spPr>
          <a:xfrm>
            <a:off x="0" y="6862680"/>
            <a:ext cx="10691280" cy="45864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gn="ctr">
              <a:lnSpc>
                <a:spcPct val="100000"/>
              </a:lnSpc>
            </a:pPr>
            <a:r>
              <a:rPr lang="en-US" sz="1600" b="0" strike="noStrike" spc="-1" dirty="0" smtClean="0">
                <a:solidFill>
                  <a:srgbClr val="173277"/>
                </a:solidFill>
                <a:latin typeface="Montserrat"/>
              </a:rPr>
              <a:t>2022</a:t>
            </a:r>
            <a:endParaRPr lang="en-US" sz="1600" b="0" strike="noStrike" spc="-1" dirty="0">
              <a:latin typeface="Arial"/>
            </a:endParaRPr>
          </a:p>
        </p:txBody>
      </p:sp>
      <p:pic>
        <p:nvPicPr>
          <p:cNvPr id="104" name="Рисунок 2"/>
          <p:cNvPicPr/>
          <p:nvPr/>
        </p:nvPicPr>
        <p:blipFill>
          <a:blip r:embed="rId2"/>
          <a:stretch/>
        </p:blipFill>
        <p:spPr>
          <a:xfrm>
            <a:off x="4115160" y="5178600"/>
            <a:ext cx="2232360" cy="1426680"/>
          </a:xfrm>
          <a:prstGeom prst="rect">
            <a:avLst/>
          </a:prstGeom>
          <a:ln>
            <a:noFill/>
          </a:ln>
        </p:spPr>
      </p:pic>
      <p:sp>
        <p:nvSpPr>
          <p:cNvPr id="105" name="CustomShape 3"/>
          <p:cNvSpPr/>
          <p:nvPr/>
        </p:nvSpPr>
        <p:spPr>
          <a:xfrm>
            <a:off x="581040" y="1833480"/>
            <a:ext cx="8048160" cy="2297160"/>
          </a:xfrm>
          <a:prstGeom prst="rect">
            <a:avLst/>
          </a:prstGeom>
          <a:noFill/>
          <a:ln>
            <a:noFill/>
          </a:ln>
        </p:spPr>
        <p:style>
          <a:lnRef idx="0">
            <a:scrgbClr r="0" g="0" b="0"/>
          </a:lnRef>
          <a:fillRef idx="0">
            <a:scrgbClr r="0" g="0" b="0"/>
          </a:fillRef>
          <a:effectRef idx="0">
            <a:scrgbClr r="0" g="0" b="0"/>
          </a:effectRef>
          <a:fontRef idx="minor"/>
        </p:style>
        <p:txBody>
          <a:bodyPr>
            <a:noAutofit/>
          </a:bodyPr>
          <a:lstStyle/>
          <a:p>
            <a:pPr>
              <a:lnSpc>
                <a:spcPct val="100000"/>
              </a:lnSpc>
            </a:pPr>
            <a:r>
              <a:rPr lang="ru-RU" sz="2000" b="0" strike="noStrike" spc="-1" dirty="0">
                <a:solidFill>
                  <a:srgbClr val="004892"/>
                </a:solidFill>
                <a:latin typeface="Montserrat"/>
              </a:rPr>
              <a:t>Рады видеть Вас на наших мероприятиях!</a:t>
            </a:r>
            <a:endParaRPr lang="en-US" sz="2000" b="0" strike="noStrike" spc="-1" dirty="0">
              <a:latin typeface="Arial"/>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xmlns:p15="http://schemas.microsoft.com/office/powerpoint/2012/main">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noFill/>
        </a:ln>
      </a:spPr>
      <a:bodyPr>
        <a:noAutofit/>
      </a:bodyPr>
      <a:lstStyle>
        <a:defPPr>
          <a:lnSpc>
            <a:spcPct val="100000"/>
          </a:lnSpc>
          <a:defRPr sz="1400" b="0" strike="noStrike" spc="-1">
            <a:solidFill>
              <a:srgbClr val="004892"/>
            </a:solidFill>
            <a:latin typeface="Montserrat"/>
          </a:defRPr>
        </a:defPPr>
      </a:lstStyle>
      <a:style>
        <a:lnRef idx="0">
          <a:scrgbClr r="0" g="0" b="0"/>
        </a:lnRef>
        <a:fillRef idx="0">
          <a:scrgbClr r="0" g="0" b="0"/>
        </a:fillRef>
        <a:effectRef idx="0">
          <a:scrgbClr r="0" g="0" b="0"/>
        </a:effectRef>
        <a:fontRef idx="minor"/>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3431</TotalTime>
  <Words>3473</Words>
  <Application>Microsoft Office PowerPoint</Application>
  <PresentationFormat>Custom</PresentationFormat>
  <Paragraphs>549</Paragraphs>
  <Slides>75</Slides>
  <Notes>29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75</vt:i4>
      </vt:variant>
    </vt:vector>
  </HeadingPairs>
  <TitlesOfParts>
    <vt:vector size="87" baseType="lpstr">
      <vt:lpstr>Arial</vt:lpstr>
      <vt:lpstr>Calibri</vt:lpstr>
      <vt:lpstr>DejaVu Sans</vt:lpstr>
      <vt:lpstr>Geometria  bold</vt:lpstr>
      <vt:lpstr>Geometria light</vt:lpstr>
      <vt:lpstr>Montserrat</vt:lpstr>
      <vt:lpstr>Montserrat Bold</vt:lpstr>
      <vt:lpstr>Symbol</vt:lpstr>
      <vt:lpstr>Times New Roman</vt:lpstr>
      <vt:lpstr>Wingdings</vt:lpstr>
      <vt:lpstr>Office Theme</vt:lpstr>
      <vt:lpstr>Точечный рисунок</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Результаты приемной  кампании - 2019</dc:title>
  <dc:subject/>
  <dc:creator>afsafasfasfa afafaf</dc:creator>
  <dc:description/>
  <cp:lastModifiedBy>Evgenii Egov</cp:lastModifiedBy>
  <cp:revision>361</cp:revision>
  <dcterms:created xsi:type="dcterms:W3CDTF">2019-09-16T12:04:13Z</dcterms:created>
  <dcterms:modified xsi:type="dcterms:W3CDTF">2022-09-07T10:27:02Z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Произвольный</vt:lpwstr>
  </property>
  <property fmtid="{D5CDD505-2E9C-101B-9397-08002B2CF9AE}" pid="9" name="ScaleCrop">
    <vt:bool>false</vt:bool>
  </property>
  <property fmtid="{D5CDD505-2E9C-101B-9397-08002B2CF9AE}" pid="10" name="ShareDoc">
    <vt:bool>false</vt:bool>
  </property>
  <property fmtid="{D5CDD505-2E9C-101B-9397-08002B2CF9AE}" pid="11" name="Slides">
    <vt:i4>5</vt:i4>
  </property>
</Properties>
</file>