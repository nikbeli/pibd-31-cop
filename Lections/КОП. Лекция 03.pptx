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2"/>
  </p:notesMasterIdLst>
  <p:sldIdLst>
    <p:sldId id="256" r:id="rId2"/>
    <p:sldId id="269" r:id="rId3"/>
    <p:sldId id="271" r:id="rId4"/>
    <p:sldId id="325" r:id="rId5"/>
    <p:sldId id="326" r:id="rId6"/>
    <p:sldId id="320" r:id="rId7"/>
    <p:sldId id="319" r:id="rId8"/>
    <p:sldId id="318" r:id="rId9"/>
    <p:sldId id="327" r:id="rId10"/>
    <p:sldId id="328" r:id="rId11"/>
    <p:sldId id="329" r:id="rId12"/>
    <p:sldId id="330" r:id="rId13"/>
    <p:sldId id="331" r:id="rId14"/>
    <p:sldId id="332" r:id="rId15"/>
    <p:sldId id="333" r:id="rId16"/>
    <p:sldId id="334" r:id="rId17"/>
    <p:sldId id="335" r:id="rId18"/>
    <p:sldId id="336" r:id="rId19"/>
    <p:sldId id="317" r:id="rId20"/>
    <p:sldId id="339" r:id="rId21"/>
    <p:sldId id="340" r:id="rId22"/>
    <p:sldId id="337" r:id="rId23"/>
    <p:sldId id="338" r:id="rId24"/>
    <p:sldId id="364" r:id="rId25"/>
    <p:sldId id="359" r:id="rId26"/>
    <p:sldId id="358" r:id="rId27"/>
    <p:sldId id="366" r:id="rId28"/>
    <p:sldId id="360" r:id="rId29"/>
    <p:sldId id="365" r:id="rId30"/>
    <p:sldId id="323" r:id="rId31"/>
    <p:sldId id="324" r:id="rId32"/>
    <p:sldId id="322" r:id="rId33"/>
    <p:sldId id="341" r:id="rId34"/>
    <p:sldId id="342" r:id="rId35"/>
    <p:sldId id="343" r:id="rId36"/>
    <p:sldId id="344" r:id="rId37"/>
    <p:sldId id="345" r:id="rId38"/>
    <p:sldId id="346" r:id="rId39"/>
    <p:sldId id="347" r:id="rId40"/>
    <p:sldId id="348" r:id="rId41"/>
    <p:sldId id="349" r:id="rId42"/>
    <p:sldId id="350" r:id="rId43"/>
    <p:sldId id="351" r:id="rId44"/>
    <p:sldId id="355" r:id="rId45"/>
    <p:sldId id="356" r:id="rId46"/>
    <p:sldId id="352" r:id="rId47"/>
    <p:sldId id="353" r:id="rId48"/>
    <p:sldId id="354" r:id="rId49"/>
    <p:sldId id="357" r:id="rId50"/>
    <p:sldId id="260" r:id="rId51"/>
  </p:sldIdLst>
  <p:sldSz cx="10691813" cy="7559675"/>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Введение" id="{5D9F7A72-7903-4791-9B02-03B0CC4EBD96}">
          <p14:sldIdLst>
            <p14:sldId id="256"/>
          </p14:sldIdLst>
        </p14:section>
        <p14:section name="Агентно-ориентированный подход" id="{E08CC9DD-223C-4625-B723-68B607D9346D}">
          <p14:sldIdLst>
            <p14:sldId id="269"/>
            <p14:sldId id="271"/>
            <p14:sldId id="325"/>
            <p14:sldId id="326"/>
            <p14:sldId id="320"/>
            <p14:sldId id="319"/>
            <p14:sldId id="318"/>
            <p14:sldId id="327"/>
            <p14:sldId id="328"/>
            <p14:sldId id="329"/>
            <p14:sldId id="330"/>
            <p14:sldId id="331"/>
            <p14:sldId id="332"/>
            <p14:sldId id="333"/>
            <p14:sldId id="334"/>
            <p14:sldId id="335"/>
            <p14:sldId id="336"/>
            <p14:sldId id="317"/>
            <p14:sldId id="339"/>
            <p14:sldId id="340"/>
          </p14:sldIdLst>
        </p14:section>
        <p14:section name="Java Agent Development Framework" id="{24D0F2CE-709A-48B3-8689-4215E8A0615D}">
          <p14:sldIdLst>
            <p14:sldId id="337"/>
            <p14:sldId id="338"/>
            <p14:sldId id="364"/>
            <p14:sldId id="359"/>
            <p14:sldId id="358"/>
            <p14:sldId id="366"/>
            <p14:sldId id="360"/>
            <p14:sldId id="365"/>
          </p14:sldIdLst>
        </p14:section>
        <p14:section name="Мультиагентная система" id="{23303FB5-F334-4BEC-A702-856D2172E2FC}">
          <p14:sldIdLst>
            <p14:sldId id="323"/>
            <p14:sldId id="324"/>
            <p14:sldId id="322"/>
            <p14:sldId id="341"/>
            <p14:sldId id="342"/>
            <p14:sldId id="343"/>
            <p14:sldId id="344"/>
            <p14:sldId id="345"/>
            <p14:sldId id="346"/>
            <p14:sldId id="347"/>
            <p14:sldId id="348"/>
            <p14:sldId id="349"/>
            <p14:sldId id="350"/>
            <p14:sldId id="351"/>
            <p14:sldId id="355"/>
            <p14:sldId id="356"/>
            <p14:sldId id="352"/>
            <p14:sldId id="353"/>
            <p14:sldId id="354"/>
            <p14:sldId id="357"/>
          </p14:sldIdLst>
        </p14:section>
        <p14:section name="Завершение" id="{57706748-57AD-45AB-9FB3-1B9A00E91AB5}">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92" autoAdjust="0"/>
    <p:restoredTop sz="94660"/>
  </p:normalViewPr>
  <p:slideViewPr>
    <p:cSldViewPr snapToGrid="0">
      <p:cViewPr varScale="1">
        <p:scale>
          <a:sx n="99" d="100"/>
          <a:sy n="99" d="100"/>
        </p:scale>
        <p:origin x="14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43B9156D-793D-4199-AAB2-E661653C6D60}" type="datetimeFigureOut">
              <a:rPr lang="en-US" smtClean="0"/>
              <a:t>10/8/2022</a:t>
            </a:fld>
            <a:endParaRPr lang="en-US"/>
          </a:p>
        </p:txBody>
      </p:sp>
      <p:sp>
        <p:nvSpPr>
          <p:cNvPr id="4" name="Slide Image Placeholder 3"/>
          <p:cNvSpPr>
            <a:spLocks noGrp="1" noRot="1" noChangeAspect="1"/>
          </p:cNvSpPr>
          <p:nvPr>
            <p:ph type="sldImg" idx="2"/>
          </p:nvPr>
        </p:nvSpPr>
        <p:spPr>
          <a:xfrm>
            <a:off x="1228725" y="1336675"/>
            <a:ext cx="51022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E10D884F-4143-43AF-878B-33CC48EE52DB}" type="slidenum">
              <a:rPr lang="en-US" smtClean="0"/>
              <a:t>‹#›</a:t>
            </a:fld>
            <a:endParaRPr lang="en-US"/>
          </a:p>
        </p:txBody>
      </p:sp>
    </p:spTree>
    <p:extLst>
      <p:ext uri="{BB962C8B-B14F-4D97-AF65-F5344CB8AC3E}">
        <p14:creationId xmlns:p14="http://schemas.microsoft.com/office/powerpoint/2010/main" val="35476587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0D884F-4143-43AF-878B-33CC48EE52DB}" type="slidenum">
              <a:rPr lang="en-US" smtClean="0"/>
              <a:t>19</a:t>
            </a:fld>
            <a:endParaRPr lang="en-US"/>
          </a:p>
        </p:txBody>
      </p:sp>
    </p:spTree>
    <p:extLst>
      <p:ext uri="{BB962C8B-B14F-4D97-AF65-F5344CB8AC3E}">
        <p14:creationId xmlns:p14="http://schemas.microsoft.com/office/powerpoint/2010/main" val="3705416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0D884F-4143-43AF-878B-33CC48EE52DB}" type="slidenum">
              <a:rPr lang="en-US" smtClean="0"/>
              <a:t>25</a:t>
            </a:fld>
            <a:endParaRPr lang="en-US"/>
          </a:p>
        </p:txBody>
      </p:sp>
    </p:spTree>
    <p:extLst>
      <p:ext uri="{BB962C8B-B14F-4D97-AF65-F5344CB8AC3E}">
        <p14:creationId xmlns:p14="http://schemas.microsoft.com/office/powerpoint/2010/main" val="28482915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0D884F-4143-43AF-878B-33CC48EE52DB}" type="slidenum">
              <a:rPr lang="en-US" smtClean="0"/>
              <a:t>26</a:t>
            </a:fld>
            <a:endParaRPr lang="en-US"/>
          </a:p>
        </p:txBody>
      </p:sp>
    </p:spTree>
    <p:extLst>
      <p:ext uri="{BB962C8B-B14F-4D97-AF65-F5344CB8AC3E}">
        <p14:creationId xmlns:p14="http://schemas.microsoft.com/office/powerpoint/2010/main" val="19856139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0D884F-4143-43AF-878B-33CC48EE52DB}" type="slidenum">
              <a:rPr lang="en-US" smtClean="0"/>
              <a:t>28</a:t>
            </a:fld>
            <a:endParaRPr lang="en-US"/>
          </a:p>
        </p:txBody>
      </p:sp>
    </p:spTree>
    <p:extLst>
      <p:ext uri="{BB962C8B-B14F-4D97-AF65-F5344CB8AC3E}">
        <p14:creationId xmlns:p14="http://schemas.microsoft.com/office/powerpoint/2010/main" val="26389182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801720" y="1237320"/>
            <a:ext cx="9087840" cy="2631600"/>
          </a:xfrm>
          <a:prstGeom prst="rect">
            <a:avLst/>
          </a:prstGeom>
        </p:spPr>
        <p:txBody>
          <a:bodyPr lIns="0" tIns="0" rIns="0" bIns="0" anchor="ctr">
            <a:noAutofit/>
          </a:bodyPr>
          <a:lstStyle/>
          <a:p>
            <a:endParaRPr lang="en-US" sz="1800" b="0" strike="noStrike" spc="-1">
              <a:solidFill>
                <a:srgbClr val="000000"/>
              </a:solidFill>
              <a:latin typeface="Geometria light"/>
            </a:endParaRPr>
          </a:p>
        </p:txBody>
      </p:sp>
      <p:sp>
        <p:nvSpPr>
          <p:cNvPr id="6" name="PlaceHolder 2"/>
          <p:cNvSpPr>
            <a:spLocks noGrp="1"/>
          </p:cNvSpPr>
          <p:nvPr>
            <p:ph type="subTitle"/>
          </p:nvPr>
        </p:nvSpPr>
        <p:spPr>
          <a:xfrm>
            <a:off x="534240" y="1768680"/>
            <a:ext cx="9622080" cy="43840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801720" y="1237320"/>
            <a:ext cx="9087840" cy="2631600"/>
          </a:xfrm>
          <a:prstGeom prst="rect">
            <a:avLst/>
          </a:prstGeom>
        </p:spPr>
        <p:txBody>
          <a:bodyPr lIns="0" tIns="0" rIns="0" bIns="0" anchor="ctr">
            <a:noAutofit/>
          </a:bodyPr>
          <a:lstStyle/>
          <a:p>
            <a:endParaRPr lang="en-US" sz="1800" b="0" strike="noStrike" spc="-1">
              <a:solidFill>
                <a:srgbClr val="000000"/>
              </a:solidFill>
              <a:latin typeface="Geometria light"/>
            </a:endParaRPr>
          </a:p>
        </p:txBody>
      </p:sp>
      <p:sp>
        <p:nvSpPr>
          <p:cNvPr id="8" name="PlaceHolder 2"/>
          <p:cNvSpPr>
            <a:spLocks noGrp="1"/>
          </p:cNvSpPr>
          <p:nvPr>
            <p:ph type="body"/>
          </p:nvPr>
        </p:nvSpPr>
        <p:spPr>
          <a:xfrm>
            <a:off x="534240" y="1768680"/>
            <a:ext cx="9622080" cy="4384080"/>
          </a:xfrm>
          <a:prstGeom prst="rect">
            <a:avLst/>
          </a:prstGeom>
        </p:spPr>
        <p:txBody>
          <a:bodyPr lIns="0" tIns="0" rIns="0" bIns="0">
            <a:normAutofit/>
          </a:bodyPr>
          <a:lstStyle/>
          <a:p>
            <a:endParaRPr lang="en-US" sz="3090" b="0" strike="noStrike" spc="-1">
              <a:solidFill>
                <a:srgbClr val="000000"/>
              </a:solidFill>
              <a:latin typeface="Geometria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801720" y="1237320"/>
            <a:ext cx="9087840" cy="2631600"/>
          </a:xfrm>
          <a:prstGeom prst="rect">
            <a:avLst/>
          </a:prstGeom>
        </p:spPr>
        <p:txBody>
          <a:bodyPr lIns="0" tIns="0" rIns="0" bIns="0" anchor="ctr">
            <a:noAutofit/>
          </a:bodyPr>
          <a:lstStyle/>
          <a:p>
            <a:endParaRPr lang="en-US" sz="1800" b="0" strike="noStrike" spc="-1">
              <a:solidFill>
                <a:srgbClr val="000000"/>
              </a:solidFill>
              <a:latin typeface="Geometria light"/>
            </a:endParaRPr>
          </a:p>
        </p:txBody>
      </p:sp>
      <p:sp>
        <p:nvSpPr>
          <p:cNvPr id="10" name="PlaceHolder 2"/>
          <p:cNvSpPr>
            <a:spLocks noGrp="1"/>
          </p:cNvSpPr>
          <p:nvPr>
            <p:ph type="body"/>
          </p:nvPr>
        </p:nvSpPr>
        <p:spPr>
          <a:xfrm>
            <a:off x="534240" y="1768680"/>
            <a:ext cx="4695480" cy="43840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11" name="PlaceHolder 3"/>
          <p:cNvSpPr>
            <a:spLocks noGrp="1"/>
          </p:cNvSpPr>
          <p:nvPr>
            <p:ph type="body"/>
          </p:nvPr>
        </p:nvSpPr>
        <p:spPr>
          <a:xfrm>
            <a:off x="5464800" y="1768680"/>
            <a:ext cx="4695480" cy="4384080"/>
          </a:xfrm>
          <a:prstGeom prst="rect">
            <a:avLst/>
          </a:prstGeom>
        </p:spPr>
        <p:txBody>
          <a:bodyPr lIns="0" tIns="0" rIns="0" bIns="0">
            <a:normAutofit/>
          </a:bodyPr>
          <a:lstStyle/>
          <a:p>
            <a:endParaRPr lang="en-US" sz="3090" b="0" strike="noStrike" spc="-1">
              <a:solidFill>
                <a:srgbClr val="000000"/>
              </a:solidFill>
              <a:latin typeface="Geometria light"/>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801720" y="1237320"/>
            <a:ext cx="9087840" cy="2631600"/>
          </a:xfrm>
          <a:prstGeom prst="rect">
            <a:avLst/>
          </a:prstGeom>
        </p:spPr>
        <p:txBody>
          <a:bodyPr lIns="0" tIns="0" rIns="0" bIns="0" anchor="ctr">
            <a:noAutofit/>
          </a:bodyPr>
          <a:lstStyle/>
          <a:p>
            <a:endParaRPr lang="en-US" sz="1800" b="0" strike="noStrike" spc="-1">
              <a:solidFill>
                <a:srgbClr val="000000"/>
              </a:solidFill>
              <a:latin typeface="Geometria light"/>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801720" y="1237320"/>
            <a:ext cx="9087840" cy="121996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801720" y="1237320"/>
            <a:ext cx="9087840" cy="2631600"/>
          </a:xfrm>
          <a:prstGeom prst="rect">
            <a:avLst/>
          </a:prstGeom>
        </p:spPr>
        <p:txBody>
          <a:bodyPr lIns="0" tIns="0" rIns="0" bIns="0" anchor="ctr">
            <a:noAutofit/>
          </a:bodyPr>
          <a:lstStyle/>
          <a:p>
            <a:endParaRPr lang="en-US" sz="1800" b="0" strike="noStrike" spc="-1">
              <a:solidFill>
                <a:srgbClr val="000000"/>
              </a:solidFill>
              <a:latin typeface="Geometria light"/>
            </a:endParaRPr>
          </a:p>
        </p:txBody>
      </p:sp>
      <p:sp>
        <p:nvSpPr>
          <p:cNvPr id="15" name="PlaceHolder 2"/>
          <p:cNvSpPr>
            <a:spLocks noGrp="1"/>
          </p:cNvSpPr>
          <p:nvPr>
            <p:ph type="body"/>
          </p:nvPr>
        </p:nvSpPr>
        <p:spPr>
          <a:xfrm>
            <a:off x="534240" y="1768680"/>
            <a:ext cx="469548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16" name="PlaceHolder 3"/>
          <p:cNvSpPr>
            <a:spLocks noGrp="1"/>
          </p:cNvSpPr>
          <p:nvPr>
            <p:ph type="body"/>
          </p:nvPr>
        </p:nvSpPr>
        <p:spPr>
          <a:xfrm>
            <a:off x="5464800" y="1768680"/>
            <a:ext cx="4695480" cy="43840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17" name="PlaceHolder 4"/>
          <p:cNvSpPr>
            <a:spLocks noGrp="1"/>
          </p:cNvSpPr>
          <p:nvPr>
            <p:ph type="body"/>
          </p:nvPr>
        </p:nvSpPr>
        <p:spPr>
          <a:xfrm>
            <a:off x="534240" y="4058640"/>
            <a:ext cx="469548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801720" y="1237320"/>
            <a:ext cx="9087840" cy="2631600"/>
          </a:xfrm>
          <a:prstGeom prst="rect">
            <a:avLst/>
          </a:prstGeom>
        </p:spPr>
        <p:txBody>
          <a:bodyPr lIns="0" tIns="0" rIns="0" bIns="0" anchor="ctr">
            <a:noAutofit/>
          </a:bodyPr>
          <a:lstStyle/>
          <a:p>
            <a:endParaRPr lang="en-US" sz="1800" b="0" strike="noStrike" spc="-1">
              <a:solidFill>
                <a:srgbClr val="000000"/>
              </a:solidFill>
              <a:latin typeface="Geometria light"/>
            </a:endParaRPr>
          </a:p>
        </p:txBody>
      </p:sp>
      <p:sp>
        <p:nvSpPr>
          <p:cNvPr id="19" name="PlaceHolder 2"/>
          <p:cNvSpPr>
            <a:spLocks noGrp="1"/>
          </p:cNvSpPr>
          <p:nvPr>
            <p:ph type="body"/>
          </p:nvPr>
        </p:nvSpPr>
        <p:spPr>
          <a:xfrm>
            <a:off x="534240" y="1768680"/>
            <a:ext cx="4695480" cy="43840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20" name="PlaceHolder 3"/>
          <p:cNvSpPr>
            <a:spLocks noGrp="1"/>
          </p:cNvSpPr>
          <p:nvPr>
            <p:ph type="body"/>
          </p:nvPr>
        </p:nvSpPr>
        <p:spPr>
          <a:xfrm>
            <a:off x="5464800" y="1768680"/>
            <a:ext cx="469548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21" name="PlaceHolder 4"/>
          <p:cNvSpPr>
            <a:spLocks noGrp="1"/>
          </p:cNvSpPr>
          <p:nvPr>
            <p:ph type="body"/>
          </p:nvPr>
        </p:nvSpPr>
        <p:spPr>
          <a:xfrm>
            <a:off x="5464800" y="4058640"/>
            <a:ext cx="469548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801720" y="1237320"/>
            <a:ext cx="9087840" cy="2631600"/>
          </a:xfrm>
          <a:prstGeom prst="rect">
            <a:avLst/>
          </a:prstGeom>
        </p:spPr>
        <p:txBody>
          <a:bodyPr lIns="0" tIns="0" rIns="0" bIns="0" anchor="ctr">
            <a:noAutofit/>
          </a:bodyPr>
          <a:lstStyle/>
          <a:p>
            <a:endParaRPr lang="en-US" sz="1800" b="0" strike="noStrike" spc="-1">
              <a:solidFill>
                <a:srgbClr val="000000"/>
              </a:solidFill>
              <a:latin typeface="Geometria light"/>
            </a:endParaRPr>
          </a:p>
        </p:txBody>
      </p:sp>
      <p:sp>
        <p:nvSpPr>
          <p:cNvPr id="23" name="PlaceHolder 2"/>
          <p:cNvSpPr>
            <a:spLocks noGrp="1"/>
          </p:cNvSpPr>
          <p:nvPr>
            <p:ph type="body"/>
          </p:nvPr>
        </p:nvSpPr>
        <p:spPr>
          <a:xfrm>
            <a:off x="534240" y="1768680"/>
            <a:ext cx="469548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24" name="PlaceHolder 3"/>
          <p:cNvSpPr>
            <a:spLocks noGrp="1"/>
          </p:cNvSpPr>
          <p:nvPr>
            <p:ph type="body"/>
          </p:nvPr>
        </p:nvSpPr>
        <p:spPr>
          <a:xfrm>
            <a:off x="5464800" y="1768680"/>
            <a:ext cx="469548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25" name="PlaceHolder 4"/>
          <p:cNvSpPr>
            <a:spLocks noGrp="1"/>
          </p:cNvSpPr>
          <p:nvPr>
            <p:ph type="body"/>
          </p:nvPr>
        </p:nvSpPr>
        <p:spPr>
          <a:xfrm>
            <a:off x="534240" y="4058640"/>
            <a:ext cx="962208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801720" y="1237320"/>
            <a:ext cx="9087840" cy="2631600"/>
          </a:xfrm>
          <a:prstGeom prst="rect">
            <a:avLst/>
          </a:prstGeom>
        </p:spPr>
        <p:txBody>
          <a:bodyPr lIns="0" tIns="0" rIns="0" bIns="0" anchor="ctr">
            <a:noAutofit/>
          </a:bodyPr>
          <a:lstStyle/>
          <a:p>
            <a:endParaRPr lang="en-US" sz="1800" b="0" strike="noStrike" spc="-1">
              <a:solidFill>
                <a:srgbClr val="000000"/>
              </a:solidFill>
              <a:latin typeface="Geometria light"/>
            </a:endParaRPr>
          </a:p>
        </p:txBody>
      </p:sp>
      <p:sp>
        <p:nvSpPr>
          <p:cNvPr id="27" name="PlaceHolder 2"/>
          <p:cNvSpPr>
            <a:spLocks noGrp="1"/>
          </p:cNvSpPr>
          <p:nvPr>
            <p:ph type="body"/>
          </p:nvPr>
        </p:nvSpPr>
        <p:spPr>
          <a:xfrm>
            <a:off x="534240" y="1768680"/>
            <a:ext cx="962208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28" name="PlaceHolder 3"/>
          <p:cNvSpPr>
            <a:spLocks noGrp="1"/>
          </p:cNvSpPr>
          <p:nvPr>
            <p:ph type="body"/>
          </p:nvPr>
        </p:nvSpPr>
        <p:spPr>
          <a:xfrm>
            <a:off x="534240" y="4058640"/>
            <a:ext cx="962208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801720" y="1237320"/>
            <a:ext cx="9087840" cy="2631600"/>
          </a:xfrm>
          <a:prstGeom prst="rect">
            <a:avLst/>
          </a:prstGeom>
        </p:spPr>
        <p:txBody>
          <a:bodyPr lIns="0" tIns="0" rIns="0" bIns="0" anchor="ctr">
            <a:noAutofit/>
          </a:bodyPr>
          <a:lstStyle/>
          <a:p>
            <a:endParaRPr lang="en-US" sz="1800" b="0" strike="noStrike" spc="-1">
              <a:solidFill>
                <a:srgbClr val="000000"/>
              </a:solidFill>
              <a:latin typeface="Geometria light"/>
            </a:endParaRPr>
          </a:p>
        </p:txBody>
      </p:sp>
      <p:sp>
        <p:nvSpPr>
          <p:cNvPr id="30" name="PlaceHolder 2"/>
          <p:cNvSpPr>
            <a:spLocks noGrp="1"/>
          </p:cNvSpPr>
          <p:nvPr>
            <p:ph type="body"/>
          </p:nvPr>
        </p:nvSpPr>
        <p:spPr>
          <a:xfrm>
            <a:off x="534240" y="1768680"/>
            <a:ext cx="469548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31" name="PlaceHolder 3"/>
          <p:cNvSpPr>
            <a:spLocks noGrp="1"/>
          </p:cNvSpPr>
          <p:nvPr>
            <p:ph type="body"/>
          </p:nvPr>
        </p:nvSpPr>
        <p:spPr>
          <a:xfrm>
            <a:off x="5464800" y="1768680"/>
            <a:ext cx="469548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32" name="PlaceHolder 4"/>
          <p:cNvSpPr>
            <a:spLocks noGrp="1"/>
          </p:cNvSpPr>
          <p:nvPr>
            <p:ph type="body"/>
          </p:nvPr>
        </p:nvSpPr>
        <p:spPr>
          <a:xfrm>
            <a:off x="534240" y="4058640"/>
            <a:ext cx="469548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33" name="PlaceHolder 5"/>
          <p:cNvSpPr>
            <a:spLocks noGrp="1"/>
          </p:cNvSpPr>
          <p:nvPr>
            <p:ph type="body"/>
          </p:nvPr>
        </p:nvSpPr>
        <p:spPr>
          <a:xfrm>
            <a:off x="5464800" y="4058640"/>
            <a:ext cx="469548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801720" y="1237320"/>
            <a:ext cx="9087840" cy="2631600"/>
          </a:xfrm>
          <a:prstGeom prst="rect">
            <a:avLst/>
          </a:prstGeom>
        </p:spPr>
        <p:txBody>
          <a:bodyPr lIns="0" tIns="0" rIns="0" bIns="0" anchor="ctr">
            <a:noAutofit/>
          </a:bodyPr>
          <a:lstStyle/>
          <a:p>
            <a:endParaRPr lang="en-US" sz="1800" b="0" strike="noStrike" spc="-1">
              <a:solidFill>
                <a:srgbClr val="000000"/>
              </a:solidFill>
              <a:latin typeface="Geometria light"/>
            </a:endParaRPr>
          </a:p>
        </p:txBody>
      </p:sp>
      <p:sp>
        <p:nvSpPr>
          <p:cNvPr id="35" name="PlaceHolder 2"/>
          <p:cNvSpPr>
            <a:spLocks noGrp="1"/>
          </p:cNvSpPr>
          <p:nvPr>
            <p:ph type="body"/>
          </p:nvPr>
        </p:nvSpPr>
        <p:spPr>
          <a:xfrm>
            <a:off x="534240" y="1768680"/>
            <a:ext cx="309816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36" name="PlaceHolder 3"/>
          <p:cNvSpPr>
            <a:spLocks noGrp="1"/>
          </p:cNvSpPr>
          <p:nvPr>
            <p:ph type="body"/>
          </p:nvPr>
        </p:nvSpPr>
        <p:spPr>
          <a:xfrm>
            <a:off x="3787560" y="1768680"/>
            <a:ext cx="309816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37" name="PlaceHolder 4"/>
          <p:cNvSpPr>
            <a:spLocks noGrp="1"/>
          </p:cNvSpPr>
          <p:nvPr>
            <p:ph type="body"/>
          </p:nvPr>
        </p:nvSpPr>
        <p:spPr>
          <a:xfrm>
            <a:off x="7041240" y="1768680"/>
            <a:ext cx="309816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38" name="PlaceHolder 5"/>
          <p:cNvSpPr>
            <a:spLocks noGrp="1"/>
          </p:cNvSpPr>
          <p:nvPr>
            <p:ph type="body"/>
          </p:nvPr>
        </p:nvSpPr>
        <p:spPr>
          <a:xfrm>
            <a:off x="534240" y="4058640"/>
            <a:ext cx="309816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39" name="PlaceHolder 6"/>
          <p:cNvSpPr>
            <a:spLocks noGrp="1"/>
          </p:cNvSpPr>
          <p:nvPr>
            <p:ph type="body"/>
          </p:nvPr>
        </p:nvSpPr>
        <p:spPr>
          <a:xfrm>
            <a:off x="3787560" y="4058640"/>
            <a:ext cx="309816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40" name="PlaceHolder 7"/>
          <p:cNvSpPr>
            <a:spLocks noGrp="1"/>
          </p:cNvSpPr>
          <p:nvPr>
            <p:ph type="body"/>
          </p:nvPr>
        </p:nvSpPr>
        <p:spPr>
          <a:xfrm>
            <a:off x="7041240" y="4058640"/>
            <a:ext cx="309816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801720" y="1237320"/>
            <a:ext cx="9087840" cy="2631600"/>
          </a:xfrm>
          <a:prstGeom prst="rect">
            <a:avLst/>
          </a:prstGeom>
        </p:spPr>
        <p:txBody>
          <a:bodyPr anchor="b">
            <a:noAutofit/>
          </a:bodyPr>
          <a:lstStyle/>
          <a:p>
            <a:pPr algn="ctr">
              <a:lnSpc>
                <a:spcPct val="90000"/>
              </a:lnSpc>
            </a:pPr>
            <a:r>
              <a:rPr lang="ru-RU" sz="6619" b="0" strike="noStrike" spc="-1">
                <a:solidFill>
                  <a:srgbClr val="000000"/>
                </a:solidFill>
                <a:latin typeface="Geometria  bold"/>
              </a:rPr>
              <a:t>Образец заголовка</a:t>
            </a:r>
            <a:endParaRPr lang="en-US" sz="6619" b="0" strike="noStrike" spc="-1">
              <a:solidFill>
                <a:srgbClr val="000000"/>
              </a:solidFill>
              <a:latin typeface="Geometria light"/>
            </a:endParaRPr>
          </a:p>
        </p:txBody>
      </p:sp>
      <p:sp>
        <p:nvSpPr>
          <p:cNvPr id="6" name="PlaceHolder 2"/>
          <p:cNvSpPr>
            <a:spLocks noGrp="1"/>
          </p:cNvSpPr>
          <p:nvPr>
            <p:ph type="dt"/>
          </p:nvPr>
        </p:nvSpPr>
        <p:spPr>
          <a:xfrm>
            <a:off x="735120" y="7006680"/>
            <a:ext cx="2405160" cy="402120"/>
          </a:xfrm>
          <a:prstGeom prst="rect">
            <a:avLst/>
          </a:prstGeom>
        </p:spPr>
        <p:txBody>
          <a:bodyPr anchor="ctr">
            <a:noAutofit/>
          </a:bodyPr>
          <a:lstStyle/>
          <a:p>
            <a:pPr>
              <a:lnSpc>
                <a:spcPct val="100000"/>
              </a:lnSpc>
            </a:pPr>
            <a:fld id="{87095A16-4C3A-49BC-BA45-ED63D8DC7979}" type="datetime">
              <a:rPr lang="ru-RU" sz="1330" b="0" strike="noStrike" spc="-1">
                <a:solidFill>
                  <a:srgbClr val="8B8B8B"/>
                </a:solidFill>
                <a:latin typeface="Geometria light"/>
              </a:rPr>
              <a:t>08.10.2022</a:t>
            </a:fld>
            <a:endParaRPr lang="en-US" sz="1330" b="0" strike="noStrike" spc="-1">
              <a:latin typeface="Times New Roman"/>
            </a:endParaRPr>
          </a:p>
        </p:txBody>
      </p:sp>
      <p:sp>
        <p:nvSpPr>
          <p:cNvPr id="2" name="PlaceHolder 3"/>
          <p:cNvSpPr>
            <a:spLocks noGrp="1"/>
          </p:cNvSpPr>
          <p:nvPr>
            <p:ph type="ftr"/>
          </p:nvPr>
        </p:nvSpPr>
        <p:spPr>
          <a:xfrm>
            <a:off x="3541680" y="7006680"/>
            <a:ext cx="3608280" cy="402120"/>
          </a:xfrm>
          <a:prstGeom prst="rect">
            <a:avLst/>
          </a:prstGeom>
        </p:spPr>
        <p:txBody>
          <a:bodyPr anchor="ctr">
            <a:noAutofit/>
          </a:bodyPr>
          <a:lstStyle/>
          <a:p>
            <a:endParaRPr lang="en-US" sz="2400" b="0" strike="noStrike" spc="-1">
              <a:latin typeface="Times New Roman"/>
            </a:endParaRPr>
          </a:p>
        </p:txBody>
      </p:sp>
      <p:sp>
        <p:nvSpPr>
          <p:cNvPr id="3" name="PlaceHolder 4"/>
          <p:cNvSpPr>
            <a:spLocks noGrp="1"/>
          </p:cNvSpPr>
          <p:nvPr>
            <p:ph type="sldNum"/>
          </p:nvPr>
        </p:nvSpPr>
        <p:spPr>
          <a:xfrm>
            <a:off x="7551000" y="7006680"/>
            <a:ext cx="2405160" cy="402120"/>
          </a:xfrm>
          <a:prstGeom prst="rect">
            <a:avLst/>
          </a:prstGeom>
        </p:spPr>
        <p:txBody>
          <a:bodyPr anchor="ctr">
            <a:noAutofit/>
          </a:bodyPr>
          <a:lstStyle/>
          <a:p>
            <a:pPr algn="r">
              <a:lnSpc>
                <a:spcPct val="100000"/>
              </a:lnSpc>
            </a:pPr>
            <a:fld id="{CC19D91D-1076-4D88-80F8-03FFDA14860F}" type="slidenum">
              <a:rPr lang="ru-RU" sz="1330" b="0" strike="noStrike" spc="-1">
                <a:solidFill>
                  <a:srgbClr val="8B8B8B"/>
                </a:solidFill>
                <a:latin typeface="Geometria light"/>
              </a:rPr>
              <a:t>‹#›</a:t>
            </a:fld>
            <a:endParaRPr lang="en-US" sz="1330" b="0" strike="noStrike" spc="-1">
              <a:latin typeface="Times New Roman"/>
            </a:endParaRPr>
          </a:p>
        </p:txBody>
      </p:sp>
      <p:sp>
        <p:nvSpPr>
          <p:cNvPr id="4" name="PlaceHolder 5"/>
          <p:cNvSpPr>
            <a:spLocks noGrp="1"/>
          </p:cNvSpPr>
          <p:nvPr>
            <p:ph type="body"/>
          </p:nvPr>
        </p:nvSpPr>
        <p:spPr>
          <a:xfrm>
            <a:off x="534240" y="1768680"/>
            <a:ext cx="9622080" cy="43840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090" b="0" strike="noStrike" spc="-1">
                <a:solidFill>
                  <a:srgbClr val="000000"/>
                </a:solidFill>
                <a:latin typeface="Geometria light"/>
              </a:rPr>
              <a:t>Click to edit the outline text format</a:t>
            </a:r>
          </a:p>
          <a:p>
            <a:pPr marL="864000" lvl="1" indent="-324000">
              <a:spcBef>
                <a:spcPts val="1134"/>
              </a:spcBef>
              <a:buClr>
                <a:srgbClr val="000000"/>
              </a:buClr>
              <a:buSzPct val="75000"/>
              <a:buFont typeface="Symbol" charset="2"/>
              <a:buChar char=""/>
            </a:pPr>
            <a:r>
              <a:rPr lang="en-US" sz="2210" b="0" strike="noStrike" spc="-1">
                <a:solidFill>
                  <a:srgbClr val="000000"/>
                </a:solidFill>
                <a:latin typeface="Geometria light"/>
              </a:rPr>
              <a:t>Second Outline Level</a:t>
            </a:r>
          </a:p>
          <a:p>
            <a:pPr marL="1296000" lvl="2" indent="-288000">
              <a:spcBef>
                <a:spcPts val="850"/>
              </a:spcBef>
              <a:buClr>
                <a:srgbClr val="000000"/>
              </a:buClr>
              <a:buSzPct val="45000"/>
              <a:buFont typeface="Wingdings" charset="2"/>
              <a:buChar char=""/>
            </a:pPr>
            <a:r>
              <a:rPr lang="en-US" sz="1990" b="0" strike="noStrike" spc="-1">
                <a:solidFill>
                  <a:srgbClr val="000000"/>
                </a:solidFill>
                <a:latin typeface="Geometria light"/>
              </a:rPr>
              <a:t>Third Outline Level</a:t>
            </a:r>
          </a:p>
          <a:p>
            <a:pPr marL="1728000" lvl="3" indent="-216000">
              <a:spcBef>
                <a:spcPts val="567"/>
              </a:spcBef>
              <a:buClr>
                <a:srgbClr val="000000"/>
              </a:buClr>
              <a:buSzPct val="75000"/>
              <a:buFont typeface="Symbol" charset="2"/>
              <a:buChar char=""/>
            </a:pPr>
            <a:r>
              <a:rPr lang="en-US" sz="1990" b="0" strike="noStrike" spc="-1">
                <a:solidFill>
                  <a:srgbClr val="000000"/>
                </a:solidFill>
                <a:latin typeface="Geometria light"/>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Geometria light"/>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Geometria light"/>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Geometria light"/>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82" name="TextShape 1"/>
          <p:cNvSpPr txBox="1"/>
          <p:nvPr/>
        </p:nvSpPr>
        <p:spPr>
          <a:xfrm>
            <a:off x="360000" y="719999"/>
            <a:ext cx="10080000" cy="900000"/>
          </a:xfrm>
          <a:prstGeom prst="rect">
            <a:avLst/>
          </a:prstGeom>
          <a:noFill/>
          <a:ln>
            <a:noFill/>
          </a:ln>
        </p:spPr>
        <p:txBody>
          <a:bodyPr>
            <a:noAutofit/>
          </a:bodyPr>
          <a:lstStyle/>
          <a:p>
            <a:pPr algn="ctr">
              <a:lnSpc>
                <a:spcPct val="100000"/>
              </a:lnSpc>
            </a:pPr>
            <a:r>
              <a:rPr lang="ru-RU" sz="4800" spc="-1" dirty="0">
                <a:solidFill>
                  <a:srgbClr val="004892"/>
                </a:solidFill>
                <a:latin typeface="Montserrat Bold"/>
              </a:rPr>
              <a:t>Лекция </a:t>
            </a:r>
            <a:r>
              <a:rPr lang="en-US" sz="4800" spc="-1" dirty="0" smtClean="0">
                <a:solidFill>
                  <a:srgbClr val="004892"/>
                </a:solidFill>
                <a:latin typeface="Montserrat Bold"/>
              </a:rPr>
              <a:t>03</a:t>
            </a:r>
            <a:endParaRPr lang="en-US" sz="4800" b="0" strike="noStrike" spc="-1" dirty="0">
              <a:solidFill>
                <a:srgbClr val="000000"/>
              </a:solidFill>
              <a:latin typeface="Geometria light"/>
            </a:endParaRPr>
          </a:p>
        </p:txBody>
      </p:sp>
      <p:sp>
        <p:nvSpPr>
          <p:cNvPr id="83" name="CustomShape 2"/>
          <p:cNvSpPr/>
          <p:nvPr/>
        </p:nvSpPr>
        <p:spPr>
          <a:xfrm>
            <a:off x="0" y="6862680"/>
            <a:ext cx="10691280" cy="45864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en-US" sz="1600" b="0" strike="noStrike" spc="-1" dirty="0" smtClean="0">
                <a:solidFill>
                  <a:srgbClr val="173277"/>
                </a:solidFill>
                <a:latin typeface="Montserrat"/>
              </a:rPr>
              <a:t>2022</a:t>
            </a:r>
            <a:endParaRPr lang="en-US" sz="1600" b="0" strike="noStrike" spc="-1" dirty="0">
              <a:latin typeface="Arial"/>
            </a:endParaRPr>
          </a:p>
        </p:txBody>
      </p:sp>
      <p:pic>
        <p:nvPicPr>
          <p:cNvPr id="84" name="Рисунок 2"/>
          <p:cNvPicPr/>
          <p:nvPr/>
        </p:nvPicPr>
        <p:blipFill>
          <a:blip r:embed="rId3"/>
          <a:stretch/>
        </p:blipFill>
        <p:spPr>
          <a:xfrm>
            <a:off x="4115160" y="5178600"/>
            <a:ext cx="2232360" cy="1426680"/>
          </a:xfrm>
          <a:prstGeom prst="rect">
            <a:avLst/>
          </a:prstGeom>
          <a:ln>
            <a:noFill/>
          </a:ln>
        </p:spPr>
      </p:pic>
      <p:sp>
        <p:nvSpPr>
          <p:cNvPr id="85" name="CustomShape 3"/>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err="1">
                <a:solidFill>
                  <a:srgbClr val="004892"/>
                </a:solidFill>
                <a:latin typeface="Montserrat"/>
              </a:rPr>
              <a:t>Агентно</a:t>
            </a:r>
            <a:r>
              <a:rPr lang="ru-RU" sz="2000" spc="-1" dirty="0">
                <a:solidFill>
                  <a:srgbClr val="004892"/>
                </a:solidFill>
                <a:latin typeface="Montserrat"/>
              </a:rPr>
              <a:t>-ориентированный </a:t>
            </a:r>
            <a:r>
              <a:rPr lang="ru-RU" sz="2000" spc="-1" dirty="0" smtClean="0">
                <a:solidFill>
                  <a:srgbClr val="004892"/>
                </a:solidFill>
                <a:latin typeface="Montserrat"/>
              </a:rPr>
              <a:t>подход</a:t>
            </a:r>
          </a:p>
          <a:p>
            <a:pPr>
              <a:lnSpc>
                <a:spcPct val="100000"/>
              </a:lnSpc>
            </a:pPr>
            <a:r>
              <a:rPr lang="en-US" sz="2000" spc="-1" dirty="0">
                <a:solidFill>
                  <a:srgbClr val="004892"/>
                </a:solidFill>
                <a:latin typeface="Montserrat"/>
              </a:rPr>
              <a:t>Java Agent Development </a:t>
            </a:r>
            <a:r>
              <a:rPr lang="en-US" sz="2000" spc="-1" dirty="0" smtClean="0">
                <a:solidFill>
                  <a:srgbClr val="004892"/>
                </a:solidFill>
                <a:latin typeface="Montserrat"/>
              </a:rPr>
              <a:t>Framework</a:t>
            </a:r>
          </a:p>
          <a:p>
            <a:pPr>
              <a:lnSpc>
                <a:spcPct val="100000"/>
              </a:lnSpc>
            </a:pPr>
            <a:r>
              <a:rPr lang="ru-RU" sz="2000" spc="-1" dirty="0" err="1">
                <a:solidFill>
                  <a:srgbClr val="004892"/>
                </a:solidFill>
                <a:latin typeface="Montserrat"/>
              </a:rPr>
              <a:t>Мультиагентная</a:t>
            </a:r>
            <a:r>
              <a:rPr lang="ru-RU" sz="2000" spc="-1" dirty="0">
                <a:solidFill>
                  <a:srgbClr val="004892"/>
                </a:solidFill>
                <a:latin typeface="Montserrat"/>
              </a:rPr>
              <a:t> система</a:t>
            </a:r>
            <a:endParaRPr lang="ru-RU" sz="2000" spc="-1" dirty="0" smtClean="0">
              <a:solidFill>
                <a:srgbClr val="004892"/>
              </a:solidFill>
              <a:latin typeface="Montserrat"/>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2160000"/>
            <a:ext cx="10080000" cy="90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err="1">
                <a:solidFill>
                  <a:srgbClr val="004892"/>
                </a:solidFill>
                <a:latin typeface="Montserrat"/>
              </a:rPr>
              <a:t>Агентно</a:t>
            </a:r>
            <a:r>
              <a:rPr lang="ru-RU" sz="3600" spc="-1" dirty="0">
                <a:solidFill>
                  <a:srgbClr val="004892"/>
                </a:solidFill>
                <a:latin typeface="Montserrat"/>
              </a:rPr>
              <a:t>-ориентированный подход</a:t>
            </a:r>
            <a:endParaRPr lang="en-US" sz="3600" b="0" strike="noStrike" spc="-1" dirty="0">
              <a:latin typeface="Arial"/>
            </a:endParaRPr>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dirty="0">
                <a:solidFill>
                  <a:srgbClr val="004892"/>
                </a:solidFill>
                <a:latin typeface="Montserrat"/>
              </a:rPr>
              <a:t>Ульяновский государственный технический университет</a:t>
            </a:r>
            <a:endParaRPr lang="en-US" sz="1400" b="0" strike="noStrike" spc="-1" dirty="0">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Tree>
    <p:extLst>
      <p:ext uri="{BB962C8B-B14F-4D97-AF65-F5344CB8AC3E}">
        <p14:creationId xmlns:p14="http://schemas.microsoft.com/office/powerpoint/2010/main" val="4157942312"/>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err="1">
                <a:solidFill>
                  <a:srgbClr val="004892"/>
                </a:solidFill>
                <a:latin typeface="Montserrat"/>
              </a:rPr>
              <a:t>Агентно</a:t>
            </a:r>
            <a:r>
              <a:rPr lang="ru-RU" sz="3600" spc="-1" dirty="0">
                <a:solidFill>
                  <a:srgbClr val="004892"/>
                </a:solidFill>
                <a:latin typeface="Montserrat"/>
              </a:rPr>
              <a:t>-ориентированный подход</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err="1">
                <a:solidFill>
                  <a:srgbClr val="004892"/>
                </a:solidFill>
                <a:latin typeface="Montserrat Bold"/>
              </a:rPr>
              <a:t>Агентно</a:t>
            </a:r>
            <a:r>
              <a:rPr lang="ru-RU" sz="2000" spc="-1" dirty="0">
                <a:solidFill>
                  <a:srgbClr val="004892"/>
                </a:solidFill>
                <a:latin typeface="Montserrat Bold"/>
              </a:rPr>
              <a:t>-ориентированный подход</a:t>
            </a: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err="1" smtClean="0">
                <a:solidFill>
                  <a:srgbClr val="262626"/>
                </a:solidFill>
                <a:latin typeface="Montserrat"/>
              </a:rPr>
              <a:t>Агентно</a:t>
            </a:r>
            <a:r>
              <a:rPr lang="ru-RU" sz="2000" spc="-1" dirty="0" smtClean="0">
                <a:solidFill>
                  <a:srgbClr val="262626"/>
                </a:solidFill>
                <a:latin typeface="Montserrat"/>
              </a:rPr>
              <a:t>-ориентированный </a:t>
            </a:r>
            <a:r>
              <a:rPr lang="ru-RU" sz="2000" spc="-1" dirty="0">
                <a:solidFill>
                  <a:srgbClr val="262626"/>
                </a:solidFill>
                <a:latin typeface="Montserrat"/>
              </a:rPr>
              <a:t>подход </a:t>
            </a:r>
            <a:r>
              <a:rPr lang="ru-RU" sz="2000" spc="-1" dirty="0" smtClean="0">
                <a:solidFill>
                  <a:srgbClr val="262626"/>
                </a:solidFill>
                <a:latin typeface="Montserrat"/>
              </a:rPr>
              <a:t>к </a:t>
            </a:r>
            <a:r>
              <a:rPr lang="ru-RU" sz="2000" spc="-1" dirty="0">
                <a:solidFill>
                  <a:srgbClr val="262626"/>
                </a:solidFill>
                <a:latin typeface="Montserrat"/>
              </a:rPr>
              <a:t>программированию –</a:t>
            </a:r>
            <a:r>
              <a:rPr lang="ru-RU" sz="2000" spc="-1" dirty="0" smtClean="0">
                <a:solidFill>
                  <a:srgbClr val="262626"/>
                </a:solidFill>
                <a:latin typeface="Montserrat"/>
              </a:rPr>
              <a:t> </a:t>
            </a:r>
            <a:r>
              <a:rPr lang="ru-RU" sz="2000" spc="-1" dirty="0">
                <a:solidFill>
                  <a:srgbClr val="262626"/>
                </a:solidFill>
                <a:latin typeface="Montserrat"/>
              </a:rPr>
              <a:t>разновидность представления программ или парадигма программирования, в которой основополагающими концепциями являются понятия </a:t>
            </a:r>
            <a:r>
              <a:rPr lang="ru-RU" sz="2000" b="1" spc="-1" dirty="0">
                <a:solidFill>
                  <a:srgbClr val="262626"/>
                </a:solidFill>
                <a:latin typeface="Montserrat"/>
              </a:rPr>
              <a:t>агента</a:t>
            </a:r>
            <a:r>
              <a:rPr lang="ru-RU" sz="2000" spc="-1" dirty="0">
                <a:solidFill>
                  <a:srgbClr val="262626"/>
                </a:solidFill>
                <a:latin typeface="Montserrat"/>
              </a:rPr>
              <a:t> и его </a:t>
            </a:r>
            <a:r>
              <a:rPr lang="ru-RU" sz="2000" b="1" spc="-1" dirty="0">
                <a:solidFill>
                  <a:srgbClr val="262626"/>
                </a:solidFill>
                <a:latin typeface="Montserrat"/>
              </a:rPr>
              <a:t>ментальное поведение</a:t>
            </a:r>
            <a:r>
              <a:rPr lang="ru-RU" sz="2000" spc="-1" dirty="0">
                <a:solidFill>
                  <a:srgbClr val="262626"/>
                </a:solidFill>
                <a:latin typeface="Montserrat"/>
              </a:rPr>
              <a:t>, зависящее от среды, в которой он находится</a:t>
            </a:r>
            <a:r>
              <a:rPr lang="ru-RU" sz="2000" spc="-1" dirty="0" smtClean="0">
                <a:solidFill>
                  <a:srgbClr val="262626"/>
                </a:solidFill>
                <a:latin typeface="Montserrat"/>
              </a:rPr>
              <a:t>.</a:t>
            </a:r>
            <a:endParaRPr lang="en-US" sz="2000" spc="-1" dirty="0" smtClean="0">
              <a:solidFill>
                <a:srgbClr val="262626"/>
              </a:solidFill>
              <a:latin typeface="Montserrat"/>
            </a:endParaRPr>
          </a:p>
          <a:p>
            <a:pPr algn="just">
              <a:lnSpc>
                <a:spcPct val="100000"/>
              </a:lnSpc>
            </a:pPr>
            <a:r>
              <a:rPr lang="ru-RU" sz="2000" spc="-1" dirty="0">
                <a:solidFill>
                  <a:srgbClr val="262626"/>
                </a:solidFill>
                <a:latin typeface="Montserrat"/>
              </a:rPr>
              <a:t>Агентом является </a:t>
            </a:r>
            <a:r>
              <a:rPr lang="ru-RU" sz="2000" spc="-1" dirty="0" smtClean="0">
                <a:solidFill>
                  <a:srgbClr val="262626"/>
                </a:solidFill>
                <a:latin typeface="Montserrat"/>
              </a:rPr>
              <a:t>вс</a:t>
            </a:r>
            <a:r>
              <a:rPr lang="ru-RU" sz="2000" spc="-1" dirty="0">
                <a:solidFill>
                  <a:srgbClr val="262626"/>
                </a:solidFill>
                <a:latin typeface="Montserrat"/>
              </a:rPr>
              <a:t>е</a:t>
            </a:r>
            <a:r>
              <a:rPr lang="ru-RU" sz="2000" spc="-1" dirty="0" smtClean="0">
                <a:solidFill>
                  <a:srgbClr val="262626"/>
                </a:solidFill>
                <a:latin typeface="Montserrat"/>
              </a:rPr>
              <a:t>, </a:t>
            </a:r>
            <a:r>
              <a:rPr lang="ru-RU" sz="2000" spc="-1" dirty="0">
                <a:solidFill>
                  <a:srgbClr val="262626"/>
                </a:solidFill>
                <a:latin typeface="Montserrat"/>
              </a:rPr>
              <a:t>что может рассматриваться как воспринимающее свою среду с помощью датчиков и воздействующее на эту среду с помощью исполнительных механизмов.</a:t>
            </a:r>
          </a:p>
        </p:txBody>
      </p:sp>
    </p:spTree>
    <p:extLst>
      <p:ext uri="{BB962C8B-B14F-4D97-AF65-F5344CB8AC3E}">
        <p14:creationId xmlns:p14="http://schemas.microsoft.com/office/powerpoint/2010/main" val="4059547501"/>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err="1">
                <a:solidFill>
                  <a:srgbClr val="004892"/>
                </a:solidFill>
                <a:latin typeface="Montserrat"/>
              </a:rPr>
              <a:t>Агентно</a:t>
            </a:r>
            <a:r>
              <a:rPr lang="ru-RU" sz="3600" spc="-1" dirty="0">
                <a:solidFill>
                  <a:srgbClr val="004892"/>
                </a:solidFill>
                <a:latin typeface="Montserrat"/>
              </a:rPr>
              <a:t>-ориентированный подход</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Предпосылки</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a:solidFill>
                  <a:srgbClr val="262626"/>
                </a:solidFill>
                <a:latin typeface="Montserrat"/>
              </a:rPr>
              <a:t>Причины возникновения </a:t>
            </a:r>
            <a:r>
              <a:rPr lang="ru-RU" sz="2000" spc="-1" dirty="0" err="1">
                <a:solidFill>
                  <a:srgbClr val="262626"/>
                </a:solidFill>
                <a:latin typeface="Montserrat"/>
              </a:rPr>
              <a:t>агентно</a:t>
            </a:r>
            <a:r>
              <a:rPr lang="ru-RU" sz="2000" spc="-1" dirty="0">
                <a:solidFill>
                  <a:srgbClr val="262626"/>
                </a:solidFill>
                <a:latin typeface="Montserrat"/>
              </a:rPr>
              <a:t>-ориентированного подхода:</a:t>
            </a: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необходимость </a:t>
            </a:r>
            <a:r>
              <a:rPr lang="ru-RU" sz="2000" spc="-1" dirty="0">
                <a:solidFill>
                  <a:srgbClr val="262626"/>
                </a:solidFill>
                <a:latin typeface="Montserrat"/>
              </a:rPr>
              <a:t>преодоления границ операционных сред;</a:t>
            </a: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устранение разнородности объектных моделей, вызванных тем, что классы и объекты, построенные в различных инструментальных средах, имеют </a:t>
            </a:r>
            <a:r>
              <a:rPr lang="ru-RU" sz="2000" spc="-1" dirty="0" smtClean="0">
                <a:solidFill>
                  <a:srgbClr val="262626"/>
                </a:solidFill>
                <a:latin typeface="Montserrat"/>
              </a:rPr>
              <a:t>определ</a:t>
            </a:r>
            <a:r>
              <a:rPr lang="ru-RU" sz="2000" spc="-1" dirty="0">
                <a:solidFill>
                  <a:srgbClr val="262626"/>
                </a:solidFill>
                <a:latin typeface="Montserrat"/>
              </a:rPr>
              <a:t>е</a:t>
            </a:r>
            <a:r>
              <a:rPr lang="ru-RU" sz="2000" spc="-1" dirty="0" smtClean="0">
                <a:solidFill>
                  <a:srgbClr val="262626"/>
                </a:solidFill>
                <a:latin typeface="Montserrat"/>
              </a:rPr>
              <a:t>нные </a:t>
            </a:r>
            <a:r>
              <a:rPr lang="ru-RU" sz="2000" spc="-1" dirty="0">
                <a:solidFill>
                  <a:srgbClr val="262626"/>
                </a:solidFill>
                <a:latin typeface="Montserrat"/>
              </a:rPr>
              <a:t>отличия.</a:t>
            </a:r>
          </a:p>
        </p:txBody>
      </p:sp>
    </p:spTree>
    <p:extLst>
      <p:ext uri="{BB962C8B-B14F-4D97-AF65-F5344CB8AC3E}">
        <p14:creationId xmlns:p14="http://schemas.microsoft.com/office/powerpoint/2010/main" val="3823401098"/>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err="1">
                <a:solidFill>
                  <a:srgbClr val="004892"/>
                </a:solidFill>
                <a:latin typeface="Montserrat"/>
              </a:rPr>
              <a:t>Агентно</a:t>
            </a:r>
            <a:r>
              <a:rPr lang="ru-RU" sz="3600" spc="-1" dirty="0">
                <a:solidFill>
                  <a:srgbClr val="004892"/>
                </a:solidFill>
                <a:latin typeface="Montserrat"/>
              </a:rPr>
              <a:t>-ориентированный подход</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Предпосылки</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smtClean="0">
                <a:solidFill>
                  <a:srgbClr val="262626"/>
                </a:solidFill>
                <a:latin typeface="Montserrat"/>
              </a:rPr>
              <a:t>Имеющиеся, распределенные </a:t>
            </a:r>
            <a:r>
              <a:rPr lang="ru-RU" sz="2000" spc="-1" dirty="0">
                <a:solidFill>
                  <a:srgbClr val="262626"/>
                </a:solidFill>
                <a:latin typeface="Montserrat"/>
              </a:rPr>
              <a:t>объектные архитектуры (CORBA, DCOM, </a:t>
            </a:r>
            <a:r>
              <a:rPr lang="ru-RU" sz="2000" spc="-1" dirty="0" err="1">
                <a:solidFill>
                  <a:srgbClr val="262626"/>
                </a:solidFill>
                <a:latin typeface="Montserrat"/>
              </a:rPr>
              <a:t>Java</a:t>
            </a:r>
            <a:r>
              <a:rPr lang="ru-RU" sz="2000" spc="-1" dirty="0">
                <a:solidFill>
                  <a:srgbClr val="262626"/>
                </a:solidFill>
                <a:latin typeface="Montserrat"/>
              </a:rPr>
              <a:t> RMI, WEB-</a:t>
            </a:r>
            <a:r>
              <a:rPr lang="ru-RU" sz="2000" spc="-1" dirty="0" err="1">
                <a:solidFill>
                  <a:srgbClr val="262626"/>
                </a:solidFill>
                <a:latin typeface="Montserrat"/>
              </a:rPr>
              <a:t>services</a:t>
            </a:r>
            <a:r>
              <a:rPr lang="ru-RU" sz="2000" spc="-1" dirty="0">
                <a:solidFill>
                  <a:srgbClr val="262626"/>
                </a:solidFill>
                <a:latin typeface="Montserrat"/>
              </a:rPr>
              <a:t>), </a:t>
            </a:r>
            <a:r>
              <a:rPr lang="ru-RU" sz="2000" spc="-1" dirty="0" smtClean="0">
                <a:solidFill>
                  <a:srgbClr val="262626"/>
                </a:solidFill>
                <a:latin typeface="Montserrat"/>
              </a:rPr>
              <a:t>имеют </a:t>
            </a:r>
            <a:r>
              <a:rPr lang="ru-RU" sz="2000" spc="-1" dirty="0">
                <a:solidFill>
                  <a:srgbClr val="262626"/>
                </a:solidFill>
                <a:latin typeface="Montserrat"/>
              </a:rPr>
              <a:t>следующие недостатки:</a:t>
            </a: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необходимость </a:t>
            </a:r>
            <a:r>
              <a:rPr lang="ru-RU" sz="2000" spc="-1" dirty="0">
                <a:solidFill>
                  <a:srgbClr val="262626"/>
                </a:solidFill>
                <a:latin typeface="Montserrat"/>
              </a:rPr>
              <a:t>перекомпиляции программных кодов при внесении изменений в объекты и интерфейсы;</a:t>
            </a: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невозможность </a:t>
            </a:r>
            <a:r>
              <a:rPr lang="ru-RU" sz="2000" b="1" spc="-1" dirty="0">
                <a:solidFill>
                  <a:srgbClr val="262626"/>
                </a:solidFill>
                <a:latin typeface="Montserrat"/>
              </a:rPr>
              <a:t>динамической адаптации </a:t>
            </a:r>
            <a:r>
              <a:rPr lang="ru-RU" sz="2000" spc="-1" dirty="0">
                <a:solidFill>
                  <a:srgbClr val="262626"/>
                </a:solidFill>
                <a:latin typeface="Montserrat"/>
              </a:rPr>
              <a:t>поведения программных объектов в зависимости от состояний и поведения среды;</a:t>
            </a: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невозможность работы в явной форме с </a:t>
            </a:r>
            <a:r>
              <a:rPr lang="ru-RU" sz="2000" b="1" spc="-1" dirty="0">
                <a:solidFill>
                  <a:srgbClr val="262626"/>
                </a:solidFill>
                <a:latin typeface="Montserrat"/>
              </a:rPr>
              <a:t>моделями </a:t>
            </a:r>
            <a:r>
              <a:rPr lang="ru-RU" sz="2000" b="1" spc="-1" dirty="0" smtClean="0">
                <a:solidFill>
                  <a:srgbClr val="262626"/>
                </a:solidFill>
                <a:latin typeface="Montserrat"/>
              </a:rPr>
              <a:t>знаний</a:t>
            </a:r>
            <a:r>
              <a:rPr lang="ru-RU" sz="2000" spc="-1" dirty="0" smtClean="0">
                <a:solidFill>
                  <a:srgbClr val="262626"/>
                </a:solidFill>
                <a:latin typeface="Montserrat"/>
              </a:rPr>
              <a:t>.</a:t>
            </a:r>
            <a:endParaRPr lang="ru-RU" sz="2000" spc="-1" dirty="0">
              <a:solidFill>
                <a:srgbClr val="262626"/>
              </a:solidFill>
              <a:latin typeface="Montserrat"/>
            </a:endParaRPr>
          </a:p>
        </p:txBody>
      </p:sp>
    </p:spTree>
    <p:extLst>
      <p:ext uri="{BB962C8B-B14F-4D97-AF65-F5344CB8AC3E}">
        <p14:creationId xmlns:p14="http://schemas.microsoft.com/office/powerpoint/2010/main" val="3232353125"/>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err="1">
                <a:solidFill>
                  <a:srgbClr val="004892"/>
                </a:solidFill>
                <a:latin typeface="Montserrat"/>
              </a:rPr>
              <a:t>Агентно</a:t>
            </a:r>
            <a:r>
              <a:rPr lang="ru-RU" sz="3600" spc="-1" dirty="0">
                <a:solidFill>
                  <a:srgbClr val="004892"/>
                </a:solidFill>
                <a:latin typeface="Montserrat"/>
              </a:rPr>
              <a:t>-ориентированный подход</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Основные понятия АОП</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Объект – программная </a:t>
            </a:r>
            <a:r>
              <a:rPr lang="ru-RU" sz="2000" spc="-1" dirty="0">
                <a:solidFill>
                  <a:srgbClr val="262626"/>
                </a:solidFill>
                <a:latin typeface="Montserrat"/>
              </a:rPr>
              <a:t>сущность заданной структуры и конкретизированных механизмов взаимодействия с другими объектами посредством передачи сообщений. Сообщения формируются и отсылаются в ответ на пришедшие сообщения. Формирование сообщений происходит процедурами на основании данных.</a:t>
            </a:r>
          </a:p>
          <a:p>
            <a:pPr marL="342900" indent="-342900" algn="just">
              <a:lnSpc>
                <a:spcPct val="100000"/>
              </a:lnSpc>
              <a:buFont typeface="Wingdings" panose="05000000000000000000" pitchFamily="2" charset="2"/>
              <a:buChar char="§"/>
            </a:pPr>
            <a:r>
              <a:rPr lang="ru-RU" sz="2000" spc="-1" dirty="0" err="1" smtClean="0">
                <a:solidFill>
                  <a:srgbClr val="262626"/>
                </a:solidFill>
                <a:latin typeface="Montserrat"/>
              </a:rPr>
              <a:t>Актор</a:t>
            </a:r>
            <a:r>
              <a:rPr lang="ru-RU" sz="2000" spc="-1" dirty="0">
                <a:solidFill>
                  <a:srgbClr val="262626"/>
                </a:solidFill>
                <a:latin typeface="Montserrat"/>
              </a:rPr>
              <a:t> – программная </a:t>
            </a:r>
            <a:r>
              <a:rPr lang="ru-RU" sz="2000" spc="-1" dirty="0" smtClean="0">
                <a:solidFill>
                  <a:srgbClr val="262626"/>
                </a:solidFill>
                <a:latin typeface="Montserrat"/>
              </a:rPr>
              <a:t>сущность </a:t>
            </a:r>
            <a:r>
              <a:rPr lang="ru-RU" sz="2000" spc="-1" dirty="0">
                <a:solidFill>
                  <a:srgbClr val="262626"/>
                </a:solidFill>
                <a:latin typeface="Montserrat"/>
              </a:rPr>
              <a:t>заданной структуры и механизмов взаимодействия.</a:t>
            </a:r>
          </a:p>
          <a:p>
            <a:pPr marL="800100" lvl="1" indent="-342900" algn="just">
              <a:buFont typeface="Wingdings" panose="05000000000000000000" pitchFamily="2" charset="2"/>
              <a:buChar char="§"/>
            </a:pPr>
            <a:r>
              <a:rPr lang="ru-RU" sz="2000" spc="-1" dirty="0">
                <a:solidFill>
                  <a:srgbClr val="262626"/>
                </a:solidFill>
                <a:latin typeface="Montserrat"/>
              </a:rPr>
              <a:t>Содержит данные и процедуры.</a:t>
            </a:r>
          </a:p>
          <a:p>
            <a:pPr marL="800100" lvl="1" indent="-342900" algn="just">
              <a:buFont typeface="Wingdings" panose="05000000000000000000" pitchFamily="2" charset="2"/>
              <a:buChar char="§"/>
            </a:pPr>
            <a:r>
              <a:rPr lang="ru-RU" sz="2000" spc="-1" dirty="0">
                <a:solidFill>
                  <a:srgbClr val="262626"/>
                </a:solidFill>
                <a:latin typeface="Montserrat"/>
              </a:rPr>
              <a:t>Обладает инкапсуляцией, отношениями, наследованием и может порождать </a:t>
            </a:r>
            <a:r>
              <a:rPr lang="ru-RU" sz="2000" spc="-1" dirty="0" smtClean="0">
                <a:solidFill>
                  <a:srgbClr val="262626"/>
                </a:solidFill>
                <a:latin typeface="Montserrat"/>
              </a:rPr>
              <a:t>сообщения.</a:t>
            </a:r>
            <a:endParaRPr lang="ru-RU" sz="2000" spc="-1" dirty="0">
              <a:solidFill>
                <a:srgbClr val="262626"/>
              </a:solidFill>
              <a:latin typeface="Montserrat"/>
            </a:endParaRPr>
          </a:p>
        </p:txBody>
      </p:sp>
    </p:spTree>
    <p:extLst>
      <p:ext uri="{BB962C8B-B14F-4D97-AF65-F5344CB8AC3E}">
        <p14:creationId xmlns:p14="http://schemas.microsoft.com/office/powerpoint/2010/main" val="1037272780"/>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err="1">
                <a:solidFill>
                  <a:srgbClr val="004892"/>
                </a:solidFill>
                <a:latin typeface="Montserrat"/>
              </a:rPr>
              <a:t>Агентно</a:t>
            </a:r>
            <a:r>
              <a:rPr lang="ru-RU" sz="3600" spc="-1" dirty="0">
                <a:solidFill>
                  <a:srgbClr val="004892"/>
                </a:solidFill>
                <a:latin typeface="Montserrat"/>
              </a:rPr>
              <a:t>-ориентированный подход</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Основные понятия АОП</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Агент</a:t>
            </a:r>
            <a:r>
              <a:rPr lang="ru-RU" sz="2000" spc="-1" dirty="0">
                <a:solidFill>
                  <a:srgbClr val="262626"/>
                </a:solidFill>
                <a:latin typeface="Montserrat"/>
              </a:rPr>
              <a:t> – программная </a:t>
            </a:r>
            <a:r>
              <a:rPr lang="ru-RU" sz="2000" spc="-1" dirty="0" smtClean="0">
                <a:solidFill>
                  <a:srgbClr val="262626"/>
                </a:solidFill>
                <a:latin typeface="Montserrat"/>
              </a:rPr>
              <a:t>сущность </a:t>
            </a:r>
            <a:r>
              <a:rPr lang="ru-RU" sz="2000" spc="-1" dirty="0">
                <a:solidFill>
                  <a:srgbClr val="262626"/>
                </a:solidFill>
                <a:latin typeface="Montserrat"/>
              </a:rPr>
              <a:t>для выполнения поставленных задач. Обладает </a:t>
            </a:r>
            <a:r>
              <a:rPr lang="ru-RU" sz="2000" b="1" spc="-1" dirty="0">
                <a:solidFill>
                  <a:srgbClr val="262626"/>
                </a:solidFill>
                <a:latin typeface="Montserrat"/>
              </a:rPr>
              <a:t>поведением</a:t>
            </a:r>
            <a:r>
              <a:rPr lang="ru-RU" sz="2000" spc="-1" dirty="0">
                <a:solidFill>
                  <a:srgbClr val="262626"/>
                </a:solidFill>
                <a:latin typeface="Montserrat"/>
              </a:rPr>
              <a:t>, а именно: взаимодействует с внешней сложной и динамично-развивающейся средой, способной модифицироваться или быть модифицированной другими агентами в зависимости от конкретных условий. Взаимодействие </a:t>
            </a:r>
            <a:r>
              <a:rPr lang="ru-RU" sz="2000" spc="-1" dirty="0" smtClean="0">
                <a:solidFill>
                  <a:srgbClr val="262626"/>
                </a:solidFill>
                <a:latin typeface="Montserrat"/>
              </a:rPr>
              <a:t>подразумевает:</a:t>
            </a:r>
            <a:endParaRPr lang="ru-RU" sz="2000" spc="-1" dirty="0">
              <a:solidFill>
                <a:srgbClr val="262626"/>
              </a:solidFill>
              <a:latin typeface="Montserrat"/>
            </a:endParaRPr>
          </a:p>
          <a:p>
            <a:pPr marL="800100" lvl="1" indent="-342900" algn="just">
              <a:buFont typeface="Wingdings" panose="05000000000000000000" pitchFamily="2" charset="2"/>
              <a:buChar char="§"/>
            </a:pPr>
            <a:r>
              <a:rPr lang="ru-RU" sz="2000" spc="-1" dirty="0">
                <a:solidFill>
                  <a:srgbClr val="262626"/>
                </a:solidFill>
                <a:latin typeface="Montserrat"/>
              </a:rPr>
              <a:t>восприятие динамики среды;</a:t>
            </a:r>
          </a:p>
          <a:p>
            <a:pPr marL="800100" lvl="1" indent="-342900" algn="just">
              <a:buFont typeface="Wingdings" panose="05000000000000000000" pitchFamily="2" charset="2"/>
              <a:buChar char="§"/>
            </a:pPr>
            <a:r>
              <a:rPr lang="ru-RU" sz="2000" spc="-1" dirty="0">
                <a:solidFill>
                  <a:srgbClr val="262626"/>
                </a:solidFill>
                <a:latin typeface="Montserrat"/>
              </a:rPr>
              <a:t>действия, изменяющие среду;</a:t>
            </a:r>
          </a:p>
          <a:p>
            <a:pPr marL="800100" lvl="1" indent="-342900" algn="just">
              <a:buFont typeface="Wingdings" panose="05000000000000000000" pitchFamily="2" charset="2"/>
              <a:buChar char="§"/>
            </a:pPr>
            <a:r>
              <a:rPr lang="ru-RU" sz="2000" spc="-1" dirty="0">
                <a:solidFill>
                  <a:srgbClr val="262626"/>
                </a:solidFill>
                <a:latin typeface="Montserrat"/>
              </a:rPr>
              <a:t>рассуждения в целях интерпретации наблюдаемых явлений, решения задач, вывода заключений и определения действий.</a:t>
            </a:r>
          </a:p>
        </p:txBody>
      </p:sp>
    </p:spTree>
    <p:extLst>
      <p:ext uri="{BB962C8B-B14F-4D97-AF65-F5344CB8AC3E}">
        <p14:creationId xmlns:p14="http://schemas.microsoft.com/office/powerpoint/2010/main" val="1922244553"/>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err="1">
                <a:solidFill>
                  <a:srgbClr val="004892"/>
                </a:solidFill>
                <a:latin typeface="Montserrat"/>
              </a:rPr>
              <a:t>Агентно</a:t>
            </a:r>
            <a:r>
              <a:rPr lang="ru-RU" sz="3600" spc="-1" dirty="0">
                <a:solidFill>
                  <a:srgbClr val="004892"/>
                </a:solidFill>
                <a:latin typeface="Montserrat"/>
              </a:rPr>
              <a:t>-ориентированный подход</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Агент</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smtClean="0">
                <a:solidFill>
                  <a:srgbClr val="262626"/>
                </a:solidFill>
                <a:latin typeface="Montserrat"/>
              </a:rPr>
              <a:t>И хотя, в общем плане, под </a:t>
            </a:r>
            <a:r>
              <a:rPr lang="ru-RU" sz="2000" spc="-1" dirty="0">
                <a:solidFill>
                  <a:srgbClr val="262626"/>
                </a:solidFill>
                <a:latin typeface="Montserrat"/>
              </a:rPr>
              <a:t>агентом </a:t>
            </a:r>
            <a:r>
              <a:rPr lang="ru-RU" sz="2000" spc="-1" dirty="0" smtClean="0">
                <a:solidFill>
                  <a:srgbClr val="262626"/>
                </a:solidFill>
                <a:latin typeface="Montserrat"/>
              </a:rPr>
              <a:t>понимается программный агент, это понятие </a:t>
            </a:r>
            <a:r>
              <a:rPr lang="ru-RU" sz="2000" spc="-1" dirty="0">
                <a:solidFill>
                  <a:srgbClr val="262626"/>
                </a:solidFill>
                <a:latin typeface="Montserrat"/>
              </a:rPr>
              <a:t>базируется на теории искусственного интеллекта и отталкивается от понятия </a:t>
            </a:r>
            <a:r>
              <a:rPr lang="ru-RU" sz="2000" spc="-1" dirty="0" smtClean="0">
                <a:solidFill>
                  <a:srgbClr val="262626"/>
                </a:solidFill>
                <a:latin typeface="Montserrat"/>
              </a:rPr>
              <a:t>интеллектуального агента. Но, так как это понятие </a:t>
            </a:r>
            <a:r>
              <a:rPr lang="ru-RU" sz="2000" spc="-1" dirty="0">
                <a:solidFill>
                  <a:srgbClr val="262626"/>
                </a:solidFill>
                <a:latin typeface="Montserrat"/>
              </a:rPr>
              <a:t>достаточно расплывчато, </a:t>
            </a:r>
            <a:r>
              <a:rPr lang="ru-RU" sz="2000" spc="-1" dirty="0" smtClean="0">
                <a:solidFill>
                  <a:srgbClr val="262626"/>
                </a:solidFill>
                <a:latin typeface="Montserrat"/>
              </a:rPr>
              <a:t>то предлагается </a:t>
            </a:r>
            <a:r>
              <a:rPr lang="ru-RU" sz="2000" spc="-1" dirty="0">
                <a:solidFill>
                  <a:srgbClr val="262626"/>
                </a:solidFill>
                <a:latin typeface="Montserrat"/>
              </a:rPr>
              <a:t>преобразовать его для более формального применения в программировании, предлагая специальный AOП </a:t>
            </a:r>
            <a:r>
              <a:rPr lang="ru-RU" sz="2000" spc="-1" dirty="0" err="1">
                <a:solidFill>
                  <a:srgbClr val="262626"/>
                </a:solidFill>
                <a:latin typeface="Montserrat"/>
              </a:rPr>
              <a:t>фреймворк</a:t>
            </a:r>
            <a:r>
              <a:rPr lang="ru-RU" sz="2000" spc="-1" dirty="0">
                <a:solidFill>
                  <a:srgbClr val="262626"/>
                </a:solidFill>
                <a:latin typeface="Montserrat"/>
              </a:rPr>
              <a:t>. В итоге, понятие агента, в отличие от простого объекта, наделяется рядом </a:t>
            </a:r>
            <a:r>
              <a:rPr lang="ru-RU" sz="2000" b="1" spc="-1" dirty="0">
                <a:solidFill>
                  <a:srgbClr val="262626"/>
                </a:solidFill>
                <a:latin typeface="Montserrat"/>
              </a:rPr>
              <a:t>ментальных</a:t>
            </a:r>
            <a:r>
              <a:rPr lang="ru-RU" sz="2000" spc="-1" dirty="0">
                <a:solidFill>
                  <a:srgbClr val="262626"/>
                </a:solidFill>
                <a:latin typeface="Montserrat"/>
              </a:rPr>
              <a:t> конструкций, таких как вера, обязанности и способности. Поэтому в языке программирования </a:t>
            </a:r>
            <a:r>
              <a:rPr lang="ru-RU" sz="2000" spc="-1" dirty="0" smtClean="0">
                <a:solidFill>
                  <a:srgbClr val="262626"/>
                </a:solidFill>
                <a:latin typeface="Montserrat"/>
              </a:rPr>
              <a:t>должны появится различные </a:t>
            </a:r>
            <a:r>
              <a:rPr lang="ru-RU" sz="2000" spc="-1" dirty="0">
                <a:solidFill>
                  <a:srgbClr val="262626"/>
                </a:solidFill>
                <a:latin typeface="Montserrat"/>
              </a:rPr>
              <a:t>ментальные категории, а семантика программирования </a:t>
            </a:r>
            <a:r>
              <a:rPr lang="ru-RU" sz="2000" spc="-1" dirty="0" smtClean="0">
                <a:solidFill>
                  <a:srgbClr val="262626"/>
                </a:solidFill>
                <a:latin typeface="Montserrat"/>
              </a:rPr>
              <a:t>должна быть </a:t>
            </a:r>
            <a:r>
              <a:rPr lang="ru-RU" sz="2000" spc="-1" dirty="0">
                <a:solidFill>
                  <a:srgbClr val="262626"/>
                </a:solidFill>
                <a:latin typeface="Montserrat"/>
              </a:rPr>
              <a:t>связана с семантикой ментальных конструкций</a:t>
            </a:r>
            <a:r>
              <a:rPr lang="ru-RU" sz="2000" spc="-1" dirty="0" smtClean="0">
                <a:solidFill>
                  <a:srgbClr val="262626"/>
                </a:solidFill>
                <a:latin typeface="Montserrat"/>
              </a:rPr>
              <a:t>.</a:t>
            </a:r>
            <a:endParaRPr lang="ru-RU" sz="2000" spc="-1" dirty="0">
              <a:solidFill>
                <a:srgbClr val="262626"/>
              </a:solidFill>
              <a:latin typeface="Montserrat"/>
            </a:endParaRPr>
          </a:p>
        </p:txBody>
      </p:sp>
    </p:spTree>
    <p:extLst>
      <p:ext uri="{BB962C8B-B14F-4D97-AF65-F5344CB8AC3E}">
        <p14:creationId xmlns:p14="http://schemas.microsoft.com/office/powerpoint/2010/main" val="1768620638"/>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err="1">
                <a:solidFill>
                  <a:srgbClr val="004892"/>
                </a:solidFill>
                <a:latin typeface="Montserrat"/>
              </a:rPr>
              <a:t>Агентно</a:t>
            </a:r>
            <a:r>
              <a:rPr lang="ru-RU" sz="3600" spc="-1" dirty="0">
                <a:solidFill>
                  <a:srgbClr val="004892"/>
                </a:solidFill>
                <a:latin typeface="Montserrat"/>
              </a:rPr>
              <a:t>-ориентированный подход</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Свойства агента</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a:solidFill>
                  <a:srgbClr val="262626"/>
                </a:solidFill>
                <a:latin typeface="Montserrat"/>
              </a:rPr>
              <a:t>Основными свойствами, которыми должны обладать агенты, </a:t>
            </a:r>
            <a:r>
              <a:rPr lang="ru-RU" sz="2000" spc="-1" dirty="0" smtClean="0">
                <a:solidFill>
                  <a:srgbClr val="262626"/>
                </a:solidFill>
                <a:latin typeface="Montserrat"/>
              </a:rPr>
              <a:t>считаются:</a:t>
            </a: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Автономность</a:t>
            </a:r>
            <a:r>
              <a:rPr lang="ru-RU" sz="2000" spc="-1" dirty="0">
                <a:solidFill>
                  <a:srgbClr val="262626"/>
                </a:solidFill>
                <a:latin typeface="Montserrat"/>
              </a:rPr>
              <a:t>: агенты функционируют </a:t>
            </a:r>
            <a:r>
              <a:rPr lang="ru-RU" sz="2000" b="1" spc="-1" dirty="0">
                <a:solidFill>
                  <a:srgbClr val="262626"/>
                </a:solidFill>
                <a:latin typeface="Montserrat"/>
              </a:rPr>
              <a:t>без прямого </a:t>
            </a:r>
            <a:r>
              <a:rPr lang="ru-RU" sz="2000" spc="-1" dirty="0">
                <a:solidFill>
                  <a:srgbClr val="262626"/>
                </a:solidFill>
                <a:latin typeface="Montserrat"/>
              </a:rPr>
              <a:t>вмешательства людей или кого-либо другого и владеют определенной способностью контролировать свои действия и внутреннее </a:t>
            </a:r>
            <a:r>
              <a:rPr lang="ru-RU" sz="2000" spc="-1" dirty="0" smtClean="0">
                <a:solidFill>
                  <a:srgbClr val="262626"/>
                </a:solidFill>
                <a:latin typeface="Montserrat"/>
              </a:rPr>
              <a:t>состояние.</a:t>
            </a: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Методы </a:t>
            </a:r>
            <a:r>
              <a:rPr lang="ru-RU" sz="2000" spc="-1" dirty="0">
                <a:solidFill>
                  <a:srgbClr val="262626"/>
                </a:solidFill>
                <a:latin typeface="Montserrat"/>
              </a:rPr>
              <a:t>(способы) общения: агенты взаимодействуют с другими агентами средствами некоторого коммуникационного </a:t>
            </a:r>
            <a:r>
              <a:rPr lang="ru-RU" sz="2000" spc="-1" dirty="0" smtClean="0">
                <a:solidFill>
                  <a:srgbClr val="262626"/>
                </a:solidFill>
                <a:latin typeface="Montserrat"/>
              </a:rPr>
              <a:t>языка.</a:t>
            </a: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Реактивность</a:t>
            </a:r>
            <a:r>
              <a:rPr lang="ru-RU" sz="2000" spc="-1" dirty="0">
                <a:solidFill>
                  <a:srgbClr val="262626"/>
                </a:solidFill>
                <a:latin typeface="Montserrat"/>
              </a:rPr>
              <a:t>: агенты способны воспринимать окружающую среду (которая может быть физическим миром, пользователем, взаимодействующим через графический интерфейс, коллекцией других агентов) и адекватно реагировать в определенных временных рамках на изменения, которые происходят</a:t>
            </a:r>
            <a:r>
              <a:rPr lang="ru-RU" sz="2000" spc="-1" dirty="0" smtClean="0">
                <a:solidFill>
                  <a:srgbClr val="262626"/>
                </a:solidFill>
                <a:latin typeface="Montserrat"/>
              </a:rPr>
              <a:t>.</a:t>
            </a:r>
          </a:p>
        </p:txBody>
      </p:sp>
    </p:spTree>
    <p:extLst>
      <p:ext uri="{BB962C8B-B14F-4D97-AF65-F5344CB8AC3E}">
        <p14:creationId xmlns:p14="http://schemas.microsoft.com/office/powerpoint/2010/main" val="924595557"/>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err="1">
                <a:solidFill>
                  <a:srgbClr val="004892"/>
                </a:solidFill>
                <a:latin typeface="Montserrat"/>
              </a:rPr>
              <a:t>Агентно</a:t>
            </a:r>
            <a:r>
              <a:rPr lang="ru-RU" sz="3600" spc="-1" dirty="0">
                <a:solidFill>
                  <a:srgbClr val="004892"/>
                </a:solidFill>
                <a:latin typeface="Montserrat"/>
              </a:rPr>
              <a:t>-ориентированный подход</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Свойства агента</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a:solidFill>
                  <a:srgbClr val="262626"/>
                </a:solidFill>
                <a:latin typeface="Montserrat"/>
              </a:rPr>
              <a:t>Основными свойствами, которыми должны обладать агенты, </a:t>
            </a:r>
            <a:r>
              <a:rPr lang="ru-RU" sz="2000" spc="-1" dirty="0" smtClean="0">
                <a:solidFill>
                  <a:srgbClr val="262626"/>
                </a:solidFill>
                <a:latin typeface="Montserrat"/>
              </a:rPr>
              <a:t>считаются:</a:t>
            </a: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Активность</a:t>
            </a:r>
            <a:r>
              <a:rPr lang="ru-RU" sz="2000" spc="-1" dirty="0">
                <a:solidFill>
                  <a:srgbClr val="262626"/>
                </a:solidFill>
                <a:latin typeface="Montserrat"/>
              </a:rPr>
              <a:t>: агенты не просто реагируют на изменения среды, но и обладают </a:t>
            </a:r>
            <a:r>
              <a:rPr lang="ru-RU" sz="2000" b="1" spc="-1" dirty="0">
                <a:solidFill>
                  <a:srgbClr val="262626"/>
                </a:solidFill>
                <a:latin typeface="Montserrat"/>
              </a:rPr>
              <a:t>целенаправленным</a:t>
            </a:r>
            <a:r>
              <a:rPr lang="ru-RU" sz="2000" spc="-1" dirty="0">
                <a:solidFill>
                  <a:srgbClr val="262626"/>
                </a:solidFill>
                <a:latin typeface="Montserrat"/>
              </a:rPr>
              <a:t> поведением и способностью проявлять </a:t>
            </a:r>
            <a:r>
              <a:rPr lang="ru-RU" sz="2000" spc="-1" dirty="0" smtClean="0">
                <a:solidFill>
                  <a:srgbClr val="262626"/>
                </a:solidFill>
                <a:latin typeface="Montserrat"/>
              </a:rPr>
              <a:t>инициативу.</a:t>
            </a: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Индивидуальная </a:t>
            </a:r>
            <a:r>
              <a:rPr lang="ru-RU" sz="2000" spc="-1" dirty="0">
                <a:solidFill>
                  <a:srgbClr val="262626"/>
                </a:solidFill>
                <a:latin typeface="Montserrat"/>
              </a:rPr>
              <a:t>картина мира: каждый агент имеет собственную модель окружающего его мира (среды), которая описывает то, как агент видит мир. Агент строит свою модель мира на основе информации, которую получает из внешней среды</a:t>
            </a:r>
            <a:r>
              <a:rPr lang="ru-RU" sz="2000" spc="-1" dirty="0" smtClean="0">
                <a:solidFill>
                  <a:srgbClr val="262626"/>
                </a:solidFill>
                <a:latin typeface="Montserrat"/>
              </a:rPr>
              <a:t>.</a:t>
            </a: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Коммуникабельность и </a:t>
            </a:r>
            <a:r>
              <a:rPr lang="ru-RU" sz="2000" spc="-1" dirty="0" err="1">
                <a:solidFill>
                  <a:srgbClr val="262626"/>
                </a:solidFill>
                <a:latin typeface="Montserrat"/>
              </a:rPr>
              <a:t>кооперативность</a:t>
            </a:r>
            <a:r>
              <a:rPr lang="ru-RU" sz="2000" spc="-1" dirty="0">
                <a:solidFill>
                  <a:srgbClr val="262626"/>
                </a:solidFill>
                <a:latin typeface="Montserrat"/>
              </a:rPr>
              <a:t>: агенты могут обмениваться информацией с окружающей их средой и другими агентами. Возможность коммуникаций означает, что агент должен получать информацию об его окружающей среде, что дает ему возможность строить собственную модель мира. Более того, возможность коммуникаций с другими агентами является обязательным условием совместных действий для достижения целей</a:t>
            </a:r>
            <a:r>
              <a:rPr lang="ru-RU" sz="2000" spc="-1" dirty="0" smtClean="0">
                <a:solidFill>
                  <a:srgbClr val="262626"/>
                </a:solidFill>
                <a:latin typeface="Montserrat"/>
              </a:rPr>
              <a:t>.</a:t>
            </a:r>
          </a:p>
        </p:txBody>
      </p:sp>
    </p:spTree>
    <p:extLst>
      <p:ext uri="{BB962C8B-B14F-4D97-AF65-F5344CB8AC3E}">
        <p14:creationId xmlns:p14="http://schemas.microsoft.com/office/powerpoint/2010/main" val="1833151539"/>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err="1">
                <a:solidFill>
                  <a:srgbClr val="004892"/>
                </a:solidFill>
                <a:latin typeface="Montserrat"/>
              </a:rPr>
              <a:t>Агентно</a:t>
            </a:r>
            <a:r>
              <a:rPr lang="ru-RU" sz="3600" spc="-1" dirty="0">
                <a:solidFill>
                  <a:srgbClr val="004892"/>
                </a:solidFill>
                <a:latin typeface="Montserrat"/>
              </a:rPr>
              <a:t>-ориентированный подход</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Свойства агента</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a:solidFill>
                  <a:srgbClr val="262626"/>
                </a:solidFill>
                <a:latin typeface="Montserrat"/>
              </a:rPr>
              <a:t>Основными свойствами, которыми должны обладать агенты, </a:t>
            </a:r>
            <a:r>
              <a:rPr lang="ru-RU" sz="2000" spc="-1" dirty="0" smtClean="0">
                <a:solidFill>
                  <a:srgbClr val="262626"/>
                </a:solidFill>
                <a:latin typeface="Montserrat"/>
              </a:rPr>
              <a:t>считаются:</a:t>
            </a: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Интеллектуальное </a:t>
            </a:r>
            <a:r>
              <a:rPr lang="ru-RU" sz="2000" spc="-1" dirty="0">
                <a:solidFill>
                  <a:srgbClr val="262626"/>
                </a:solidFill>
                <a:latin typeface="Montserrat"/>
              </a:rPr>
              <a:t>поведение: поведение агента включает способность к </a:t>
            </a:r>
            <a:r>
              <a:rPr lang="ru-RU" sz="2000" b="1" spc="-1" dirty="0">
                <a:solidFill>
                  <a:srgbClr val="262626"/>
                </a:solidFill>
                <a:latin typeface="Montserrat"/>
              </a:rPr>
              <a:t>обучению</a:t>
            </a:r>
            <a:r>
              <a:rPr lang="ru-RU" sz="2000" spc="-1" dirty="0">
                <a:solidFill>
                  <a:srgbClr val="262626"/>
                </a:solidFill>
                <a:latin typeface="Montserrat"/>
              </a:rPr>
              <a:t>, </a:t>
            </a:r>
            <a:r>
              <a:rPr lang="ru-RU" sz="2000" b="1" spc="-1" dirty="0">
                <a:solidFill>
                  <a:srgbClr val="262626"/>
                </a:solidFill>
                <a:latin typeface="Montserrat"/>
              </a:rPr>
              <a:t>логичной дедукции </a:t>
            </a:r>
            <a:r>
              <a:rPr lang="ru-RU" sz="2000" spc="-1" dirty="0">
                <a:solidFill>
                  <a:srgbClr val="262626"/>
                </a:solidFill>
                <a:latin typeface="Montserrat"/>
              </a:rPr>
              <a:t>или конструированию модели окружающей среды для того, чтобы находить оптимальные способы поведения</a:t>
            </a:r>
            <a:r>
              <a:rPr lang="ru-RU" sz="2000" spc="-1" dirty="0" smtClean="0">
                <a:solidFill>
                  <a:srgbClr val="262626"/>
                </a:solidFill>
                <a:latin typeface="Montserrat"/>
              </a:rPr>
              <a:t>.</a:t>
            </a: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Каждый </a:t>
            </a:r>
            <a:r>
              <a:rPr lang="ru-RU" sz="2000" spc="-1" dirty="0">
                <a:solidFill>
                  <a:srgbClr val="262626"/>
                </a:solidFill>
                <a:latin typeface="Montserrat"/>
              </a:rPr>
              <a:t>агент –</a:t>
            </a:r>
            <a:r>
              <a:rPr lang="ru-RU" sz="2000" spc="-1" dirty="0" smtClean="0">
                <a:solidFill>
                  <a:srgbClr val="262626"/>
                </a:solidFill>
                <a:latin typeface="Montserrat"/>
              </a:rPr>
              <a:t> </a:t>
            </a:r>
            <a:r>
              <a:rPr lang="ru-RU" sz="2000" spc="-1" dirty="0">
                <a:solidFill>
                  <a:srgbClr val="262626"/>
                </a:solidFill>
                <a:latin typeface="Montserrat"/>
              </a:rPr>
              <a:t>это процесс, который владеет (располагает) определенной частью знаний об объекте и возможностью обмениваться этими знаниями с другими агентами</a:t>
            </a:r>
            <a:r>
              <a:rPr lang="ru-RU" sz="2000" spc="-1" dirty="0" smtClean="0">
                <a:solidFill>
                  <a:srgbClr val="262626"/>
                </a:solidFill>
                <a:latin typeface="Montserrat"/>
              </a:rPr>
              <a:t>.</a:t>
            </a: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Классификацию </a:t>
            </a:r>
            <a:r>
              <a:rPr lang="ru-RU" sz="2000" spc="-1" dirty="0">
                <a:solidFill>
                  <a:srgbClr val="262626"/>
                </a:solidFill>
                <a:latin typeface="Montserrat"/>
              </a:rPr>
              <a:t>агентов можно провести в двух направлениях –</a:t>
            </a:r>
            <a:r>
              <a:rPr lang="ru-RU" sz="2000" spc="-1" dirty="0" smtClean="0">
                <a:solidFill>
                  <a:srgbClr val="262626"/>
                </a:solidFill>
                <a:latin typeface="Montserrat"/>
              </a:rPr>
              <a:t> </a:t>
            </a:r>
            <a:r>
              <a:rPr lang="ru-RU" sz="2000" spc="-1" dirty="0">
                <a:solidFill>
                  <a:srgbClr val="262626"/>
                </a:solidFill>
                <a:latin typeface="Montserrat"/>
              </a:rPr>
              <a:t>по их инструментальной реализации (языку программирования агентов) и по основным приметам, которыми они владеют</a:t>
            </a:r>
            <a:r>
              <a:rPr lang="ru-RU" sz="2000" spc="-1" dirty="0" smtClean="0">
                <a:solidFill>
                  <a:srgbClr val="262626"/>
                </a:solidFill>
                <a:latin typeface="Montserrat"/>
              </a:rPr>
              <a:t>.</a:t>
            </a:r>
          </a:p>
        </p:txBody>
      </p:sp>
    </p:spTree>
    <p:extLst>
      <p:ext uri="{BB962C8B-B14F-4D97-AF65-F5344CB8AC3E}">
        <p14:creationId xmlns:p14="http://schemas.microsoft.com/office/powerpoint/2010/main" val="3344834173"/>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err="1">
                <a:solidFill>
                  <a:srgbClr val="004892"/>
                </a:solidFill>
                <a:latin typeface="Montserrat"/>
              </a:rPr>
              <a:t>Агентно</a:t>
            </a:r>
            <a:r>
              <a:rPr lang="ru-RU" sz="3600" spc="-1" dirty="0">
                <a:solidFill>
                  <a:srgbClr val="004892"/>
                </a:solidFill>
                <a:latin typeface="Montserrat"/>
              </a:rPr>
              <a:t>-ориентированный подход</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Свойства агента</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a:solidFill>
                  <a:srgbClr val="262626"/>
                </a:solidFill>
                <a:latin typeface="Montserrat"/>
              </a:rPr>
              <a:t>Основными свойствами, которыми должны обладать агенты, </a:t>
            </a:r>
            <a:r>
              <a:rPr lang="ru-RU" sz="2000" spc="-1" dirty="0" smtClean="0">
                <a:solidFill>
                  <a:srgbClr val="262626"/>
                </a:solidFill>
                <a:latin typeface="Montserrat"/>
              </a:rPr>
              <a:t>считаются:</a:t>
            </a: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На </a:t>
            </a:r>
            <a:r>
              <a:rPr lang="ru-RU" sz="2000" spc="-1" dirty="0">
                <a:solidFill>
                  <a:srgbClr val="262626"/>
                </a:solidFill>
                <a:latin typeface="Montserrat"/>
              </a:rPr>
              <a:t>сегодня </a:t>
            </a:r>
            <a:r>
              <a:rPr lang="ru-RU" sz="2000" b="1" spc="-1" dirty="0">
                <a:solidFill>
                  <a:srgbClr val="262626"/>
                </a:solidFill>
                <a:latin typeface="Montserrat"/>
              </a:rPr>
              <a:t>не существует </a:t>
            </a:r>
            <a:r>
              <a:rPr lang="ru-RU" sz="2000" spc="-1" dirty="0">
                <a:solidFill>
                  <a:srgbClr val="262626"/>
                </a:solidFill>
                <a:latin typeface="Montserrat"/>
              </a:rPr>
              <a:t>языка программирования или инструментальной системы разработки, которая бы полностью соответствовала требованиям построения агентов. С точки зрения принципов распределенного объектно-ориентированного программирования необходимость передачи методов может быть существенно сокращена в том случае, если может быть обеспечен удаленный доступ к общим методам посредством передачи ссылок на удаленные объекты, данных экземпляров этих объектов и их состояний</a:t>
            </a:r>
            <a:r>
              <a:rPr lang="ru-RU" sz="2000" spc="-1" dirty="0" smtClean="0">
                <a:solidFill>
                  <a:srgbClr val="262626"/>
                </a:solidFill>
                <a:latin typeface="Montserrat"/>
              </a:rPr>
              <a:t>.</a:t>
            </a:r>
          </a:p>
        </p:txBody>
      </p:sp>
    </p:spTree>
    <p:extLst>
      <p:ext uri="{BB962C8B-B14F-4D97-AF65-F5344CB8AC3E}">
        <p14:creationId xmlns:p14="http://schemas.microsoft.com/office/powerpoint/2010/main" val="1040704784"/>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err="1">
                <a:solidFill>
                  <a:srgbClr val="004892"/>
                </a:solidFill>
                <a:latin typeface="Montserrat"/>
              </a:rPr>
              <a:t>Агентно</a:t>
            </a:r>
            <a:r>
              <a:rPr lang="ru-RU" sz="3600" spc="-1" dirty="0">
                <a:solidFill>
                  <a:srgbClr val="004892"/>
                </a:solidFill>
                <a:latin typeface="Montserrat"/>
              </a:rPr>
              <a:t>-ориентированный подход</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Свойства агента</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a:solidFill>
                  <a:srgbClr val="262626"/>
                </a:solidFill>
                <a:latin typeface="Montserrat"/>
              </a:rPr>
              <a:t>Основными свойствами, которыми должны обладать агенты, </a:t>
            </a:r>
            <a:r>
              <a:rPr lang="ru-RU" sz="2000" spc="-1" dirty="0" smtClean="0">
                <a:solidFill>
                  <a:srgbClr val="262626"/>
                </a:solidFill>
                <a:latin typeface="Montserrat"/>
              </a:rPr>
              <a:t>считаются:</a:t>
            </a: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В </a:t>
            </a:r>
            <a:r>
              <a:rPr lang="ru-RU" sz="2000" spc="-1" dirty="0">
                <a:solidFill>
                  <a:srgbClr val="262626"/>
                </a:solidFill>
                <a:latin typeface="Montserrat"/>
              </a:rPr>
              <a:t>дополнение к концепции ООП, каждый агент имеет возможность создания копий самого себя с полной или ограниченной функциональностью, обеспечивая возможность настройки на среду путем исключения неэффективных методов и замены их новыми. Традиционная для ООП схема класс/объект нарушается, </a:t>
            </a:r>
            <a:r>
              <a:rPr lang="ru-RU" sz="2000" spc="-1" dirty="0" smtClean="0">
                <a:solidFill>
                  <a:srgbClr val="262626"/>
                </a:solidFill>
                <a:latin typeface="Montserrat"/>
              </a:rPr>
              <a:t>т.к</a:t>
            </a:r>
            <a:r>
              <a:rPr lang="ru-RU" sz="2000" spc="-1" dirty="0">
                <a:solidFill>
                  <a:srgbClr val="262626"/>
                </a:solidFill>
                <a:latin typeface="Montserrat"/>
              </a:rPr>
              <a:t>. агент имеет возможность </a:t>
            </a:r>
            <a:r>
              <a:rPr lang="ru-RU" sz="2000" b="1" spc="-1" dirty="0">
                <a:solidFill>
                  <a:srgbClr val="262626"/>
                </a:solidFill>
                <a:latin typeface="Montserrat"/>
              </a:rPr>
              <a:t>постоянного изменения </a:t>
            </a:r>
            <a:r>
              <a:rPr lang="ru-RU" sz="2000" spc="-1" dirty="0">
                <a:solidFill>
                  <a:srgbClr val="262626"/>
                </a:solidFill>
                <a:latin typeface="Montserrat"/>
              </a:rPr>
              <a:t>сценария поведения без его изменения в родительском классе. Многозначное наследование позволяет создавать экземпляры агентов, смешивая сценарии поведения, схемы наследования и атрибуты, определенные в родительских классах</a:t>
            </a:r>
            <a:r>
              <a:rPr lang="ru-RU" sz="2000" spc="-1" dirty="0" smtClean="0">
                <a:solidFill>
                  <a:srgbClr val="262626"/>
                </a:solidFill>
                <a:latin typeface="Montserrat"/>
              </a:rPr>
              <a:t>.</a:t>
            </a:r>
          </a:p>
        </p:txBody>
      </p:sp>
    </p:spTree>
    <p:extLst>
      <p:ext uri="{BB962C8B-B14F-4D97-AF65-F5344CB8AC3E}">
        <p14:creationId xmlns:p14="http://schemas.microsoft.com/office/powerpoint/2010/main" val="637400099"/>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err="1">
                <a:solidFill>
                  <a:srgbClr val="004892"/>
                </a:solidFill>
                <a:latin typeface="Montserrat"/>
              </a:rPr>
              <a:t>Агентно</a:t>
            </a:r>
            <a:r>
              <a:rPr lang="ru-RU" sz="3600" spc="-1" dirty="0">
                <a:solidFill>
                  <a:srgbClr val="004892"/>
                </a:solidFill>
                <a:latin typeface="Montserrat"/>
              </a:rPr>
              <a:t>-ориентированный подход</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Свойства агента</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a:solidFill>
                  <a:srgbClr val="262626"/>
                </a:solidFill>
                <a:latin typeface="Montserrat"/>
              </a:rPr>
              <a:t>Основными свойствами, которыми должны обладать агенты, </a:t>
            </a:r>
            <a:r>
              <a:rPr lang="ru-RU" sz="2000" spc="-1" dirty="0" smtClean="0">
                <a:solidFill>
                  <a:srgbClr val="262626"/>
                </a:solidFill>
                <a:latin typeface="Montserrat"/>
              </a:rPr>
              <a:t>считаются:</a:t>
            </a: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Чаще </a:t>
            </a:r>
            <a:r>
              <a:rPr lang="ru-RU" sz="2000" spc="-1" dirty="0">
                <a:solidFill>
                  <a:srgbClr val="262626"/>
                </a:solidFill>
                <a:latin typeface="Montserrat"/>
              </a:rPr>
              <a:t>всего в </a:t>
            </a:r>
            <a:r>
              <a:rPr lang="ru-RU" sz="2000" spc="-1" dirty="0" err="1">
                <a:solidFill>
                  <a:srgbClr val="262626"/>
                </a:solidFill>
                <a:latin typeface="Montserrat"/>
              </a:rPr>
              <a:t>агентных</a:t>
            </a:r>
            <a:r>
              <a:rPr lang="ru-RU" sz="2000" spc="-1" dirty="0">
                <a:solidFill>
                  <a:srgbClr val="262626"/>
                </a:solidFill>
                <a:latin typeface="Montserrat"/>
              </a:rPr>
              <a:t> технологиях используются: универсальные языки программирования (</a:t>
            </a:r>
            <a:r>
              <a:rPr lang="ru-RU" sz="2000" spc="-1" dirty="0" err="1">
                <a:solidFill>
                  <a:srgbClr val="262626"/>
                </a:solidFill>
                <a:latin typeface="Montserrat"/>
              </a:rPr>
              <a:t>Java</a:t>
            </a:r>
            <a:r>
              <a:rPr lang="ru-RU" sz="2000" spc="-1" dirty="0">
                <a:solidFill>
                  <a:srgbClr val="262626"/>
                </a:solidFill>
                <a:latin typeface="Montserrat"/>
              </a:rPr>
              <a:t>); языки, </a:t>
            </a:r>
            <a:r>
              <a:rPr lang="ru-RU" sz="2000" spc="-1" dirty="0" smtClean="0">
                <a:solidFill>
                  <a:srgbClr val="262626"/>
                </a:solidFill>
                <a:latin typeface="Montserrat"/>
              </a:rPr>
              <a:t>«ориентированы </a:t>
            </a:r>
            <a:r>
              <a:rPr lang="ru-RU" sz="2000" spc="-1" dirty="0">
                <a:solidFill>
                  <a:srgbClr val="262626"/>
                </a:solidFill>
                <a:latin typeface="Montserrat"/>
              </a:rPr>
              <a:t>на </a:t>
            </a:r>
            <a:r>
              <a:rPr lang="ru-RU" sz="2000" spc="-1" dirty="0" smtClean="0">
                <a:solidFill>
                  <a:srgbClr val="262626"/>
                </a:solidFill>
                <a:latin typeface="Montserrat"/>
              </a:rPr>
              <a:t>знания», </a:t>
            </a:r>
            <a:r>
              <a:rPr lang="ru-RU" sz="2000" spc="-1" dirty="0">
                <a:solidFill>
                  <a:srgbClr val="262626"/>
                </a:solidFill>
                <a:latin typeface="Montserrat"/>
              </a:rPr>
              <a:t>такие, как языки представления знаний (KIF), языки переговоров и обмена знаниями (KQML, </a:t>
            </a:r>
            <a:r>
              <a:rPr lang="ru-RU" sz="2000" spc="-1" dirty="0" err="1">
                <a:solidFill>
                  <a:srgbClr val="262626"/>
                </a:solidFill>
                <a:latin typeface="Montserrat"/>
              </a:rPr>
              <a:t>AgentSpeak</a:t>
            </a:r>
            <a:r>
              <a:rPr lang="ru-RU" sz="2000" spc="-1" dirty="0">
                <a:solidFill>
                  <a:srgbClr val="262626"/>
                </a:solidFill>
                <a:latin typeface="Montserrat"/>
              </a:rPr>
              <a:t>, </a:t>
            </a:r>
            <a:r>
              <a:rPr lang="ru-RU" sz="2000" spc="-1" dirty="0" err="1">
                <a:solidFill>
                  <a:srgbClr val="262626"/>
                </a:solidFill>
                <a:latin typeface="Montserrat"/>
              </a:rPr>
              <a:t>April</a:t>
            </a:r>
            <a:r>
              <a:rPr lang="ru-RU" sz="2000" spc="-1" dirty="0">
                <a:solidFill>
                  <a:srgbClr val="262626"/>
                </a:solidFill>
                <a:latin typeface="Montserrat"/>
              </a:rPr>
              <a:t>), языки спецификаций агентов; специализированные языки программирования агентов (</a:t>
            </a:r>
            <a:r>
              <a:rPr lang="ru-RU" sz="2000" spc="-1" dirty="0" err="1">
                <a:solidFill>
                  <a:srgbClr val="262626"/>
                </a:solidFill>
                <a:latin typeface="Montserrat"/>
              </a:rPr>
              <a:t>TeleScript</a:t>
            </a:r>
            <a:r>
              <a:rPr lang="ru-RU" sz="2000" spc="-1" dirty="0">
                <a:solidFill>
                  <a:srgbClr val="262626"/>
                </a:solidFill>
                <a:latin typeface="Montserrat"/>
              </a:rPr>
              <a:t>); языки сценариев и </a:t>
            </a:r>
            <a:r>
              <a:rPr lang="ru-RU" sz="2000" spc="-1" dirty="0" err="1">
                <a:solidFill>
                  <a:srgbClr val="262626"/>
                </a:solidFill>
                <a:latin typeface="Montserrat"/>
              </a:rPr>
              <a:t>Scripting</a:t>
            </a:r>
            <a:r>
              <a:rPr lang="ru-RU" sz="2000" spc="-1" dirty="0">
                <a:solidFill>
                  <a:srgbClr val="262626"/>
                </a:solidFill>
                <a:latin typeface="Montserrat"/>
              </a:rPr>
              <a:t> </a:t>
            </a:r>
            <a:r>
              <a:rPr lang="ru-RU" sz="2000" spc="-1" dirty="0" err="1">
                <a:solidFill>
                  <a:srgbClr val="262626"/>
                </a:solidFill>
                <a:latin typeface="Montserrat"/>
              </a:rPr>
              <a:t>Languages</a:t>
            </a:r>
            <a:r>
              <a:rPr lang="ru-RU" sz="2000" spc="-1" dirty="0">
                <a:solidFill>
                  <a:srgbClr val="262626"/>
                </a:solidFill>
                <a:latin typeface="Montserrat"/>
              </a:rPr>
              <a:t> (</a:t>
            </a:r>
            <a:r>
              <a:rPr lang="ru-RU" sz="2000" spc="-1" dirty="0" err="1">
                <a:solidFill>
                  <a:srgbClr val="262626"/>
                </a:solidFill>
                <a:latin typeface="Montserrat"/>
              </a:rPr>
              <a:t>Tcl</a:t>
            </a:r>
            <a:r>
              <a:rPr lang="ru-RU" sz="2000" spc="-1" dirty="0">
                <a:solidFill>
                  <a:srgbClr val="262626"/>
                </a:solidFill>
                <a:latin typeface="Montserrat"/>
              </a:rPr>
              <a:t>/</a:t>
            </a:r>
            <a:r>
              <a:rPr lang="ru-RU" sz="2000" spc="-1" dirty="0" err="1">
                <a:solidFill>
                  <a:srgbClr val="262626"/>
                </a:solidFill>
                <a:latin typeface="Montserrat"/>
              </a:rPr>
              <a:t>Tk</a:t>
            </a:r>
            <a:r>
              <a:rPr lang="ru-RU" sz="2000" spc="-1" dirty="0">
                <a:solidFill>
                  <a:srgbClr val="262626"/>
                </a:solidFill>
                <a:latin typeface="Montserrat"/>
              </a:rPr>
              <a:t>); символьные языки и языки логического программирования (</a:t>
            </a:r>
            <a:r>
              <a:rPr lang="ru-RU" sz="2000" spc="-1" dirty="0" err="1">
                <a:solidFill>
                  <a:srgbClr val="262626"/>
                </a:solidFill>
                <a:latin typeface="Montserrat"/>
              </a:rPr>
              <a:t>Oz</a:t>
            </a:r>
            <a:r>
              <a:rPr lang="ru-RU" sz="2000" spc="-1" dirty="0" smtClean="0">
                <a:solidFill>
                  <a:srgbClr val="262626"/>
                </a:solidFill>
                <a:latin typeface="Montserrat"/>
              </a:rPr>
              <a:t>).</a:t>
            </a:r>
          </a:p>
        </p:txBody>
      </p:sp>
    </p:spTree>
    <p:extLst>
      <p:ext uri="{BB962C8B-B14F-4D97-AF65-F5344CB8AC3E}">
        <p14:creationId xmlns:p14="http://schemas.microsoft.com/office/powerpoint/2010/main" val="2999456579"/>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err="1">
                <a:solidFill>
                  <a:srgbClr val="004892"/>
                </a:solidFill>
                <a:latin typeface="Montserrat"/>
              </a:rPr>
              <a:t>Агентно</a:t>
            </a:r>
            <a:r>
              <a:rPr lang="ru-RU" sz="3600" spc="-1" dirty="0">
                <a:solidFill>
                  <a:srgbClr val="004892"/>
                </a:solidFill>
                <a:latin typeface="Montserrat"/>
              </a:rPr>
              <a:t>-ориентированный подход</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dirty="0">
                <a:solidFill>
                  <a:srgbClr val="004892"/>
                </a:solidFill>
                <a:latin typeface="Montserrat"/>
              </a:rPr>
              <a:t>Ульяновский государственный технический университет</a:t>
            </a:r>
            <a:endParaRPr lang="en-US" sz="1400" b="0" strike="noStrike" spc="-1" dirty="0">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Свойства агента</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a:solidFill>
                  <a:srgbClr val="262626"/>
                </a:solidFill>
                <a:latin typeface="Montserrat"/>
              </a:rPr>
              <a:t>Основными свойствами, которыми должны обладать агенты, </a:t>
            </a:r>
            <a:r>
              <a:rPr lang="ru-RU" sz="2000" spc="-1" dirty="0" smtClean="0">
                <a:solidFill>
                  <a:srgbClr val="262626"/>
                </a:solidFill>
                <a:latin typeface="Montserrat"/>
              </a:rPr>
              <a:t>считаются:</a:t>
            </a: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Одно </a:t>
            </a:r>
            <a:r>
              <a:rPr lang="ru-RU" sz="2000" spc="-1" dirty="0">
                <a:solidFill>
                  <a:srgbClr val="262626"/>
                </a:solidFill>
                <a:latin typeface="Montserrat"/>
              </a:rPr>
              <a:t>из самых главных свойств агента –</a:t>
            </a:r>
            <a:r>
              <a:rPr lang="ru-RU" sz="2000" spc="-1" dirty="0" smtClean="0">
                <a:solidFill>
                  <a:srgbClr val="262626"/>
                </a:solidFill>
                <a:latin typeface="Montserrat"/>
              </a:rPr>
              <a:t> </a:t>
            </a:r>
            <a:r>
              <a:rPr lang="ru-RU" sz="2000" spc="-1" dirty="0">
                <a:solidFill>
                  <a:srgbClr val="262626"/>
                </a:solidFill>
                <a:latin typeface="Montserrat"/>
              </a:rPr>
              <a:t>это интеллектуальность. Интеллектуальный агент владеет определенными знаниями о себе и об окружающей среде. На основе этих знаний он способен определять свое поведение. От агентов требуют способности к обучению и даже самообучению. Умение планировать подразделяет агентов на регулирующие и планирующие. Если умение планировать не предусмотрено (регулирующий тип), то агент будет постоянно переоценивать ситуацию и заново вырабатывать свои действия на окружающую среду</a:t>
            </a:r>
            <a:r>
              <a:rPr lang="ru-RU" sz="2000" spc="-1" dirty="0" smtClean="0">
                <a:solidFill>
                  <a:srgbClr val="262626"/>
                </a:solidFill>
                <a:latin typeface="Montserrat"/>
              </a:rPr>
              <a:t>.</a:t>
            </a:r>
          </a:p>
        </p:txBody>
      </p:sp>
    </p:spTree>
    <p:extLst>
      <p:ext uri="{BB962C8B-B14F-4D97-AF65-F5344CB8AC3E}">
        <p14:creationId xmlns:p14="http://schemas.microsoft.com/office/powerpoint/2010/main" val="1939942399"/>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err="1">
                <a:solidFill>
                  <a:srgbClr val="004892"/>
                </a:solidFill>
                <a:latin typeface="Montserrat"/>
              </a:rPr>
              <a:t>Агентно</a:t>
            </a:r>
            <a:r>
              <a:rPr lang="ru-RU" sz="3600" spc="-1" dirty="0">
                <a:solidFill>
                  <a:srgbClr val="004892"/>
                </a:solidFill>
                <a:latin typeface="Montserrat"/>
              </a:rPr>
              <a:t>-ориентированный подход</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Свойства агента</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a:solidFill>
                  <a:srgbClr val="262626"/>
                </a:solidFill>
                <a:latin typeface="Montserrat"/>
              </a:rPr>
              <a:t>Основными свойствами, которыми должны обладать агенты, </a:t>
            </a:r>
            <a:r>
              <a:rPr lang="ru-RU" sz="2000" spc="-1" dirty="0" smtClean="0">
                <a:solidFill>
                  <a:srgbClr val="262626"/>
                </a:solidFill>
                <a:latin typeface="Montserrat"/>
              </a:rPr>
              <a:t>считаются:</a:t>
            </a: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Планирующий </a:t>
            </a:r>
            <a:r>
              <a:rPr lang="ru-RU" sz="2000" spc="-1" dirty="0">
                <a:solidFill>
                  <a:srgbClr val="262626"/>
                </a:solidFill>
                <a:latin typeface="Montserrat"/>
              </a:rPr>
              <a:t>агент имеет возможность запланировать несколько действий на различные промежутки времени. При этом агент имеет возможность моделировать развитие ситуации, что дает возможность более адекватно реагировать на текущие ситуации. При этом агент должен учитывать не только свои действия и реакцию на них, но и сохранять модели объектов и агентов окружающей среды для предсказания их возможных действий и реакций</a:t>
            </a:r>
            <a:r>
              <a:rPr lang="ru-RU" sz="2000" spc="-1" dirty="0" smtClean="0">
                <a:solidFill>
                  <a:srgbClr val="262626"/>
                </a:solidFill>
                <a:latin typeface="Montserrat"/>
              </a:rPr>
              <a:t>.</a:t>
            </a: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Для </a:t>
            </a:r>
            <a:r>
              <a:rPr lang="ru-RU" sz="2000" spc="-1" dirty="0">
                <a:solidFill>
                  <a:srgbClr val="262626"/>
                </a:solidFill>
                <a:latin typeface="Montserrat"/>
              </a:rPr>
              <a:t>программного агента под мобильностью понимается возможность передвигаться по сети от компьютера к компьютеру. Переходя от одного компьютера к другому, такой агент может обрабатывать данные и передавать по сети только результаты своей работы</a:t>
            </a:r>
            <a:r>
              <a:rPr lang="ru-RU" sz="2000" spc="-1" dirty="0" smtClean="0">
                <a:solidFill>
                  <a:srgbClr val="262626"/>
                </a:solidFill>
                <a:latin typeface="Montserrat"/>
              </a:rPr>
              <a:t>.</a:t>
            </a: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Система</a:t>
            </a:r>
            <a:r>
              <a:rPr lang="ru-RU" sz="2000" spc="-1" dirty="0">
                <a:solidFill>
                  <a:srgbClr val="262626"/>
                </a:solidFill>
                <a:latin typeface="Montserrat"/>
              </a:rPr>
              <a:t>, в которой несколько агентов могут общаться друг с другом, передавать друг другу некоторую информацию, взаимодействовать между собой, называется </a:t>
            </a:r>
            <a:r>
              <a:rPr lang="ru-RU" sz="2000" spc="-1" dirty="0" err="1" smtClean="0">
                <a:solidFill>
                  <a:srgbClr val="262626"/>
                </a:solidFill>
                <a:latin typeface="Montserrat"/>
              </a:rPr>
              <a:t>многоагентной</a:t>
            </a:r>
            <a:r>
              <a:rPr lang="ru-RU" sz="2000" spc="-1" dirty="0" smtClean="0">
                <a:solidFill>
                  <a:srgbClr val="262626"/>
                </a:solidFill>
                <a:latin typeface="Montserrat"/>
              </a:rPr>
              <a:t> (</a:t>
            </a:r>
            <a:r>
              <a:rPr lang="ru-RU" sz="2000" spc="-1" dirty="0" err="1" smtClean="0">
                <a:solidFill>
                  <a:srgbClr val="262626"/>
                </a:solidFill>
                <a:latin typeface="Montserrat"/>
              </a:rPr>
              <a:t>мультиагентной</a:t>
            </a:r>
            <a:r>
              <a:rPr lang="ru-RU" sz="2000" spc="-1" dirty="0" smtClean="0">
                <a:solidFill>
                  <a:srgbClr val="262626"/>
                </a:solidFill>
                <a:latin typeface="Montserrat"/>
              </a:rPr>
              <a:t>) </a:t>
            </a:r>
            <a:r>
              <a:rPr lang="ru-RU" sz="2000" spc="-1" dirty="0">
                <a:solidFill>
                  <a:srgbClr val="262626"/>
                </a:solidFill>
                <a:latin typeface="Montserrat"/>
              </a:rPr>
              <a:t>системой (МАС).</a:t>
            </a:r>
          </a:p>
        </p:txBody>
      </p:sp>
    </p:spTree>
    <p:extLst>
      <p:ext uri="{BB962C8B-B14F-4D97-AF65-F5344CB8AC3E}">
        <p14:creationId xmlns:p14="http://schemas.microsoft.com/office/powerpoint/2010/main" val="2155016937"/>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err="1">
                <a:solidFill>
                  <a:srgbClr val="004892"/>
                </a:solidFill>
                <a:latin typeface="Montserrat"/>
              </a:rPr>
              <a:t>Агентно</a:t>
            </a:r>
            <a:r>
              <a:rPr lang="ru-RU" sz="3600" spc="-1" dirty="0">
                <a:solidFill>
                  <a:srgbClr val="004892"/>
                </a:solidFill>
                <a:latin typeface="Montserrat"/>
              </a:rPr>
              <a:t>-ориентированный подход</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ООП и АОП</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a:solidFill>
                  <a:srgbClr val="262626"/>
                </a:solidFill>
                <a:latin typeface="Montserrat"/>
              </a:rPr>
              <a:t>В ООП вычислительный процесс понимается как система, собранная из модулей, которые взаимодействуют друг с другом и имеют собственные способы обработки поступающих сообщений. В свою очередь, АОП уточняет эти рамки, фиксируя активность агентов и изменения их состояний через анализ убеждений, обязательств, намерений и пр. Наличие у агента механизма </a:t>
            </a:r>
            <a:r>
              <a:rPr lang="ru-RU" sz="2000" spc="-1" dirty="0" err="1">
                <a:solidFill>
                  <a:srgbClr val="262626"/>
                </a:solidFill>
                <a:latin typeface="Montserrat"/>
              </a:rPr>
              <a:t>целеобразования</a:t>
            </a:r>
            <a:r>
              <a:rPr lang="ru-RU" sz="2000" spc="-1" dirty="0">
                <a:solidFill>
                  <a:srgbClr val="262626"/>
                </a:solidFill>
                <a:latin typeface="Montserrat"/>
              </a:rPr>
              <a:t> обеспечивает принципиально новый уровень автономии. Агент необязательно выполняет распоряжения </a:t>
            </a:r>
            <a:r>
              <a:rPr lang="ru-RU" sz="2000" spc="-1" dirty="0" smtClean="0">
                <a:solidFill>
                  <a:srgbClr val="262626"/>
                </a:solidFill>
                <a:latin typeface="Montserrat"/>
              </a:rPr>
              <a:t>какого-либо </a:t>
            </a:r>
            <a:r>
              <a:rPr lang="ru-RU" sz="2000" spc="-1" dirty="0">
                <a:solidFill>
                  <a:srgbClr val="262626"/>
                </a:solidFill>
                <a:latin typeface="Montserrat"/>
              </a:rPr>
              <a:t>другого агента или пользователя, а просто зависит от условий среды, включая цели и намерения других агентов. В отличие от объекта, агент может принять на себя определенные обязательства или, наоборот, отказаться от выполнения некоторой работы, мотивируя это отсутствием компетентности, занятостью другой задачей и </a:t>
            </a:r>
            <a:r>
              <a:rPr lang="ru-RU" sz="2000" spc="-1" dirty="0" smtClean="0">
                <a:solidFill>
                  <a:srgbClr val="262626"/>
                </a:solidFill>
                <a:latin typeface="Montserrat"/>
              </a:rPr>
              <a:t>т.п</a:t>
            </a:r>
            <a:r>
              <a:rPr lang="ru-RU" sz="2000" spc="-1" dirty="0" smtClean="0">
                <a:solidFill>
                  <a:srgbClr val="262626"/>
                </a:solidFill>
                <a:latin typeface="Montserrat"/>
              </a:rPr>
              <a:t>.</a:t>
            </a:r>
            <a:endParaRPr lang="ru-RU" sz="2000" spc="-1" dirty="0">
              <a:solidFill>
                <a:srgbClr val="262626"/>
              </a:solidFill>
              <a:latin typeface="Montserrat"/>
            </a:endParaRPr>
          </a:p>
        </p:txBody>
      </p:sp>
    </p:spTree>
    <p:extLst>
      <p:ext uri="{BB962C8B-B14F-4D97-AF65-F5344CB8AC3E}">
        <p14:creationId xmlns:p14="http://schemas.microsoft.com/office/powerpoint/2010/main" val="896678231"/>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err="1">
                <a:solidFill>
                  <a:srgbClr val="004892"/>
                </a:solidFill>
                <a:latin typeface="Montserrat"/>
              </a:rPr>
              <a:t>Агентно</a:t>
            </a:r>
            <a:r>
              <a:rPr lang="ru-RU" sz="3600" spc="-1" dirty="0">
                <a:solidFill>
                  <a:srgbClr val="004892"/>
                </a:solidFill>
                <a:latin typeface="Montserrat"/>
              </a:rPr>
              <a:t>-ориентированный подход</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ООП и АОП</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smtClean="0">
                <a:solidFill>
                  <a:srgbClr val="262626"/>
                </a:solidFill>
                <a:latin typeface="Montserrat"/>
              </a:rPr>
              <a:t>В </a:t>
            </a:r>
            <a:r>
              <a:rPr lang="ru-RU" sz="2000" spc="-1" dirty="0">
                <a:solidFill>
                  <a:srgbClr val="262626"/>
                </a:solidFill>
                <a:latin typeface="Montserrat"/>
              </a:rPr>
              <a:t>то же время, агент может выполнять такие действия как порождение, подавление и замена других агентов, активизация функций (как своих, так и у других агентов), активизация сценария деятельности, запоминание текущего состояния других агентов и пр. Все это наглядно показывает, что агент, будучи «активным объектом» или «искусственным деятелем», формирующим свое собственное поведение, находится на более высоком уровне сложности по отношению к традиционным объектам в </a:t>
            </a:r>
            <a:r>
              <a:rPr lang="ru-RU" sz="2000" spc="-1" dirty="0" smtClean="0">
                <a:solidFill>
                  <a:srgbClr val="262626"/>
                </a:solidFill>
                <a:latin typeface="Montserrat"/>
              </a:rPr>
              <a:t>ООП.</a:t>
            </a:r>
            <a:endParaRPr lang="ru-RU" sz="2000" spc="-1" dirty="0">
              <a:solidFill>
                <a:srgbClr val="262626"/>
              </a:solidFill>
              <a:latin typeface="Montserrat"/>
            </a:endParaRPr>
          </a:p>
        </p:txBody>
      </p:sp>
    </p:spTree>
    <p:extLst>
      <p:ext uri="{BB962C8B-B14F-4D97-AF65-F5344CB8AC3E}">
        <p14:creationId xmlns:p14="http://schemas.microsoft.com/office/powerpoint/2010/main" val="3412693585"/>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err="1">
                <a:solidFill>
                  <a:srgbClr val="004892"/>
                </a:solidFill>
                <a:latin typeface="Montserrat"/>
              </a:rPr>
              <a:t>Агентно</a:t>
            </a:r>
            <a:r>
              <a:rPr lang="ru-RU" sz="3600" spc="-1" dirty="0">
                <a:solidFill>
                  <a:srgbClr val="004892"/>
                </a:solidFill>
                <a:latin typeface="Montserrat"/>
              </a:rPr>
              <a:t>-ориентированный подход</a:t>
            </a:r>
            <a:endParaRPr lang="en-US" sz="3600" spc="-1" dirty="0"/>
          </a:p>
        </p:txBody>
      </p:sp>
      <p:pic>
        <p:nvPicPr>
          <p:cNvPr id="87" name="Рисунок 7"/>
          <p:cNvPicPr/>
          <p:nvPr/>
        </p:nvPicPr>
        <p:blipFill>
          <a:blip r:embed="rId3"/>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Агент</a:t>
            </a:r>
            <a:endParaRPr lang="ru-RU" sz="2000" spc="-1" dirty="0">
              <a:solidFill>
                <a:srgbClr val="004892"/>
              </a:solidFill>
              <a:latin typeface="Montserrat Bold"/>
            </a:endParaRPr>
          </a:p>
        </p:txBody>
      </p:sp>
      <p:pic>
        <p:nvPicPr>
          <p:cNvPr id="2" name="Picture 1"/>
          <p:cNvPicPr>
            <a:picLocks noChangeAspect="1"/>
          </p:cNvPicPr>
          <p:nvPr/>
        </p:nvPicPr>
        <p:blipFill>
          <a:blip r:embed="rId4"/>
          <a:stretch>
            <a:fillRect/>
          </a:stretch>
        </p:blipFill>
        <p:spPr>
          <a:xfrm>
            <a:off x="3510237" y="2316723"/>
            <a:ext cx="2486302" cy="3087566"/>
          </a:xfrm>
          <a:prstGeom prst="rect">
            <a:avLst/>
          </a:prstGeom>
          <a:ln>
            <a:solidFill>
              <a:schemeClr val="tx1"/>
            </a:solidFill>
          </a:ln>
        </p:spPr>
      </p:pic>
    </p:spTree>
    <p:extLst>
      <p:ext uri="{BB962C8B-B14F-4D97-AF65-F5344CB8AC3E}">
        <p14:creationId xmlns:p14="http://schemas.microsoft.com/office/powerpoint/2010/main" val="1255660053"/>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err="1">
                <a:solidFill>
                  <a:srgbClr val="004892"/>
                </a:solidFill>
                <a:latin typeface="Montserrat"/>
              </a:rPr>
              <a:t>Агентно</a:t>
            </a:r>
            <a:r>
              <a:rPr lang="ru-RU" sz="3600" spc="-1" dirty="0">
                <a:solidFill>
                  <a:srgbClr val="004892"/>
                </a:solidFill>
                <a:latin typeface="Montserrat"/>
              </a:rPr>
              <a:t>-ориентированный подход</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Виды сред</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a:solidFill>
                  <a:srgbClr val="262626"/>
                </a:solidFill>
                <a:latin typeface="Montserrat"/>
              </a:rPr>
              <a:t>В зависимости от степени свободы среды, подразумевающей наличие в ней соответствующего типа агента, среды подразделяются </a:t>
            </a:r>
            <a:r>
              <a:rPr lang="ru-RU" sz="2000" spc="-1" dirty="0" smtClean="0">
                <a:solidFill>
                  <a:srgbClr val="262626"/>
                </a:solidFill>
                <a:latin typeface="Montserrat"/>
              </a:rPr>
              <a:t>на:</a:t>
            </a:r>
            <a:endParaRPr lang="ru-RU" sz="2000" spc="-1" dirty="0">
              <a:solidFill>
                <a:srgbClr val="262626"/>
              </a:solidFill>
              <a:latin typeface="Montserrat"/>
            </a:endParaRP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Замкнутые. Конечное </a:t>
            </a:r>
            <a:r>
              <a:rPr lang="ru-RU" sz="2000" spc="-1" dirty="0">
                <a:solidFill>
                  <a:srgbClr val="262626"/>
                </a:solidFill>
                <a:latin typeface="Montserrat"/>
              </a:rPr>
              <a:t>детерминированное или вероятностное описание всей среды, которое известно агенту априори или </a:t>
            </a:r>
            <a:r>
              <a:rPr lang="ru-RU" sz="2000" spc="-1" dirty="0" smtClean="0">
                <a:solidFill>
                  <a:srgbClr val="262626"/>
                </a:solidFill>
                <a:latin typeface="Montserrat"/>
              </a:rPr>
              <a:t>путем </a:t>
            </a:r>
            <a:r>
              <a:rPr lang="ru-RU" sz="2000" spc="-1" dirty="0">
                <a:solidFill>
                  <a:srgbClr val="262626"/>
                </a:solidFill>
                <a:latin typeface="Montserrat"/>
              </a:rPr>
              <a:t>исследования.</a:t>
            </a: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Открытые. Конечное </a:t>
            </a:r>
            <a:r>
              <a:rPr lang="ru-RU" sz="2000" spc="-1" dirty="0">
                <a:solidFill>
                  <a:srgbClr val="262626"/>
                </a:solidFill>
                <a:latin typeface="Montserrat"/>
              </a:rPr>
              <a:t>детерминированное или вероятностное описание локальной области среды, в которой находится агент и которое известно ему априори или </a:t>
            </a:r>
            <a:r>
              <a:rPr lang="ru-RU" sz="2000" spc="-1" dirty="0" smtClean="0">
                <a:solidFill>
                  <a:srgbClr val="262626"/>
                </a:solidFill>
                <a:latin typeface="Montserrat"/>
              </a:rPr>
              <a:t>путем </a:t>
            </a:r>
            <a:r>
              <a:rPr lang="ru-RU" sz="2000" spc="-1" dirty="0">
                <a:solidFill>
                  <a:srgbClr val="262626"/>
                </a:solidFill>
                <a:latin typeface="Montserrat"/>
              </a:rPr>
              <a:t>исследования.</a:t>
            </a: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Трансформируемые. Динамически </a:t>
            </a:r>
            <a:r>
              <a:rPr lang="ru-RU" sz="2000" spc="-1" dirty="0">
                <a:solidFill>
                  <a:srgbClr val="262626"/>
                </a:solidFill>
                <a:latin typeface="Montserrat"/>
              </a:rPr>
              <a:t>развивающиеся среды, развивающей структурой которых является агент.</a:t>
            </a:r>
          </a:p>
        </p:txBody>
      </p:sp>
    </p:spTree>
    <p:extLst>
      <p:ext uri="{BB962C8B-B14F-4D97-AF65-F5344CB8AC3E}">
        <p14:creationId xmlns:p14="http://schemas.microsoft.com/office/powerpoint/2010/main" val="2283345526"/>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err="1">
                <a:solidFill>
                  <a:srgbClr val="004892"/>
                </a:solidFill>
                <a:latin typeface="Montserrat"/>
              </a:rPr>
              <a:t>Агентно</a:t>
            </a:r>
            <a:r>
              <a:rPr lang="ru-RU" sz="3600" spc="-1" dirty="0">
                <a:solidFill>
                  <a:srgbClr val="004892"/>
                </a:solidFill>
                <a:latin typeface="Montserrat"/>
              </a:rPr>
              <a:t>-ориентированный подход</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Базовые компоненты АОП систем</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a:solidFill>
                  <a:srgbClr val="262626"/>
                </a:solidFill>
                <a:latin typeface="Montserrat"/>
              </a:rPr>
              <a:t>В целом, система АОП должна включать следующие базовые </a:t>
            </a:r>
            <a:r>
              <a:rPr lang="ru-RU" sz="2000" spc="-1" dirty="0" smtClean="0">
                <a:solidFill>
                  <a:srgbClr val="262626"/>
                </a:solidFill>
                <a:latin typeface="Montserrat"/>
              </a:rPr>
              <a:t>компоненты:</a:t>
            </a:r>
            <a:endParaRPr lang="ru-RU" sz="2000" spc="-1" dirty="0">
              <a:solidFill>
                <a:srgbClr val="262626"/>
              </a:solidFill>
              <a:latin typeface="Montserrat"/>
            </a:endParaRP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ограниченный формальный язык с соответствующими синтаксисом и семантикой для описания внутреннего состояния агента, которое определяется несколькими параметрами типа убеждений, желаний, намерений и обязательств;</a:t>
            </a: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язык программирования для спецификации агентов, включающий примитивные команды типа REQUEST и INFORM;</a:t>
            </a:r>
          </a:p>
          <a:p>
            <a:pPr marL="342900" indent="-342900" algn="just">
              <a:lnSpc>
                <a:spcPct val="100000"/>
              </a:lnSpc>
              <a:buFont typeface="Wingdings" panose="05000000000000000000" pitchFamily="2" charset="2"/>
              <a:buChar char="§"/>
            </a:pPr>
            <a:r>
              <a:rPr lang="ru-RU" sz="2000" spc="-1" dirty="0" err="1">
                <a:solidFill>
                  <a:srgbClr val="262626"/>
                </a:solidFill>
                <a:latin typeface="Montserrat"/>
              </a:rPr>
              <a:t>агентификатор</a:t>
            </a:r>
            <a:r>
              <a:rPr lang="ru-RU" sz="2000" spc="-1" dirty="0">
                <a:solidFill>
                  <a:srgbClr val="262626"/>
                </a:solidFill>
                <a:latin typeface="Montserrat"/>
              </a:rPr>
              <a:t>, преобразующий нейтральные компоненты в программируемые агенты.</a:t>
            </a:r>
          </a:p>
        </p:txBody>
      </p:sp>
    </p:spTree>
    <p:extLst>
      <p:ext uri="{BB962C8B-B14F-4D97-AF65-F5344CB8AC3E}">
        <p14:creationId xmlns:p14="http://schemas.microsoft.com/office/powerpoint/2010/main" val="2892485831"/>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2160000"/>
            <a:ext cx="10080000" cy="90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en-US" sz="3600" spc="-1" dirty="0">
                <a:solidFill>
                  <a:srgbClr val="004892"/>
                </a:solidFill>
                <a:latin typeface="Montserrat"/>
              </a:rPr>
              <a:t>Java Agent Development Framework</a:t>
            </a:r>
            <a:endParaRPr lang="en-US" sz="3600" b="0" strike="noStrike" spc="-1" dirty="0">
              <a:latin typeface="Arial"/>
            </a:endParaRPr>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dirty="0">
                <a:solidFill>
                  <a:srgbClr val="004892"/>
                </a:solidFill>
                <a:latin typeface="Montserrat"/>
              </a:rPr>
              <a:t>Ульяновский государственный технический университет</a:t>
            </a:r>
            <a:endParaRPr lang="en-US" sz="1400" b="0" strike="noStrike" spc="-1" dirty="0">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Tree>
    <p:extLst>
      <p:ext uri="{BB962C8B-B14F-4D97-AF65-F5344CB8AC3E}">
        <p14:creationId xmlns:p14="http://schemas.microsoft.com/office/powerpoint/2010/main" val="993160396"/>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en-US" sz="3600" spc="-1" dirty="0">
                <a:solidFill>
                  <a:srgbClr val="004892"/>
                </a:solidFill>
                <a:latin typeface="Montserrat"/>
              </a:rPr>
              <a:t>Java Agent Development Framework</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2000" spc="-1" dirty="0">
                <a:solidFill>
                  <a:srgbClr val="004892"/>
                </a:solidFill>
                <a:latin typeface="Montserrat Bold"/>
              </a:rPr>
              <a:t>Java Agent Development Framework</a:t>
            </a: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err="1">
                <a:solidFill>
                  <a:srgbClr val="262626"/>
                </a:solidFill>
                <a:latin typeface="Montserrat"/>
              </a:rPr>
              <a:t>Java</a:t>
            </a:r>
            <a:r>
              <a:rPr lang="ru-RU" sz="2000" spc="-1" dirty="0">
                <a:solidFill>
                  <a:srgbClr val="262626"/>
                </a:solidFill>
                <a:latin typeface="Montserrat"/>
              </a:rPr>
              <a:t> </a:t>
            </a:r>
            <a:r>
              <a:rPr lang="ru-RU" sz="2000" spc="-1" dirty="0" err="1">
                <a:solidFill>
                  <a:srgbClr val="262626"/>
                </a:solidFill>
                <a:latin typeface="Montserrat"/>
              </a:rPr>
              <a:t>Agent</a:t>
            </a:r>
            <a:r>
              <a:rPr lang="ru-RU" sz="2000" spc="-1" dirty="0">
                <a:solidFill>
                  <a:srgbClr val="262626"/>
                </a:solidFill>
                <a:latin typeface="Montserrat"/>
              </a:rPr>
              <a:t> </a:t>
            </a:r>
            <a:r>
              <a:rPr lang="ru-RU" sz="2000" spc="-1" dirty="0" err="1">
                <a:solidFill>
                  <a:srgbClr val="262626"/>
                </a:solidFill>
                <a:latin typeface="Montserrat"/>
              </a:rPr>
              <a:t>Development</a:t>
            </a:r>
            <a:r>
              <a:rPr lang="ru-RU" sz="2000" spc="-1" dirty="0">
                <a:solidFill>
                  <a:srgbClr val="262626"/>
                </a:solidFill>
                <a:latin typeface="Montserrat"/>
              </a:rPr>
              <a:t> </a:t>
            </a:r>
            <a:r>
              <a:rPr lang="ru-RU" sz="2000" spc="-1" dirty="0" err="1">
                <a:solidFill>
                  <a:srgbClr val="262626"/>
                </a:solidFill>
                <a:latin typeface="Montserrat"/>
              </a:rPr>
              <a:t>Framework</a:t>
            </a:r>
            <a:r>
              <a:rPr lang="ru-RU" sz="2000" spc="-1" dirty="0">
                <a:solidFill>
                  <a:srgbClr val="262626"/>
                </a:solidFill>
                <a:latin typeface="Montserrat"/>
              </a:rPr>
              <a:t> (JADE) –</a:t>
            </a:r>
            <a:r>
              <a:rPr lang="ru-RU" sz="2000" spc="-1" dirty="0" smtClean="0">
                <a:solidFill>
                  <a:srgbClr val="262626"/>
                </a:solidFill>
                <a:latin typeface="Montserrat"/>
              </a:rPr>
              <a:t> </a:t>
            </a:r>
            <a:r>
              <a:rPr lang="ru-RU" sz="2000" spc="-1" dirty="0">
                <a:solidFill>
                  <a:srgbClr val="262626"/>
                </a:solidFill>
                <a:latin typeface="Montserrat"/>
              </a:rPr>
              <a:t>программная среда разработки </a:t>
            </a:r>
            <a:r>
              <a:rPr lang="ru-RU" sz="2000" spc="-1" dirty="0" err="1">
                <a:solidFill>
                  <a:srgbClr val="262626"/>
                </a:solidFill>
                <a:latin typeface="Montserrat"/>
              </a:rPr>
              <a:t>мультиагентных</a:t>
            </a:r>
            <a:r>
              <a:rPr lang="ru-RU" sz="2000" spc="-1" dirty="0">
                <a:solidFill>
                  <a:srgbClr val="262626"/>
                </a:solidFill>
                <a:latin typeface="Montserrat"/>
              </a:rPr>
              <a:t> систем и приложений, поддерживающая FIPA-стандарты для интеллектуальных агентов.</a:t>
            </a:r>
          </a:p>
          <a:p>
            <a:pPr algn="just">
              <a:lnSpc>
                <a:spcPct val="100000"/>
              </a:lnSpc>
            </a:pPr>
            <a:r>
              <a:rPr lang="ru-RU" sz="2000" spc="-1" dirty="0" smtClean="0">
                <a:solidFill>
                  <a:srgbClr val="262626"/>
                </a:solidFill>
                <a:latin typeface="Montserrat"/>
              </a:rPr>
              <a:t>Включает </a:t>
            </a:r>
            <a:r>
              <a:rPr lang="ru-RU" sz="2000" spc="-1" dirty="0">
                <a:solidFill>
                  <a:srgbClr val="262626"/>
                </a:solidFill>
                <a:latin typeface="Montserrat"/>
              </a:rPr>
              <a:t>в себя:</a:t>
            </a: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среду </a:t>
            </a:r>
            <a:r>
              <a:rPr lang="ru-RU" sz="2000" spc="-1" dirty="0">
                <a:solidFill>
                  <a:srgbClr val="262626"/>
                </a:solidFill>
                <a:latin typeface="Montserrat"/>
              </a:rPr>
              <a:t>выполнения агентов. Агенты регистрируются и работают под управлением среды;</a:t>
            </a: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библиотеку классов, которые используются для разработки </a:t>
            </a:r>
            <a:r>
              <a:rPr lang="ru-RU" sz="2000" spc="-1" dirty="0" err="1">
                <a:solidFill>
                  <a:srgbClr val="262626"/>
                </a:solidFill>
                <a:latin typeface="Montserrat"/>
              </a:rPr>
              <a:t>агентных</a:t>
            </a:r>
            <a:r>
              <a:rPr lang="ru-RU" sz="2000" spc="-1" dirty="0">
                <a:solidFill>
                  <a:srgbClr val="262626"/>
                </a:solidFill>
                <a:latin typeface="Montserrat"/>
              </a:rPr>
              <a:t> систем;</a:t>
            </a: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набор графических утилит для администрирования и наблюдения за жизнедеятельностью активных агентов.</a:t>
            </a:r>
          </a:p>
          <a:p>
            <a:pPr algn="just">
              <a:lnSpc>
                <a:spcPct val="100000"/>
              </a:lnSpc>
            </a:pPr>
            <a:endParaRPr lang="ru-RU" sz="2000" spc="-1" dirty="0" smtClean="0">
              <a:solidFill>
                <a:srgbClr val="262626"/>
              </a:solidFill>
              <a:latin typeface="Montserrat"/>
            </a:endParaRPr>
          </a:p>
          <a:p>
            <a:pPr algn="just">
              <a:lnSpc>
                <a:spcPct val="100000"/>
              </a:lnSpc>
            </a:pPr>
            <a:r>
              <a:rPr lang="ru-RU" sz="2000" spc="-1" dirty="0" smtClean="0">
                <a:solidFill>
                  <a:srgbClr val="262626"/>
                </a:solidFill>
                <a:latin typeface="Montserrat"/>
              </a:rPr>
              <a:t>Программная </a:t>
            </a:r>
            <a:r>
              <a:rPr lang="ru-RU" sz="2000" spc="-1" dirty="0">
                <a:solidFill>
                  <a:srgbClr val="262626"/>
                </a:solidFill>
                <a:latin typeface="Montserrat"/>
              </a:rPr>
              <a:t>среда </a:t>
            </a:r>
            <a:r>
              <a:rPr lang="ru-RU" sz="2000" spc="-1" dirty="0" err="1">
                <a:solidFill>
                  <a:srgbClr val="262626"/>
                </a:solidFill>
                <a:latin typeface="Montserrat"/>
              </a:rPr>
              <a:t>Jade</a:t>
            </a:r>
            <a:r>
              <a:rPr lang="ru-RU" sz="2000" spc="-1" dirty="0">
                <a:solidFill>
                  <a:srgbClr val="262626"/>
                </a:solidFill>
                <a:latin typeface="Montserrat"/>
              </a:rPr>
              <a:t> подключается к любому проекту на языке </a:t>
            </a:r>
            <a:r>
              <a:rPr lang="ru-RU" sz="2000" spc="-1" dirty="0" err="1">
                <a:solidFill>
                  <a:srgbClr val="262626"/>
                </a:solidFill>
                <a:latin typeface="Montserrat"/>
              </a:rPr>
              <a:t>Java</a:t>
            </a:r>
            <a:r>
              <a:rPr lang="ru-RU" sz="2000" spc="-1" dirty="0">
                <a:solidFill>
                  <a:srgbClr val="262626"/>
                </a:solidFill>
                <a:latin typeface="Montserrat"/>
              </a:rPr>
              <a:t>.</a:t>
            </a:r>
          </a:p>
        </p:txBody>
      </p:sp>
    </p:spTree>
    <p:extLst>
      <p:ext uri="{BB962C8B-B14F-4D97-AF65-F5344CB8AC3E}">
        <p14:creationId xmlns:p14="http://schemas.microsoft.com/office/powerpoint/2010/main" val="551297378"/>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en-US" sz="3600" spc="-1" dirty="0">
                <a:solidFill>
                  <a:srgbClr val="004892"/>
                </a:solidFill>
                <a:latin typeface="Montserrat"/>
              </a:rPr>
              <a:t>Java Agent Development Framework</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2000" spc="-1" dirty="0">
                <a:solidFill>
                  <a:srgbClr val="004892"/>
                </a:solidFill>
                <a:latin typeface="Montserrat Bold"/>
              </a:rPr>
              <a:t>Agent</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r>
              <a:rPr lang="ru-RU" sz="2000" dirty="0">
                <a:latin typeface="Montserrat"/>
              </a:rPr>
              <a:t>Класс </a:t>
            </a:r>
            <a:r>
              <a:rPr lang="ru-RU" sz="2000" dirty="0" err="1">
                <a:latin typeface="Montserrat"/>
              </a:rPr>
              <a:t>Agent</a:t>
            </a:r>
            <a:r>
              <a:rPr lang="ru-RU" sz="2000" dirty="0">
                <a:latin typeface="Montserrat"/>
              </a:rPr>
              <a:t> является общим </a:t>
            </a:r>
            <a:r>
              <a:rPr lang="ru-RU" sz="2000" b="1" dirty="0">
                <a:latin typeface="Montserrat"/>
              </a:rPr>
              <a:t>суперклассом</a:t>
            </a:r>
            <a:r>
              <a:rPr lang="ru-RU" sz="2000" dirty="0">
                <a:latin typeface="Montserrat"/>
              </a:rPr>
              <a:t> для определяемых пользователем программных агентов. Он предоставляет методы для выполнения основных задач агента, таких как:</a:t>
            </a:r>
          </a:p>
          <a:p>
            <a:pPr marL="342900" indent="-342900">
              <a:buFont typeface="Wingdings" panose="05000000000000000000" pitchFamily="2" charset="2"/>
              <a:buChar char="§"/>
            </a:pPr>
            <a:r>
              <a:rPr lang="ru-RU" sz="2000" dirty="0">
                <a:latin typeface="Montserrat"/>
              </a:rPr>
              <a:t>передача сообщений с использованием объектов </a:t>
            </a:r>
            <a:r>
              <a:rPr lang="ru-RU" sz="2000" dirty="0" err="1">
                <a:latin typeface="Montserrat"/>
              </a:rPr>
              <a:t>ACLMessage</a:t>
            </a:r>
            <a:r>
              <a:rPr lang="ru-RU" sz="2000" dirty="0">
                <a:latin typeface="Montserrat"/>
              </a:rPr>
              <a:t>, как одноадресных, так и многоадресных, с необязательным сопоставлением шаблонов;</a:t>
            </a:r>
          </a:p>
          <a:p>
            <a:pPr marL="342900" indent="-342900">
              <a:buFont typeface="Wingdings" panose="05000000000000000000" pitchFamily="2" charset="2"/>
              <a:buChar char="§"/>
            </a:pPr>
            <a:r>
              <a:rPr lang="ru-RU" sz="2000" dirty="0">
                <a:latin typeface="Montserrat"/>
              </a:rPr>
              <a:t>полная поддержка жизненного цикла платформы агентов, включая запуск, приостановку и уничтожение агента;</a:t>
            </a:r>
          </a:p>
          <a:p>
            <a:pPr marL="342900" indent="-342900">
              <a:buFont typeface="Wingdings" panose="05000000000000000000" pitchFamily="2" charset="2"/>
              <a:buChar char="§"/>
            </a:pPr>
            <a:r>
              <a:rPr lang="ru-RU" sz="2000" dirty="0">
                <a:latin typeface="Montserrat"/>
              </a:rPr>
              <a:t>планирование и выполнение нескольких одновременных действий.</a:t>
            </a:r>
          </a:p>
          <a:p>
            <a:r>
              <a:rPr lang="ru-RU" sz="2000" dirty="0">
                <a:latin typeface="Montserrat"/>
              </a:rPr>
              <a:t>Разработчики приложений должны писать свои собственные агенты в качестве подклассов </a:t>
            </a:r>
            <a:r>
              <a:rPr lang="ru-RU" sz="2000" dirty="0" err="1">
                <a:latin typeface="Montserrat"/>
              </a:rPr>
              <a:t>Agent</a:t>
            </a:r>
            <a:r>
              <a:rPr lang="ru-RU" sz="2000" dirty="0">
                <a:latin typeface="Montserrat"/>
              </a:rPr>
              <a:t>, добавляя при необходимости определенные варианты поведения и используя возможности класса </a:t>
            </a:r>
            <a:r>
              <a:rPr lang="ru-RU" sz="2000" dirty="0" err="1">
                <a:latin typeface="Montserrat"/>
              </a:rPr>
              <a:t>Agent</a:t>
            </a:r>
            <a:r>
              <a:rPr lang="ru-RU" sz="2000" dirty="0">
                <a:latin typeface="Montserrat"/>
              </a:rPr>
              <a:t>.</a:t>
            </a:r>
            <a:endParaRPr lang="en-US" sz="2000" dirty="0">
              <a:latin typeface="Montserrat"/>
            </a:endParaRPr>
          </a:p>
        </p:txBody>
      </p:sp>
    </p:spTree>
    <p:extLst>
      <p:ext uri="{BB962C8B-B14F-4D97-AF65-F5344CB8AC3E}">
        <p14:creationId xmlns:p14="http://schemas.microsoft.com/office/powerpoint/2010/main" val="28213076"/>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en-US" sz="3600" spc="-1" dirty="0">
                <a:solidFill>
                  <a:srgbClr val="004892"/>
                </a:solidFill>
                <a:latin typeface="Montserrat"/>
              </a:rPr>
              <a:t>Java Agent Development Framework</a:t>
            </a:r>
            <a:endParaRPr lang="en-US" sz="3600" spc="-1" dirty="0"/>
          </a:p>
        </p:txBody>
      </p:sp>
      <p:pic>
        <p:nvPicPr>
          <p:cNvPr id="87" name="Рисунок 7"/>
          <p:cNvPicPr/>
          <p:nvPr/>
        </p:nvPicPr>
        <p:blipFill>
          <a:blip r:embed="rId3"/>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2000" spc="-1" dirty="0">
                <a:solidFill>
                  <a:srgbClr val="004892"/>
                </a:solidFill>
                <a:latin typeface="Montserrat Bold"/>
              </a:rPr>
              <a:t>Agent</a:t>
            </a:r>
            <a:endParaRPr lang="ru-RU" sz="2000" spc="-1" dirty="0">
              <a:solidFill>
                <a:srgbClr val="004892"/>
              </a:solidFill>
              <a:latin typeface="Montserrat Bold"/>
            </a:endParaRPr>
          </a:p>
        </p:txBody>
      </p:sp>
      <p:pic>
        <p:nvPicPr>
          <p:cNvPr id="2" name="Picture 1"/>
          <p:cNvPicPr>
            <a:picLocks noChangeAspect="1"/>
          </p:cNvPicPr>
          <p:nvPr/>
        </p:nvPicPr>
        <p:blipFill>
          <a:blip r:embed="rId4"/>
          <a:stretch>
            <a:fillRect/>
          </a:stretch>
        </p:blipFill>
        <p:spPr>
          <a:xfrm>
            <a:off x="2124000" y="2346446"/>
            <a:ext cx="6392167" cy="1743318"/>
          </a:xfrm>
          <a:prstGeom prst="rect">
            <a:avLst/>
          </a:prstGeom>
          <a:ln>
            <a:solidFill>
              <a:schemeClr val="tx1"/>
            </a:solidFill>
          </a:ln>
        </p:spPr>
      </p:pic>
    </p:spTree>
    <p:extLst>
      <p:ext uri="{BB962C8B-B14F-4D97-AF65-F5344CB8AC3E}">
        <p14:creationId xmlns:p14="http://schemas.microsoft.com/office/powerpoint/2010/main" val="3145700607"/>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en-US" sz="3600" spc="-1" dirty="0">
                <a:solidFill>
                  <a:srgbClr val="004892"/>
                </a:solidFill>
                <a:latin typeface="Montserrat"/>
              </a:rPr>
              <a:t>Java Agent Development Framework</a:t>
            </a:r>
            <a:endParaRPr lang="en-US" sz="3600" spc="-1" dirty="0"/>
          </a:p>
        </p:txBody>
      </p:sp>
      <p:pic>
        <p:nvPicPr>
          <p:cNvPr id="87" name="Рисунок 7"/>
          <p:cNvPicPr/>
          <p:nvPr/>
        </p:nvPicPr>
        <p:blipFill>
          <a:blip r:embed="rId3"/>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2000" spc="-1" dirty="0" err="1">
                <a:solidFill>
                  <a:srgbClr val="004892"/>
                </a:solidFill>
                <a:latin typeface="Montserrat Bold"/>
              </a:rPr>
              <a:t>HelloWorldAgent</a:t>
            </a:r>
            <a:endParaRPr lang="ru-RU" sz="2000" spc="-1" dirty="0">
              <a:solidFill>
                <a:srgbClr val="004892"/>
              </a:solidFill>
              <a:latin typeface="Montserrat Bold"/>
            </a:endParaRPr>
          </a:p>
        </p:txBody>
      </p:sp>
      <p:pic>
        <p:nvPicPr>
          <p:cNvPr id="3" name="Picture 2"/>
          <p:cNvPicPr>
            <a:picLocks noChangeAspect="1"/>
          </p:cNvPicPr>
          <p:nvPr/>
        </p:nvPicPr>
        <p:blipFill>
          <a:blip r:embed="rId4"/>
          <a:stretch>
            <a:fillRect/>
          </a:stretch>
        </p:blipFill>
        <p:spPr>
          <a:xfrm>
            <a:off x="2287954" y="2227045"/>
            <a:ext cx="6115904" cy="3105583"/>
          </a:xfrm>
          <a:prstGeom prst="rect">
            <a:avLst/>
          </a:prstGeom>
          <a:ln>
            <a:solidFill>
              <a:schemeClr val="tx1"/>
            </a:solidFill>
          </a:ln>
        </p:spPr>
      </p:pic>
    </p:spTree>
    <p:extLst>
      <p:ext uri="{BB962C8B-B14F-4D97-AF65-F5344CB8AC3E}">
        <p14:creationId xmlns:p14="http://schemas.microsoft.com/office/powerpoint/2010/main" val="1524873345"/>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en-US" sz="3600" spc="-1" dirty="0">
                <a:solidFill>
                  <a:srgbClr val="004892"/>
                </a:solidFill>
                <a:latin typeface="Montserrat"/>
              </a:rPr>
              <a:t>Java Agent Development Framework</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r>
              <a:rPr lang="en-US" sz="2000" spc="-1" dirty="0" err="1">
                <a:solidFill>
                  <a:srgbClr val="004892"/>
                </a:solidFill>
                <a:latin typeface="Montserrat Bold"/>
              </a:rPr>
              <a:t>Behaviour</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r>
              <a:rPr lang="ru-RU" sz="2000" b="1" dirty="0">
                <a:latin typeface="Montserrat"/>
              </a:rPr>
              <a:t>Абстрактный</a:t>
            </a:r>
            <a:r>
              <a:rPr lang="ru-RU" sz="2000" dirty="0">
                <a:latin typeface="Montserrat"/>
              </a:rPr>
              <a:t> базовый класс для </a:t>
            </a:r>
            <a:r>
              <a:rPr lang="ru-RU" sz="2000" dirty="0" smtClean="0">
                <a:latin typeface="Montserrat"/>
              </a:rPr>
              <a:t>поведения. </a:t>
            </a:r>
            <a:r>
              <a:rPr lang="ru-RU" sz="2000" dirty="0">
                <a:latin typeface="Montserrat"/>
              </a:rPr>
              <a:t>Прямое расширение этого класса должно быть необходимо только для определенного поведения с особыми потребностями в синхронизации; это связано с тем, что уведомление на основе событий, используемое для блокировки и перезапуска поведения, доступно непосредственно на этом уровне</a:t>
            </a:r>
            <a:r>
              <a:rPr lang="ru-RU" sz="2000" dirty="0" smtClean="0">
                <a:latin typeface="Montserrat"/>
              </a:rPr>
              <a:t>.</a:t>
            </a:r>
          </a:p>
          <a:p>
            <a:r>
              <a:rPr lang="ru-RU" sz="2000" dirty="0" smtClean="0">
                <a:latin typeface="Montserrat"/>
              </a:rPr>
              <a:t>Имеет 2 абстрактных метода:</a:t>
            </a:r>
          </a:p>
          <a:p>
            <a:pPr marL="342900" indent="-342900">
              <a:buFont typeface="Wingdings" panose="05000000000000000000" pitchFamily="2" charset="2"/>
              <a:buChar char="§"/>
            </a:pPr>
            <a:r>
              <a:rPr lang="en-US" sz="2000" dirty="0">
                <a:latin typeface="Montserrat"/>
              </a:rPr>
              <a:t>void action</a:t>
            </a:r>
            <a:r>
              <a:rPr lang="en-US" sz="2000" dirty="0" smtClean="0">
                <a:latin typeface="Montserrat"/>
              </a:rPr>
              <a:t>()</a:t>
            </a:r>
            <a:r>
              <a:rPr lang="ru-RU" sz="2000" dirty="0">
                <a:latin typeface="Montserrat"/>
              </a:rPr>
              <a:t> – у</a:t>
            </a:r>
            <a:r>
              <a:rPr lang="ru-RU" sz="2000" dirty="0" smtClean="0">
                <a:latin typeface="Montserrat"/>
              </a:rPr>
              <a:t>правляет </a:t>
            </a:r>
            <a:r>
              <a:rPr lang="ru-RU" sz="2000" dirty="0">
                <a:latin typeface="Montserrat"/>
              </a:rPr>
              <a:t>поведением. </a:t>
            </a:r>
            <a:r>
              <a:rPr lang="ru-RU" sz="2000" dirty="0" smtClean="0">
                <a:latin typeface="Montserrat"/>
              </a:rPr>
              <a:t>Агент </a:t>
            </a:r>
            <a:r>
              <a:rPr lang="ru-RU" sz="2000" dirty="0">
                <a:latin typeface="Montserrat"/>
              </a:rPr>
              <a:t>планирует свое поведение, вызывая </a:t>
            </a:r>
            <a:r>
              <a:rPr lang="ru-RU" sz="2000" dirty="0" smtClean="0">
                <a:latin typeface="Montserrat"/>
              </a:rPr>
              <a:t>этот метод.</a:t>
            </a:r>
          </a:p>
          <a:p>
            <a:pPr marL="342900" indent="-342900">
              <a:buFont typeface="Wingdings" panose="05000000000000000000" pitchFamily="2" charset="2"/>
              <a:buChar char="§"/>
            </a:pPr>
            <a:r>
              <a:rPr lang="en-US" sz="2000" dirty="0" err="1">
                <a:latin typeface="Montserrat"/>
              </a:rPr>
              <a:t>boolean</a:t>
            </a:r>
            <a:r>
              <a:rPr lang="en-US" sz="2000" dirty="0">
                <a:latin typeface="Montserrat"/>
              </a:rPr>
              <a:t> done</a:t>
            </a:r>
            <a:r>
              <a:rPr lang="en-US" sz="2000" dirty="0" smtClean="0">
                <a:latin typeface="Montserrat"/>
              </a:rPr>
              <a:t>()</a:t>
            </a:r>
            <a:r>
              <a:rPr lang="ru-RU" sz="2000" dirty="0">
                <a:latin typeface="Montserrat"/>
              </a:rPr>
              <a:t> – </a:t>
            </a:r>
            <a:r>
              <a:rPr lang="ru-RU" sz="2000" dirty="0" smtClean="0">
                <a:latin typeface="Montserrat"/>
              </a:rPr>
              <a:t>проверка, </a:t>
            </a:r>
            <a:r>
              <a:rPr lang="ru-RU" sz="2000" dirty="0">
                <a:latin typeface="Montserrat"/>
              </a:rPr>
              <a:t>выполняется ли это поведение. Планировщик агента вызывает этот метод, чтобы узнать, нужно ли еще запустить </a:t>
            </a:r>
            <a:r>
              <a:rPr lang="ru-RU" sz="2000" dirty="0" err="1" smtClean="0">
                <a:latin typeface="Montserrat"/>
              </a:rPr>
              <a:t>Behaviour</a:t>
            </a:r>
            <a:r>
              <a:rPr lang="ru-RU" sz="2000" dirty="0" smtClean="0">
                <a:latin typeface="Montserrat"/>
              </a:rPr>
              <a:t> или </a:t>
            </a:r>
            <a:r>
              <a:rPr lang="ru-RU" sz="2000" dirty="0">
                <a:latin typeface="Montserrat"/>
              </a:rPr>
              <a:t>он завершил свою задачу.</a:t>
            </a:r>
            <a:endParaRPr lang="en-US" sz="2000" dirty="0">
              <a:latin typeface="Montserrat"/>
            </a:endParaRPr>
          </a:p>
        </p:txBody>
      </p:sp>
    </p:spTree>
    <p:extLst>
      <p:ext uri="{BB962C8B-B14F-4D97-AF65-F5344CB8AC3E}">
        <p14:creationId xmlns:p14="http://schemas.microsoft.com/office/powerpoint/2010/main" val="4017788896"/>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en-US" sz="3600" spc="-1" dirty="0">
                <a:solidFill>
                  <a:srgbClr val="004892"/>
                </a:solidFill>
                <a:latin typeface="Montserrat"/>
              </a:rPr>
              <a:t>Java Agent Development Framework</a:t>
            </a:r>
            <a:endParaRPr lang="en-US" sz="3600" spc="-1" dirty="0"/>
          </a:p>
        </p:txBody>
      </p:sp>
      <p:pic>
        <p:nvPicPr>
          <p:cNvPr id="87" name="Рисунок 7"/>
          <p:cNvPicPr/>
          <p:nvPr/>
        </p:nvPicPr>
        <p:blipFill>
          <a:blip r:embed="rId3"/>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2000" spc="-1" dirty="0" err="1">
                <a:solidFill>
                  <a:srgbClr val="004892"/>
                </a:solidFill>
                <a:latin typeface="Montserrat Bold"/>
              </a:rPr>
              <a:t>SimpleAgent</a:t>
            </a:r>
            <a:endParaRPr lang="ru-RU" sz="2000" spc="-1" dirty="0">
              <a:solidFill>
                <a:srgbClr val="004892"/>
              </a:solidFill>
              <a:latin typeface="Montserrat Bold"/>
            </a:endParaRPr>
          </a:p>
        </p:txBody>
      </p:sp>
      <p:pic>
        <p:nvPicPr>
          <p:cNvPr id="2" name="Picture 1"/>
          <p:cNvPicPr>
            <a:picLocks noChangeAspect="1"/>
          </p:cNvPicPr>
          <p:nvPr/>
        </p:nvPicPr>
        <p:blipFill>
          <a:blip r:embed="rId4"/>
          <a:stretch>
            <a:fillRect/>
          </a:stretch>
        </p:blipFill>
        <p:spPr>
          <a:xfrm>
            <a:off x="122413" y="2061720"/>
            <a:ext cx="4564851" cy="2323624"/>
          </a:xfrm>
          <a:prstGeom prst="rect">
            <a:avLst/>
          </a:prstGeom>
          <a:ln>
            <a:solidFill>
              <a:schemeClr val="tx1"/>
            </a:solidFill>
          </a:ln>
        </p:spPr>
      </p:pic>
      <p:pic>
        <p:nvPicPr>
          <p:cNvPr id="3" name="Picture 2"/>
          <p:cNvPicPr>
            <a:picLocks noChangeAspect="1"/>
          </p:cNvPicPr>
          <p:nvPr/>
        </p:nvPicPr>
        <p:blipFill>
          <a:blip r:embed="rId5"/>
          <a:stretch>
            <a:fillRect/>
          </a:stretch>
        </p:blipFill>
        <p:spPr>
          <a:xfrm>
            <a:off x="4957560" y="1013942"/>
            <a:ext cx="4818356" cy="5520058"/>
          </a:xfrm>
          <a:prstGeom prst="rect">
            <a:avLst/>
          </a:prstGeom>
          <a:ln>
            <a:solidFill>
              <a:schemeClr val="tx1"/>
            </a:solidFill>
          </a:ln>
        </p:spPr>
      </p:pic>
    </p:spTree>
    <p:extLst>
      <p:ext uri="{BB962C8B-B14F-4D97-AF65-F5344CB8AC3E}">
        <p14:creationId xmlns:p14="http://schemas.microsoft.com/office/powerpoint/2010/main" val="216022951"/>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en-US" sz="3600" spc="-1" dirty="0">
                <a:solidFill>
                  <a:srgbClr val="004892"/>
                </a:solidFill>
                <a:latin typeface="Montserrat"/>
              </a:rPr>
              <a:t>Java Agent Development Framework</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r>
              <a:rPr lang="en-US" sz="2000" spc="-1" dirty="0" err="1" smtClean="0">
                <a:solidFill>
                  <a:srgbClr val="004892"/>
                </a:solidFill>
                <a:latin typeface="Montserrat Bold"/>
              </a:rPr>
              <a:t>SimpleAgent</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r>
              <a:rPr lang="en-US" sz="2000" dirty="0" err="1">
                <a:latin typeface="Montserrat"/>
              </a:rPr>
              <a:t>SimpleAgent</a:t>
            </a:r>
            <a:r>
              <a:rPr lang="ru-RU" sz="2000" dirty="0" smtClean="0">
                <a:latin typeface="Montserrat"/>
              </a:rPr>
              <a:t> имеет 2 операции-поведения:</a:t>
            </a:r>
          </a:p>
          <a:p>
            <a:pPr marL="342900" indent="-342900">
              <a:buFont typeface="Wingdings" panose="05000000000000000000" pitchFamily="2" charset="2"/>
              <a:buChar char="§"/>
            </a:pPr>
            <a:r>
              <a:rPr lang="ru-RU" sz="2000" dirty="0" err="1" smtClean="0">
                <a:latin typeface="Montserrat"/>
              </a:rPr>
              <a:t>CyclicBehaviour</a:t>
            </a:r>
            <a:r>
              <a:rPr lang="ru-RU" sz="2000" dirty="0">
                <a:latin typeface="Montserrat"/>
              </a:rPr>
              <a:t>, который показывает распечатку в каждом </a:t>
            </a:r>
            <a:r>
              <a:rPr lang="ru-RU" sz="2000" dirty="0" smtClean="0">
                <a:latin typeface="Montserrat"/>
              </a:rPr>
              <a:t>раунде;</a:t>
            </a:r>
          </a:p>
          <a:p>
            <a:pPr marL="342900" indent="-342900">
              <a:buFont typeface="Wingdings" panose="05000000000000000000" pitchFamily="2" charset="2"/>
              <a:buChar char="§"/>
            </a:pPr>
            <a:r>
              <a:rPr lang="ru-RU" sz="2000" dirty="0" smtClean="0">
                <a:latin typeface="Montserrat"/>
              </a:rPr>
              <a:t>общее поведение (</a:t>
            </a:r>
            <a:r>
              <a:rPr lang="en-US" sz="2000" dirty="0">
                <a:latin typeface="Montserrat"/>
              </a:rPr>
              <a:t>generic </a:t>
            </a:r>
            <a:r>
              <a:rPr lang="en-US" sz="2000" dirty="0" err="1">
                <a:latin typeface="Montserrat"/>
              </a:rPr>
              <a:t>behaviour</a:t>
            </a:r>
            <a:r>
              <a:rPr lang="ru-RU" sz="2000" dirty="0" smtClean="0">
                <a:latin typeface="Montserrat"/>
              </a:rPr>
              <a:t>), </a:t>
            </a:r>
            <a:r>
              <a:rPr lang="ru-RU" sz="2000" dirty="0">
                <a:latin typeface="Montserrat"/>
              </a:rPr>
              <a:t>которое выполняет четыре последовательных «фиктивных» операции. Вторая операция, в частности, включает добавление </a:t>
            </a:r>
            <a:r>
              <a:rPr lang="ru-RU" sz="2000" dirty="0" err="1">
                <a:latin typeface="Montserrat"/>
              </a:rPr>
              <a:t>OneShotBehaviour</a:t>
            </a:r>
            <a:r>
              <a:rPr lang="ru-RU" sz="2000" dirty="0" smtClean="0">
                <a:latin typeface="Montserrat"/>
              </a:rPr>
              <a:t>.</a:t>
            </a:r>
          </a:p>
          <a:p>
            <a:pPr marL="342900" indent="-342900">
              <a:buFont typeface="Wingdings" panose="05000000000000000000" pitchFamily="2" charset="2"/>
              <a:buChar char="§"/>
            </a:pPr>
            <a:endParaRPr lang="ru-RU" sz="2000" dirty="0">
              <a:latin typeface="Montserrat"/>
            </a:endParaRPr>
          </a:p>
          <a:p>
            <a:r>
              <a:rPr lang="ru-RU" sz="2000" dirty="0" smtClean="0">
                <a:latin typeface="Montserrat"/>
              </a:rPr>
              <a:t>Когда </a:t>
            </a:r>
            <a:r>
              <a:rPr lang="ru-RU" sz="2000" dirty="0">
                <a:latin typeface="Montserrat"/>
              </a:rPr>
              <a:t>общее поведение завершается, агент завершает работу.</a:t>
            </a:r>
            <a:endParaRPr lang="en-US" sz="2000" dirty="0">
              <a:latin typeface="Montserrat"/>
            </a:endParaRPr>
          </a:p>
        </p:txBody>
      </p:sp>
    </p:spTree>
    <p:extLst>
      <p:ext uri="{BB962C8B-B14F-4D97-AF65-F5344CB8AC3E}">
        <p14:creationId xmlns:p14="http://schemas.microsoft.com/office/powerpoint/2010/main" val="1715813112"/>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2160000"/>
            <a:ext cx="10080000" cy="90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err="1">
                <a:solidFill>
                  <a:srgbClr val="004892"/>
                </a:solidFill>
                <a:latin typeface="Montserrat"/>
              </a:rPr>
              <a:t>Мультиагентная</a:t>
            </a:r>
            <a:r>
              <a:rPr lang="ru-RU" sz="3600" spc="-1" dirty="0">
                <a:solidFill>
                  <a:srgbClr val="004892"/>
                </a:solidFill>
                <a:latin typeface="Montserrat"/>
              </a:rPr>
              <a:t> </a:t>
            </a:r>
            <a:r>
              <a:rPr lang="ru-RU" sz="3600" spc="-1" dirty="0" smtClean="0">
                <a:solidFill>
                  <a:srgbClr val="004892"/>
                </a:solidFill>
                <a:latin typeface="Montserrat"/>
              </a:rPr>
              <a:t>система</a:t>
            </a:r>
            <a:endParaRPr lang="en-US" sz="3600" b="0" strike="noStrike" spc="-1" dirty="0">
              <a:latin typeface="Arial"/>
            </a:endParaRPr>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dirty="0">
                <a:solidFill>
                  <a:srgbClr val="004892"/>
                </a:solidFill>
                <a:latin typeface="Montserrat"/>
              </a:rPr>
              <a:t>Ульяновский государственный технический университет</a:t>
            </a:r>
            <a:endParaRPr lang="en-US" sz="1400" b="0" strike="noStrike" spc="-1" dirty="0">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Tree>
    <p:extLst>
      <p:ext uri="{BB962C8B-B14F-4D97-AF65-F5344CB8AC3E}">
        <p14:creationId xmlns:p14="http://schemas.microsoft.com/office/powerpoint/2010/main" val="2287983872"/>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err="1">
                <a:solidFill>
                  <a:srgbClr val="004892"/>
                </a:solidFill>
                <a:latin typeface="Montserrat"/>
              </a:rPr>
              <a:t>Мультиагентная</a:t>
            </a:r>
            <a:r>
              <a:rPr lang="ru-RU" sz="3600" spc="-1" dirty="0">
                <a:solidFill>
                  <a:srgbClr val="004892"/>
                </a:solidFill>
                <a:latin typeface="Montserrat"/>
              </a:rPr>
              <a:t> система</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err="1">
                <a:solidFill>
                  <a:srgbClr val="004892"/>
                </a:solidFill>
                <a:latin typeface="Montserrat Bold"/>
              </a:rPr>
              <a:t>Мультиагентная</a:t>
            </a:r>
            <a:r>
              <a:rPr lang="ru-RU" sz="2000" spc="-1" dirty="0">
                <a:solidFill>
                  <a:srgbClr val="004892"/>
                </a:solidFill>
                <a:latin typeface="Montserrat Bold"/>
              </a:rPr>
              <a:t> система</a:t>
            </a: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marL="342900" indent="-342900" algn="just">
              <a:lnSpc>
                <a:spcPct val="100000"/>
              </a:lnSpc>
              <a:buFont typeface="Wingdings" panose="05000000000000000000" pitchFamily="2" charset="2"/>
              <a:buChar char="§"/>
            </a:pPr>
            <a:r>
              <a:rPr lang="ru-RU" sz="2000" spc="-1" dirty="0" err="1" smtClean="0">
                <a:solidFill>
                  <a:srgbClr val="262626"/>
                </a:solidFill>
                <a:latin typeface="Montserrat"/>
              </a:rPr>
              <a:t>Мультиагентная</a:t>
            </a:r>
            <a:r>
              <a:rPr lang="ru-RU" sz="2000" spc="-1" dirty="0" smtClean="0">
                <a:solidFill>
                  <a:srgbClr val="262626"/>
                </a:solidFill>
                <a:latin typeface="Montserrat"/>
              </a:rPr>
              <a:t> система </a:t>
            </a:r>
            <a:r>
              <a:rPr lang="ru-RU" sz="2000" spc="-1" dirty="0">
                <a:solidFill>
                  <a:srgbClr val="262626"/>
                </a:solidFill>
                <a:latin typeface="Montserrat"/>
              </a:rPr>
              <a:t>– </a:t>
            </a:r>
            <a:r>
              <a:rPr lang="ru-RU" sz="2000" spc="-1" dirty="0" smtClean="0">
                <a:solidFill>
                  <a:srgbClr val="262626"/>
                </a:solidFill>
                <a:latin typeface="Montserrat"/>
              </a:rPr>
              <a:t>это </a:t>
            </a:r>
            <a:r>
              <a:rPr lang="ru-RU" sz="2000" spc="-1" dirty="0">
                <a:solidFill>
                  <a:srgbClr val="262626"/>
                </a:solidFill>
                <a:latin typeface="Montserrat"/>
              </a:rPr>
              <a:t>система, образованная </a:t>
            </a:r>
            <a:r>
              <a:rPr lang="ru-RU" sz="2000" b="1" spc="-1" dirty="0">
                <a:solidFill>
                  <a:srgbClr val="262626"/>
                </a:solidFill>
                <a:latin typeface="Montserrat"/>
              </a:rPr>
              <a:t>несколькими</a:t>
            </a:r>
            <a:r>
              <a:rPr lang="ru-RU" sz="2000" spc="-1" dirty="0">
                <a:solidFill>
                  <a:srgbClr val="262626"/>
                </a:solidFill>
                <a:latin typeface="Montserrat"/>
              </a:rPr>
              <a:t> взаимодействующими интеллектуальными агентами. </a:t>
            </a:r>
            <a:r>
              <a:rPr lang="ru-RU" sz="2000" spc="-1" dirty="0" err="1" smtClean="0">
                <a:solidFill>
                  <a:srgbClr val="262626"/>
                </a:solidFill>
                <a:latin typeface="Montserrat"/>
              </a:rPr>
              <a:t>Мультиагентные</a:t>
            </a:r>
            <a:r>
              <a:rPr lang="ru-RU" sz="2000" spc="-1" dirty="0" smtClean="0">
                <a:solidFill>
                  <a:srgbClr val="262626"/>
                </a:solidFill>
                <a:latin typeface="Montserrat"/>
              </a:rPr>
              <a:t> системы </a:t>
            </a:r>
            <a:r>
              <a:rPr lang="ru-RU" sz="2000" spc="-1" dirty="0">
                <a:solidFill>
                  <a:srgbClr val="262626"/>
                </a:solidFill>
                <a:latin typeface="Montserrat"/>
              </a:rPr>
              <a:t>могут быть использованы для решения таких проблем, которые сложно или невозможно решить с помощью одного агента или монолитной </a:t>
            </a:r>
            <a:r>
              <a:rPr lang="ru-RU" sz="2000" spc="-1" dirty="0" smtClean="0">
                <a:solidFill>
                  <a:srgbClr val="262626"/>
                </a:solidFill>
                <a:latin typeface="Montserrat"/>
              </a:rPr>
              <a:t>системы</a:t>
            </a:r>
            <a:r>
              <a:rPr lang="ru-RU" sz="2000" spc="-1" dirty="0">
                <a:solidFill>
                  <a:srgbClr val="262626"/>
                </a:solidFill>
                <a:latin typeface="Montserrat"/>
              </a:rPr>
              <a:t>.</a:t>
            </a:r>
            <a:endParaRPr lang="en-US" sz="2000" spc="-1" dirty="0" smtClean="0">
              <a:solidFill>
                <a:srgbClr val="262626"/>
              </a:solidFill>
              <a:latin typeface="Montserrat"/>
            </a:endParaRP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Агент </a:t>
            </a:r>
            <a:r>
              <a:rPr lang="ru-RU" sz="2000" spc="-1" dirty="0">
                <a:solidFill>
                  <a:srgbClr val="262626"/>
                </a:solidFill>
                <a:latin typeface="Montserrat"/>
              </a:rPr>
              <a:t>(</a:t>
            </a:r>
            <a:r>
              <a:rPr lang="ru-RU" sz="2000" spc="-1" dirty="0" err="1">
                <a:solidFill>
                  <a:srgbClr val="262626"/>
                </a:solidFill>
                <a:latin typeface="Montserrat"/>
              </a:rPr>
              <a:t>мультиагент</a:t>
            </a:r>
            <a:r>
              <a:rPr lang="ru-RU" sz="2000" spc="-1" dirty="0">
                <a:solidFill>
                  <a:srgbClr val="262626"/>
                </a:solidFill>
                <a:latin typeface="Montserrat"/>
              </a:rPr>
              <a:t>) – </a:t>
            </a:r>
            <a:r>
              <a:rPr lang="ru-RU" sz="2000" spc="-1" dirty="0" smtClean="0">
                <a:solidFill>
                  <a:srgbClr val="262626"/>
                </a:solidFill>
                <a:latin typeface="Montserrat"/>
              </a:rPr>
              <a:t>это </a:t>
            </a:r>
            <a:r>
              <a:rPr lang="ru-RU" sz="2000" spc="-1" dirty="0">
                <a:solidFill>
                  <a:srgbClr val="262626"/>
                </a:solidFill>
                <a:latin typeface="Montserrat"/>
              </a:rPr>
              <a:t>аппаратная или программная сущность, способная действовать в интересах достижения целей, поставленных перед ним владельцем и/или пользователем</a:t>
            </a:r>
            <a:r>
              <a:rPr lang="ru-RU" sz="2000" spc="-1" dirty="0" smtClean="0">
                <a:solidFill>
                  <a:srgbClr val="262626"/>
                </a:solidFill>
                <a:latin typeface="Montserrat"/>
              </a:rPr>
              <a:t>.</a:t>
            </a: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Программные </a:t>
            </a:r>
            <a:r>
              <a:rPr lang="ru-RU" sz="2000" spc="-1" dirty="0">
                <a:solidFill>
                  <a:srgbClr val="262626"/>
                </a:solidFill>
                <a:latin typeface="Montserrat"/>
              </a:rPr>
              <a:t>интеллектуальные агенты –</a:t>
            </a:r>
            <a:r>
              <a:rPr lang="ru-RU" sz="2000" spc="-1" dirty="0" smtClean="0">
                <a:solidFill>
                  <a:srgbClr val="262626"/>
                </a:solidFill>
                <a:latin typeface="Montserrat"/>
              </a:rPr>
              <a:t> </a:t>
            </a:r>
            <a:r>
              <a:rPr lang="ru-RU" sz="2000" spc="-1" dirty="0">
                <a:solidFill>
                  <a:srgbClr val="262626"/>
                </a:solidFill>
                <a:latin typeface="Montserrat"/>
              </a:rPr>
              <a:t>это новый класс систем программного обеспечения, которое действует либо от лица пользователя, либо от лица системы, делегировавшей агенту полномочия на выполнение тех или иных действий</a:t>
            </a:r>
            <a:r>
              <a:rPr lang="ru-RU" sz="2000" spc="-1" dirty="0" smtClean="0">
                <a:solidFill>
                  <a:srgbClr val="262626"/>
                </a:solidFill>
                <a:latin typeface="Montserrat"/>
              </a:rPr>
              <a:t>.</a:t>
            </a:r>
            <a:endParaRPr lang="ru-RU" sz="2000" spc="-1" dirty="0">
              <a:solidFill>
                <a:srgbClr val="262626"/>
              </a:solidFill>
              <a:latin typeface="Montserrat"/>
            </a:endParaRPr>
          </a:p>
        </p:txBody>
      </p:sp>
    </p:spTree>
    <p:extLst>
      <p:ext uri="{BB962C8B-B14F-4D97-AF65-F5344CB8AC3E}">
        <p14:creationId xmlns:p14="http://schemas.microsoft.com/office/powerpoint/2010/main" val="3064975586"/>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err="1">
                <a:solidFill>
                  <a:srgbClr val="004892"/>
                </a:solidFill>
                <a:latin typeface="Montserrat"/>
              </a:rPr>
              <a:t>Мультиагентная</a:t>
            </a:r>
            <a:r>
              <a:rPr lang="ru-RU" sz="3600" spc="-1" dirty="0">
                <a:solidFill>
                  <a:srgbClr val="004892"/>
                </a:solidFill>
                <a:latin typeface="Montserrat"/>
              </a:rPr>
              <a:t> система</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a:solidFill>
                  <a:srgbClr val="004892"/>
                </a:solidFill>
                <a:latin typeface="Montserrat Bold"/>
              </a:rPr>
              <a:t>Основные понятия</a:t>
            </a: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Процесс </a:t>
            </a:r>
            <a:r>
              <a:rPr lang="ru-RU" sz="2000" spc="-1" dirty="0">
                <a:solidFill>
                  <a:srgbClr val="262626"/>
                </a:solidFill>
                <a:latin typeface="Montserrat"/>
              </a:rPr>
              <a:t>самоорганизации в </a:t>
            </a:r>
            <a:r>
              <a:rPr lang="ru-RU" sz="2000" spc="-1" dirty="0" err="1">
                <a:solidFill>
                  <a:srgbClr val="262626"/>
                </a:solidFill>
                <a:latin typeface="Montserrat"/>
              </a:rPr>
              <a:t>мультиагентных</a:t>
            </a:r>
            <a:r>
              <a:rPr lang="ru-RU" sz="2000" spc="-1" dirty="0">
                <a:solidFill>
                  <a:srgbClr val="262626"/>
                </a:solidFill>
                <a:latin typeface="Montserrat"/>
              </a:rPr>
              <a:t> системах –</a:t>
            </a:r>
            <a:r>
              <a:rPr lang="ru-RU" sz="2000" spc="-1" dirty="0" smtClean="0">
                <a:solidFill>
                  <a:srgbClr val="262626"/>
                </a:solidFill>
                <a:latin typeface="Montserrat"/>
              </a:rPr>
              <a:t> </a:t>
            </a:r>
            <a:r>
              <a:rPr lang="ru-RU" sz="2000" spc="-1" dirty="0">
                <a:solidFill>
                  <a:srgbClr val="262626"/>
                </a:solidFill>
                <a:latin typeface="Montserrat"/>
              </a:rPr>
              <a:t>внутренняя упорядоченность, согласованность, взаимодействие более или менее дифференцированных и автономных агентов </a:t>
            </a:r>
            <a:r>
              <a:rPr lang="ru-RU" sz="2000" spc="-1" dirty="0" err="1">
                <a:solidFill>
                  <a:srgbClr val="262626"/>
                </a:solidFill>
                <a:latin typeface="Montserrat"/>
              </a:rPr>
              <a:t>агентной</a:t>
            </a:r>
            <a:r>
              <a:rPr lang="ru-RU" sz="2000" spc="-1" dirty="0">
                <a:solidFill>
                  <a:srgbClr val="262626"/>
                </a:solidFill>
                <a:latin typeface="Montserrat"/>
              </a:rPr>
              <a:t> системы</a:t>
            </a:r>
            <a:r>
              <a:rPr lang="ru-RU" sz="2000" spc="-1" dirty="0" smtClean="0">
                <a:solidFill>
                  <a:srgbClr val="262626"/>
                </a:solidFill>
                <a:latin typeface="Montserrat"/>
              </a:rPr>
              <a:t>.</a:t>
            </a:r>
          </a:p>
          <a:p>
            <a:pPr marL="342900" indent="-342900" algn="just">
              <a:lnSpc>
                <a:spcPct val="100000"/>
              </a:lnSpc>
              <a:buFont typeface="Wingdings" panose="05000000000000000000" pitchFamily="2" charset="2"/>
              <a:buChar char="§"/>
            </a:pPr>
            <a:endParaRPr lang="ru-RU" sz="2000" spc="-1" dirty="0">
              <a:solidFill>
                <a:srgbClr val="262626"/>
              </a:solidFill>
              <a:latin typeface="Montserrat"/>
            </a:endParaRPr>
          </a:p>
          <a:p>
            <a:pPr algn="just">
              <a:lnSpc>
                <a:spcPct val="100000"/>
              </a:lnSpc>
            </a:pPr>
            <a:r>
              <a:rPr lang="ru-RU" sz="2000" spc="-1" dirty="0" smtClean="0">
                <a:solidFill>
                  <a:srgbClr val="262626"/>
                </a:solidFill>
                <a:latin typeface="Montserrat"/>
              </a:rPr>
              <a:t>Главным </a:t>
            </a:r>
            <a:r>
              <a:rPr lang="ru-RU" sz="2000" spc="-1" dirty="0">
                <a:solidFill>
                  <a:srgbClr val="262626"/>
                </a:solidFill>
                <a:latin typeface="Montserrat"/>
              </a:rPr>
              <a:t>свойством </a:t>
            </a:r>
            <a:r>
              <a:rPr lang="ru-RU" sz="2000" spc="-1" dirty="0" err="1">
                <a:solidFill>
                  <a:srgbClr val="262626"/>
                </a:solidFill>
                <a:latin typeface="Montserrat"/>
              </a:rPr>
              <a:t>агентных</a:t>
            </a:r>
            <a:r>
              <a:rPr lang="ru-RU" sz="2000" spc="-1" dirty="0">
                <a:solidFill>
                  <a:srgbClr val="262626"/>
                </a:solidFill>
                <a:latin typeface="Montserrat"/>
              </a:rPr>
              <a:t> систем становится способность выявлять и разрешать потенциальные конфликты (противоречия) интересов как во внешней, так и внутренней кооперативной деятельности компании.</a:t>
            </a:r>
          </a:p>
        </p:txBody>
      </p:sp>
    </p:spTree>
    <p:extLst>
      <p:ext uri="{BB962C8B-B14F-4D97-AF65-F5344CB8AC3E}">
        <p14:creationId xmlns:p14="http://schemas.microsoft.com/office/powerpoint/2010/main" val="3018564111"/>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err="1">
                <a:solidFill>
                  <a:srgbClr val="004892"/>
                </a:solidFill>
                <a:latin typeface="Montserrat"/>
              </a:rPr>
              <a:t>Мультиагентная</a:t>
            </a:r>
            <a:r>
              <a:rPr lang="ru-RU" sz="3600" spc="-1" dirty="0">
                <a:solidFill>
                  <a:srgbClr val="004892"/>
                </a:solidFill>
                <a:latin typeface="Montserrat"/>
              </a:rPr>
              <a:t> система</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Характеристики МАС</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a:solidFill>
                  <a:srgbClr val="262626"/>
                </a:solidFill>
                <a:latin typeface="Montserrat"/>
              </a:rPr>
              <a:t>В </a:t>
            </a:r>
            <a:r>
              <a:rPr lang="ru-RU" sz="2000" spc="-1" dirty="0" err="1">
                <a:solidFill>
                  <a:srgbClr val="262626"/>
                </a:solidFill>
                <a:latin typeface="Montserrat"/>
              </a:rPr>
              <a:t>многоагентной</a:t>
            </a:r>
            <a:r>
              <a:rPr lang="ru-RU" sz="2000" spc="-1" dirty="0">
                <a:solidFill>
                  <a:srgbClr val="262626"/>
                </a:solidFill>
                <a:latin typeface="Montserrat"/>
              </a:rPr>
              <a:t> системе агенты имеют несколько важных </a:t>
            </a:r>
            <a:r>
              <a:rPr lang="ru-RU" sz="2000" spc="-1" dirty="0" smtClean="0">
                <a:solidFill>
                  <a:srgbClr val="262626"/>
                </a:solidFill>
                <a:latin typeface="Montserrat"/>
              </a:rPr>
              <a:t>характеристик:</a:t>
            </a:r>
            <a:endParaRPr lang="ru-RU" sz="2000" spc="-1" dirty="0">
              <a:solidFill>
                <a:srgbClr val="262626"/>
              </a:solidFill>
              <a:latin typeface="Montserrat"/>
            </a:endParaRP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автономность</a:t>
            </a:r>
            <a:r>
              <a:rPr lang="ru-RU" sz="2000" spc="-1" dirty="0">
                <a:solidFill>
                  <a:srgbClr val="262626"/>
                </a:solidFill>
                <a:latin typeface="Montserrat"/>
              </a:rPr>
              <a:t>: агенты, хотя бы частично, </a:t>
            </a:r>
            <a:r>
              <a:rPr lang="ru-RU" sz="2000" spc="-1" dirty="0" smtClean="0">
                <a:solidFill>
                  <a:srgbClr val="262626"/>
                </a:solidFill>
                <a:latin typeface="Montserrat"/>
              </a:rPr>
              <a:t>независимы;</a:t>
            </a:r>
            <a:endParaRPr lang="ru-RU" sz="2000" spc="-1" dirty="0">
              <a:solidFill>
                <a:srgbClr val="262626"/>
              </a:solidFill>
              <a:latin typeface="Montserrat"/>
            </a:endParaRP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ограниченность </a:t>
            </a:r>
            <a:r>
              <a:rPr lang="ru-RU" sz="2000" spc="-1" dirty="0">
                <a:solidFill>
                  <a:srgbClr val="262626"/>
                </a:solidFill>
                <a:latin typeface="Montserrat"/>
              </a:rPr>
              <a:t>представления: ни у одного из агентов нет представления о всей системе, или система слишком сложна, чтобы знание о ней имело практическое применение для </a:t>
            </a:r>
            <a:r>
              <a:rPr lang="ru-RU" sz="2000" spc="-1" dirty="0" smtClean="0">
                <a:solidFill>
                  <a:srgbClr val="262626"/>
                </a:solidFill>
                <a:latin typeface="Montserrat"/>
              </a:rPr>
              <a:t>агента;</a:t>
            </a:r>
            <a:endParaRPr lang="ru-RU" sz="2000" spc="-1" dirty="0">
              <a:solidFill>
                <a:srgbClr val="262626"/>
              </a:solidFill>
              <a:latin typeface="Montserrat"/>
            </a:endParaRP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децентрализация</a:t>
            </a:r>
            <a:r>
              <a:rPr lang="ru-RU" sz="2000" spc="-1" dirty="0">
                <a:solidFill>
                  <a:srgbClr val="262626"/>
                </a:solidFill>
                <a:latin typeface="Montserrat"/>
              </a:rPr>
              <a:t>: нет агентов, управляющих всей </a:t>
            </a:r>
            <a:r>
              <a:rPr lang="ru-RU" sz="2000" spc="-1" dirty="0" smtClean="0">
                <a:solidFill>
                  <a:srgbClr val="262626"/>
                </a:solidFill>
                <a:latin typeface="Montserrat"/>
              </a:rPr>
              <a:t>системой.</a:t>
            </a:r>
            <a:endParaRPr lang="ru-RU" sz="2000" spc="-1" dirty="0">
              <a:solidFill>
                <a:srgbClr val="262626"/>
              </a:solidFill>
              <a:latin typeface="Montserrat"/>
            </a:endParaRPr>
          </a:p>
        </p:txBody>
      </p:sp>
    </p:spTree>
    <p:extLst>
      <p:ext uri="{BB962C8B-B14F-4D97-AF65-F5344CB8AC3E}">
        <p14:creationId xmlns:p14="http://schemas.microsoft.com/office/powerpoint/2010/main" val="2787033022"/>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err="1">
                <a:solidFill>
                  <a:srgbClr val="004892"/>
                </a:solidFill>
                <a:latin typeface="Montserrat"/>
              </a:rPr>
              <a:t>Мультиагентная</a:t>
            </a:r>
            <a:r>
              <a:rPr lang="ru-RU" sz="3600" spc="-1" dirty="0">
                <a:solidFill>
                  <a:srgbClr val="004892"/>
                </a:solidFill>
                <a:latin typeface="Montserrat"/>
              </a:rPr>
              <a:t> система</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Характеристики МАС</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a:solidFill>
                  <a:srgbClr val="262626"/>
                </a:solidFill>
                <a:latin typeface="Montserrat"/>
              </a:rPr>
              <a:t>Обычно в </a:t>
            </a:r>
            <a:r>
              <a:rPr lang="ru-RU" sz="2000" spc="-1" dirty="0" err="1">
                <a:solidFill>
                  <a:srgbClr val="262626"/>
                </a:solidFill>
                <a:latin typeface="Montserrat"/>
              </a:rPr>
              <a:t>многоагентных</a:t>
            </a:r>
            <a:r>
              <a:rPr lang="ru-RU" sz="2000" spc="-1" dirty="0">
                <a:solidFill>
                  <a:srgbClr val="262626"/>
                </a:solidFill>
                <a:latin typeface="Montserrat"/>
              </a:rPr>
              <a:t> системах исследуются </a:t>
            </a:r>
            <a:r>
              <a:rPr lang="ru-RU" sz="2000" i="1" spc="-1" dirty="0">
                <a:solidFill>
                  <a:srgbClr val="262626"/>
                </a:solidFill>
                <a:latin typeface="Montserrat"/>
              </a:rPr>
              <a:t>программные агенты</a:t>
            </a:r>
            <a:r>
              <a:rPr lang="ru-RU" sz="2000" spc="-1" dirty="0">
                <a:solidFill>
                  <a:srgbClr val="262626"/>
                </a:solidFill>
                <a:latin typeface="Montserrat"/>
              </a:rPr>
              <a:t>. Тем не менее, составляющими </a:t>
            </a:r>
            <a:r>
              <a:rPr lang="ru-RU" sz="2000" spc="-1" dirty="0" err="1">
                <a:solidFill>
                  <a:srgbClr val="262626"/>
                </a:solidFill>
                <a:latin typeface="Montserrat"/>
              </a:rPr>
              <a:t>мультиагентной</a:t>
            </a:r>
            <a:r>
              <a:rPr lang="ru-RU" sz="2000" spc="-1" dirty="0">
                <a:solidFill>
                  <a:srgbClr val="262626"/>
                </a:solidFill>
                <a:latin typeface="Montserrat"/>
              </a:rPr>
              <a:t> системы могут также быть роботы, люди или команды людей. Также, </a:t>
            </a:r>
            <a:r>
              <a:rPr lang="ru-RU" sz="2000" spc="-1" dirty="0" err="1">
                <a:solidFill>
                  <a:srgbClr val="262626"/>
                </a:solidFill>
                <a:latin typeface="Montserrat"/>
              </a:rPr>
              <a:t>многоагентные</a:t>
            </a:r>
            <a:r>
              <a:rPr lang="ru-RU" sz="2000" spc="-1" dirty="0">
                <a:solidFill>
                  <a:srgbClr val="262626"/>
                </a:solidFill>
                <a:latin typeface="Montserrat"/>
              </a:rPr>
              <a:t> системы могут содержать и смешанные команды</a:t>
            </a:r>
            <a:r>
              <a:rPr lang="ru-RU" sz="2000" spc="-1" dirty="0" smtClean="0">
                <a:solidFill>
                  <a:srgbClr val="262626"/>
                </a:solidFill>
                <a:latin typeface="Montserrat"/>
              </a:rPr>
              <a:t>.</a:t>
            </a:r>
            <a:endParaRPr lang="ru-RU" sz="2000" spc="-1" dirty="0">
              <a:solidFill>
                <a:srgbClr val="262626"/>
              </a:solidFill>
              <a:latin typeface="Montserrat"/>
            </a:endParaRPr>
          </a:p>
          <a:p>
            <a:pPr algn="just">
              <a:lnSpc>
                <a:spcPct val="100000"/>
              </a:lnSpc>
            </a:pPr>
            <a:r>
              <a:rPr lang="ru-RU" sz="2000" spc="-1" dirty="0">
                <a:solidFill>
                  <a:srgbClr val="262626"/>
                </a:solidFill>
                <a:latin typeface="Montserrat"/>
              </a:rPr>
              <a:t>В </a:t>
            </a:r>
            <a:r>
              <a:rPr lang="ru-RU" sz="2000" spc="-1" dirty="0" err="1">
                <a:solidFill>
                  <a:srgbClr val="262626"/>
                </a:solidFill>
                <a:latin typeface="Montserrat"/>
              </a:rPr>
              <a:t>многоагентных</a:t>
            </a:r>
            <a:r>
              <a:rPr lang="ru-RU" sz="2000" spc="-1" dirty="0">
                <a:solidFill>
                  <a:srgbClr val="262626"/>
                </a:solidFill>
                <a:latin typeface="Montserrat"/>
              </a:rPr>
              <a:t> системах может проявляться самоорганизация и сложное поведение даже если стратегия поведения каждого агента достаточно проста. Это лежит в основе так называемого </a:t>
            </a:r>
            <a:r>
              <a:rPr lang="ru-RU" sz="2000" i="1" spc="-1" dirty="0">
                <a:solidFill>
                  <a:srgbClr val="262626"/>
                </a:solidFill>
                <a:latin typeface="Montserrat"/>
              </a:rPr>
              <a:t>роевого интеллекта</a:t>
            </a:r>
            <a:r>
              <a:rPr lang="ru-RU" sz="2000" spc="-1" dirty="0">
                <a:solidFill>
                  <a:srgbClr val="262626"/>
                </a:solidFill>
                <a:latin typeface="Montserrat"/>
              </a:rPr>
              <a:t>.</a:t>
            </a:r>
          </a:p>
          <a:p>
            <a:pPr algn="just">
              <a:lnSpc>
                <a:spcPct val="100000"/>
              </a:lnSpc>
            </a:pPr>
            <a:r>
              <a:rPr lang="ru-RU" sz="2000" spc="-1" dirty="0" smtClean="0">
                <a:solidFill>
                  <a:srgbClr val="262626"/>
                </a:solidFill>
                <a:latin typeface="Montserrat"/>
              </a:rPr>
              <a:t>Агенты </a:t>
            </a:r>
            <a:r>
              <a:rPr lang="ru-RU" sz="2000" spc="-1" dirty="0">
                <a:solidFill>
                  <a:srgbClr val="262626"/>
                </a:solidFill>
                <a:latin typeface="Montserrat"/>
              </a:rPr>
              <a:t>могут обмениваться полученными знаниями, используя некоторый специальный язык и подчиняясь установленным правилам «общения» (протоколам) в системе. Примерами таких языков являются </a:t>
            </a:r>
            <a:r>
              <a:rPr lang="ru-RU" sz="2000" spc="-1" dirty="0" err="1">
                <a:solidFill>
                  <a:srgbClr val="262626"/>
                </a:solidFill>
                <a:latin typeface="Montserrat"/>
              </a:rPr>
              <a:t>Knowledge</a:t>
            </a:r>
            <a:r>
              <a:rPr lang="ru-RU" sz="2000" spc="-1" dirty="0">
                <a:solidFill>
                  <a:srgbClr val="262626"/>
                </a:solidFill>
                <a:latin typeface="Montserrat"/>
              </a:rPr>
              <a:t> </a:t>
            </a:r>
            <a:r>
              <a:rPr lang="ru-RU" sz="2000" spc="-1" dirty="0" err="1">
                <a:solidFill>
                  <a:srgbClr val="262626"/>
                </a:solidFill>
                <a:latin typeface="Montserrat"/>
              </a:rPr>
              <a:t>Query</a:t>
            </a:r>
            <a:r>
              <a:rPr lang="ru-RU" sz="2000" spc="-1" dirty="0">
                <a:solidFill>
                  <a:srgbClr val="262626"/>
                </a:solidFill>
                <a:latin typeface="Montserrat"/>
              </a:rPr>
              <a:t> </a:t>
            </a:r>
            <a:r>
              <a:rPr lang="ru-RU" sz="2000" spc="-1" dirty="0" err="1">
                <a:solidFill>
                  <a:srgbClr val="262626"/>
                </a:solidFill>
                <a:latin typeface="Montserrat"/>
              </a:rPr>
              <a:t>Manipulation</a:t>
            </a:r>
            <a:r>
              <a:rPr lang="ru-RU" sz="2000" spc="-1" dirty="0">
                <a:solidFill>
                  <a:srgbClr val="262626"/>
                </a:solidFill>
                <a:latin typeface="Montserrat"/>
              </a:rPr>
              <a:t> </a:t>
            </a:r>
            <a:r>
              <a:rPr lang="ru-RU" sz="2000" spc="-1" dirty="0" err="1">
                <a:solidFill>
                  <a:srgbClr val="262626"/>
                </a:solidFill>
                <a:latin typeface="Montserrat"/>
              </a:rPr>
              <a:t>Language</a:t>
            </a:r>
            <a:r>
              <a:rPr lang="ru-RU" sz="2000" spc="-1" dirty="0">
                <a:solidFill>
                  <a:srgbClr val="262626"/>
                </a:solidFill>
                <a:latin typeface="Montserrat"/>
              </a:rPr>
              <a:t> (KQML) и </a:t>
            </a:r>
            <a:r>
              <a:rPr lang="ru-RU" sz="2000" spc="-1" dirty="0" err="1">
                <a:solidFill>
                  <a:srgbClr val="262626"/>
                </a:solidFill>
                <a:latin typeface="Montserrat"/>
              </a:rPr>
              <a:t>FIPA’s</a:t>
            </a:r>
            <a:r>
              <a:rPr lang="ru-RU" sz="2000" spc="-1" dirty="0">
                <a:solidFill>
                  <a:srgbClr val="262626"/>
                </a:solidFill>
                <a:latin typeface="Montserrat"/>
              </a:rPr>
              <a:t> </a:t>
            </a:r>
            <a:r>
              <a:rPr lang="ru-RU" sz="2000" spc="-1" dirty="0" err="1">
                <a:solidFill>
                  <a:srgbClr val="262626"/>
                </a:solidFill>
                <a:latin typeface="Montserrat"/>
              </a:rPr>
              <a:t>Agent</a:t>
            </a:r>
            <a:r>
              <a:rPr lang="ru-RU" sz="2000" spc="-1" dirty="0">
                <a:solidFill>
                  <a:srgbClr val="262626"/>
                </a:solidFill>
                <a:latin typeface="Montserrat"/>
              </a:rPr>
              <a:t> </a:t>
            </a:r>
            <a:r>
              <a:rPr lang="ru-RU" sz="2000" spc="-1" dirty="0" err="1">
                <a:solidFill>
                  <a:srgbClr val="262626"/>
                </a:solidFill>
                <a:latin typeface="Montserrat"/>
              </a:rPr>
              <a:t>Communication</a:t>
            </a:r>
            <a:r>
              <a:rPr lang="ru-RU" sz="2000" spc="-1" dirty="0">
                <a:solidFill>
                  <a:srgbClr val="262626"/>
                </a:solidFill>
                <a:latin typeface="Montserrat"/>
              </a:rPr>
              <a:t> </a:t>
            </a:r>
            <a:r>
              <a:rPr lang="ru-RU" sz="2000" spc="-1" dirty="0" err="1">
                <a:solidFill>
                  <a:srgbClr val="262626"/>
                </a:solidFill>
                <a:latin typeface="Montserrat"/>
              </a:rPr>
              <a:t>Language</a:t>
            </a:r>
            <a:r>
              <a:rPr lang="ru-RU" sz="2000" spc="-1" dirty="0">
                <a:solidFill>
                  <a:srgbClr val="262626"/>
                </a:solidFill>
                <a:latin typeface="Montserrat"/>
              </a:rPr>
              <a:t> (ACL).</a:t>
            </a:r>
          </a:p>
        </p:txBody>
      </p:sp>
    </p:spTree>
    <p:extLst>
      <p:ext uri="{BB962C8B-B14F-4D97-AF65-F5344CB8AC3E}">
        <p14:creationId xmlns:p14="http://schemas.microsoft.com/office/powerpoint/2010/main" val="2565288234"/>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err="1">
                <a:solidFill>
                  <a:srgbClr val="004892"/>
                </a:solidFill>
                <a:latin typeface="Montserrat"/>
              </a:rPr>
              <a:t>Мультиагентная</a:t>
            </a:r>
            <a:r>
              <a:rPr lang="ru-RU" sz="3600" spc="-1" dirty="0">
                <a:solidFill>
                  <a:srgbClr val="004892"/>
                </a:solidFill>
                <a:latin typeface="Montserrat"/>
              </a:rPr>
              <a:t> система</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Характеристики МАС</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a:solidFill>
                  <a:srgbClr val="262626"/>
                </a:solidFill>
                <a:latin typeface="Montserrat"/>
              </a:rPr>
              <a:t>МАС также относятся к самоорганизующимся системам, так как в них ищется оптимальное решение задачи без внешнего вмешательства. Под оптимальным решением понимается решение, на которое потрачено наименьшее количество энергии в условиях ограниченных ресурсов.</a:t>
            </a:r>
          </a:p>
          <a:p>
            <a:pPr algn="just">
              <a:lnSpc>
                <a:spcPct val="100000"/>
              </a:lnSpc>
            </a:pPr>
            <a:r>
              <a:rPr lang="ru-RU" sz="2000" spc="-1" dirty="0" smtClean="0">
                <a:solidFill>
                  <a:srgbClr val="262626"/>
                </a:solidFill>
                <a:latin typeface="Montserrat"/>
              </a:rPr>
              <a:t>Главное </a:t>
            </a:r>
            <a:r>
              <a:rPr lang="ru-RU" sz="2000" spc="-1" dirty="0">
                <a:solidFill>
                  <a:srgbClr val="262626"/>
                </a:solidFill>
                <a:latin typeface="Montserrat"/>
              </a:rPr>
              <a:t>достоинство МАС –</a:t>
            </a:r>
            <a:r>
              <a:rPr lang="ru-RU" sz="2000" spc="-1" dirty="0" smtClean="0">
                <a:solidFill>
                  <a:srgbClr val="262626"/>
                </a:solidFill>
                <a:latin typeface="Montserrat"/>
              </a:rPr>
              <a:t> </a:t>
            </a:r>
            <a:r>
              <a:rPr lang="ru-RU" sz="2000" spc="-1" dirty="0">
                <a:solidFill>
                  <a:srgbClr val="262626"/>
                </a:solidFill>
                <a:latin typeface="Montserrat"/>
              </a:rPr>
              <a:t>это гибкость. </a:t>
            </a:r>
            <a:r>
              <a:rPr lang="ru-RU" sz="2000" spc="-1" dirty="0" err="1">
                <a:solidFill>
                  <a:srgbClr val="262626"/>
                </a:solidFill>
                <a:latin typeface="Montserrat"/>
              </a:rPr>
              <a:t>Многоагентная</a:t>
            </a:r>
            <a:r>
              <a:rPr lang="ru-RU" sz="2000" spc="-1" dirty="0">
                <a:solidFill>
                  <a:srgbClr val="262626"/>
                </a:solidFill>
                <a:latin typeface="Montserrat"/>
              </a:rPr>
              <a:t> система может быть дополнена и модифицирована без переписывания значительной части программы. Также эти системы обладают способностью к самовосстановлению и обладают устойчивостью к сбоям, благодаря достаточному запасу компонентов и самоорганизации.</a:t>
            </a:r>
          </a:p>
        </p:txBody>
      </p:sp>
    </p:spTree>
    <p:extLst>
      <p:ext uri="{BB962C8B-B14F-4D97-AF65-F5344CB8AC3E}">
        <p14:creationId xmlns:p14="http://schemas.microsoft.com/office/powerpoint/2010/main" val="2812332527"/>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err="1">
                <a:solidFill>
                  <a:srgbClr val="004892"/>
                </a:solidFill>
                <a:latin typeface="Montserrat"/>
              </a:rPr>
              <a:t>Мультиагентная</a:t>
            </a:r>
            <a:r>
              <a:rPr lang="ru-RU" sz="3600" spc="-1" dirty="0">
                <a:solidFill>
                  <a:srgbClr val="004892"/>
                </a:solidFill>
                <a:latin typeface="Montserrat"/>
              </a:rPr>
              <a:t> система</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Характеристики МАС</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err="1">
                <a:solidFill>
                  <a:srgbClr val="262626"/>
                </a:solidFill>
                <a:latin typeface="Montserrat"/>
              </a:rPr>
              <a:t>Многоагентные</a:t>
            </a:r>
            <a:r>
              <a:rPr lang="ru-RU" sz="2000" spc="-1" dirty="0">
                <a:solidFill>
                  <a:srgbClr val="262626"/>
                </a:solidFill>
                <a:latin typeface="Montserrat"/>
              </a:rPr>
              <a:t> системы применяются в нашей жизни в графических приложениях, например, в компьютерных играх. </a:t>
            </a:r>
            <a:r>
              <a:rPr lang="ru-RU" sz="2000" spc="-1" dirty="0" err="1">
                <a:solidFill>
                  <a:srgbClr val="262626"/>
                </a:solidFill>
                <a:latin typeface="Montserrat"/>
              </a:rPr>
              <a:t>Агентные</a:t>
            </a:r>
            <a:r>
              <a:rPr lang="ru-RU" sz="2000" spc="-1" dirty="0">
                <a:solidFill>
                  <a:srgbClr val="262626"/>
                </a:solidFill>
                <a:latin typeface="Montserrat"/>
              </a:rPr>
              <a:t> системы также были использованы в </a:t>
            </a:r>
            <a:r>
              <a:rPr lang="ru-RU" sz="2000" spc="-1" dirty="0" smtClean="0">
                <a:solidFill>
                  <a:srgbClr val="262626"/>
                </a:solidFill>
                <a:latin typeface="Montserrat"/>
              </a:rPr>
              <a:t>фильмах. </a:t>
            </a:r>
            <a:r>
              <a:rPr lang="ru-RU" sz="2000" spc="-1" dirty="0">
                <a:solidFill>
                  <a:srgbClr val="262626"/>
                </a:solidFill>
                <a:latin typeface="Montserrat"/>
              </a:rPr>
              <a:t>Теория МАС используется в составных системах обороны. Также МАС применяются в транспорте, логистике, графике, геоинформационных системах, робототехнике и многих других. </a:t>
            </a:r>
            <a:r>
              <a:rPr lang="ru-RU" sz="2000" spc="-1" dirty="0" err="1">
                <a:solidFill>
                  <a:srgbClr val="262626"/>
                </a:solidFill>
                <a:latin typeface="Montserrat"/>
              </a:rPr>
              <a:t>Многоагентные</a:t>
            </a:r>
            <a:r>
              <a:rPr lang="ru-RU" sz="2000" spc="-1" dirty="0">
                <a:solidFill>
                  <a:srgbClr val="262626"/>
                </a:solidFill>
                <a:latin typeface="Montserrat"/>
              </a:rPr>
              <a:t> системы хорошо зарекомендовали себя в сфере сетевых и мобильных технологий, для обеспечения автоматического и динамического баланса </a:t>
            </a:r>
            <a:r>
              <a:rPr lang="ru-RU" sz="2000" spc="-1" dirty="0" err="1">
                <a:solidFill>
                  <a:srgbClr val="262626"/>
                </a:solidFill>
                <a:latin typeface="Montserrat"/>
              </a:rPr>
              <a:t>нагруженности</a:t>
            </a:r>
            <a:r>
              <a:rPr lang="ru-RU" sz="2000" spc="-1" dirty="0">
                <a:solidFill>
                  <a:srgbClr val="262626"/>
                </a:solidFill>
                <a:latin typeface="Montserrat"/>
              </a:rPr>
              <a:t>, расширяемости и способности к самовосстановлению.</a:t>
            </a:r>
          </a:p>
        </p:txBody>
      </p:sp>
    </p:spTree>
    <p:extLst>
      <p:ext uri="{BB962C8B-B14F-4D97-AF65-F5344CB8AC3E}">
        <p14:creationId xmlns:p14="http://schemas.microsoft.com/office/powerpoint/2010/main" val="4190125230"/>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err="1">
                <a:solidFill>
                  <a:srgbClr val="004892"/>
                </a:solidFill>
                <a:latin typeface="Montserrat"/>
              </a:rPr>
              <a:t>Мультиагентная</a:t>
            </a:r>
            <a:r>
              <a:rPr lang="ru-RU" sz="3600" spc="-1" dirty="0">
                <a:solidFill>
                  <a:srgbClr val="004892"/>
                </a:solidFill>
                <a:latin typeface="Montserrat"/>
              </a:rPr>
              <a:t> система</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Программный агент</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a:solidFill>
                  <a:srgbClr val="262626"/>
                </a:solidFill>
                <a:latin typeface="Montserrat"/>
              </a:rPr>
              <a:t>В компьютерных науках </a:t>
            </a:r>
            <a:r>
              <a:rPr lang="ru-RU" sz="2000" spc="-1" dirty="0" smtClean="0">
                <a:solidFill>
                  <a:srgbClr val="262626"/>
                </a:solidFill>
                <a:latin typeface="Montserrat"/>
              </a:rPr>
              <a:t>программный агент </a:t>
            </a:r>
            <a:r>
              <a:rPr lang="ru-RU" sz="2000" spc="-1" dirty="0">
                <a:solidFill>
                  <a:srgbClr val="262626"/>
                </a:solidFill>
                <a:latin typeface="Montserrat"/>
              </a:rPr>
              <a:t>–</a:t>
            </a:r>
            <a:r>
              <a:rPr lang="ru-RU" sz="2000" spc="-1" dirty="0" smtClean="0">
                <a:solidFill>
                  <a:srgbClr val="262626"/>
                </a:solidFill>
                <a:latin typeface="Montserrat"/>
              </a:rPr>
              <a:t> </a:t>
            </a:r>
            <a:r>
              <a:rPr lang="ru-RU" sz="2000" spc="-1" dirty="0">
                <a:solidFill>
                  <a:srgbClr val="262626"/>
                </a:solidFill>
                <a:latin typeface="Montserrat"/>
              </a:rPr>
              <a:t>это программа, которая вступает в отношение посредничества с пользователем или другой программой. </a:t>
            </a:r>
            <a:endParaRPr lang="ru-RU" sz="2000" spc="-1" dirty="0" smtClean="0">
              <a:solidFill>
                <a:srgbClr val="262626"/>
              </a:solidFill>
              <a:latin typeface="Montserrat"/>
            </a:endParaRPr>
          </a:p>
          <a:p>
            <a:pPr algn="just">
              <a:lnSpc>
                <a:spcPct val="100000"/>
              </a:lnSpc>
            </a:pPr>
            <a:r>
              <a:rPr lang="ru-RU" sz="2000" spc="-1" dirty="0" smtClean="0">
                <a:solidFill>
                  <a:srgbClr val="262626"/>
                </a:solidFill>
                <a:latin typeface="Montserrat"/>
              </a:rPr>
              <a:t>Родственные </a:t>
            </a:r>
            <a:r>
              <a:rPr lang="ru-RU" sz="2000" spc="-1" dirty="0">
                <a:solidFill>
                  <a:srgbClr val="262626"/>
                </a:solidFill>
                <a:latin typeface="Montserrat"/>
              </a:rPr>
              <a:t>и производные понятия включают </a:t>
            </a:r>
            <a:r>
              <a:rPr lang="ru-RU" sz="2000" i="1" spc="-1" dirty="0">
                <a:solidFill>
                  <a:srgbClr val="262626"/>
                </a:solidFill>
                <a:latin typeface="Montserrat"/>
              </a:rPr>
              <a:t>интеллектуальных агентов </a:t>
            </a:r>
            <a:r>
              <a:rPr lang="ru-RU" sz="2000" spc="-1" dirty="0">
                <a:solidFill>
                  <a:srgbClr val="262626"/>
                </a:solidFill>
                <a:latin typeface="Montserrat"/>
              </a:rPr>
              <a:t>(в частности, обладающих некоторыми аспектами искусственного интеллекта, такими как обучение и рассуждения), </a:t>
            </a:r>
            <a:r>
              <a:rPr lang="ru-RU" sz="2000" i="1" spc="-1" dirty="0">
                <a:solidFill>
                  <a:srgbClr val="262626"/>
                </a:solidFill>
                <a:latin typeface="Montserrat"/>
              </a:rPr>
              <a:t>автономных агентов </a:t>
            </a:r>
            <a:r>
              <a:rPr lang="ru-RU" sz="2000" spc="-1" dirty="0">
                <a:solidFill>
                  <a:srgbClr val="262626"/>
                </a:solidFill>
                <a:latin typeface="Montserrat"/>
              </a:rPr>
              <a:t>(способных изменять способ достижения своих целей), </a:t>
            </a:r>
            <a:r>
              <a:rPr lang="ru-RU" sz="2000" i="1" spc="-1" dirty="0" smtClean="0">
                <a:solidFill>
                  <a:srgbClr val="262626"/>
                </a:solidFill>
                <a:latin typeface="Montserrat"/>
              </a:rPr>
              <a:t>распределенных </a:t>
            </a:r>
            <a:r>
              <a:rPr lang="ru-RU" sz="2000" i="1" spc="-1" dirty="0">
                <a:solidFill>
                  <a:srgbClr val="262626"/>
                </a:solidFill>
                <a:latin typeface="Montserrat"/>
              </a:rPr>
              <a:t>агентов </a:t>
            </a:r>
            <a:r>
              <a:rPr lang="ru-RU" sz="2000" spc="-1" dirty="0">
                <a:solidFill>
                  <a:srgbClr val="262626"/>
                </a:solidFill>
                <a:latin typeface="Montserrat"/>
              </a:rPr>
              <a:t>(выполняющих действия на физически различных компьютерах), </a:t>
            </a:r>
            <a:r>
              <a:rPr lang="ru-RU" sz="2000" i="1" spc="-1" dirty="0" err="1">
                <a:solidFill>
                  <a:srgbClr val="262626"/>
                </a:solidFill>
                <a:latin typeface="Montserrat"/>
              </a:rPr>
              <a:t>многоагентные</a:t>
            </a:r>
            <a:r>
              <a:rPr lang="ru-RU" sz="2000" i="1" spc="-1" dirty="0">
                <a:solidFill>
                  <a:srgbClr val="262626"/>
                </a:solidFill>
                <a:latin typeface="Montserrat"/>
              </a:rPr>
              <a:t> системы </a:t>
            </a:r>
            <a:r>
              <a:rPr lang="ru-RU" sz="2000" spc="-1" dirty="0">
                <a:solidFill>
                  <a:srgbClr val="262626"/>
                </a:solidFill>
                <a:latin typeface="Montserrat"/>
              </a:rPr>
              <a:t>(</a:t>
            </a:r>
            <a:r>
              <a:rPr lang="ru-RU" sz="2000" spc="-1" dirty="0" smtClean="0">
                <a:solidFill>
                  <a:srgbClr val="262626"/>
                </a:solidFill>
                <a:latin typeface="Montserrat"/>
              </a:rPr>
              <a:t>распределенные </a:t>
            </a:r>
            <a:r>
              <a:rPr lang="ru-RU" sz="2000" spc="-1" dirty="0">
                <a:solidFill>
                  <a:srgbClr val="262626"/>
                </a:solidFill>
                <a:latin typeface="Montserrat"/>
              </a:rPr>
              <a:t>агенты, которые не имеют возможности достижения цели в одиночку и, следовательно, должны общаться), и </a:t>
            </a:r>
            <a:r>
              <a:rPr lang="ru-RU" sz="2000" i="1" spc="-1" dirty="0">
                <a:solidFill>
                  <a:srgbClr val="262626"/>
                </a:solidFill>
                <a:latin typeface="Montserrat"/>
              </a:rPr>
              <a:t>мобильных агентов </a:t>
            </a:r>
            <a:r>
              <a:rPr lang="ru-RU" sz="2000" spc="-1" dirty="0">
                <a:solidFill>
                  <a:srgbClr val="262626"/>
                </a:solidFill>
                <a:latin typeface="Montserrat"/>
              </a:rPr>
              <a:t>(агентов, которые могут переместить </a:t>
            </a:r>
            <a:r>
              <a:rPr lang="ru-RU" sz="2000" spc="-1" dirty="0" smtClean="0">
                <a:solidFill>
                  <a:srgbClr val="262626"/>
                </a:solidFill>
                <a:latin typeface="Montserrat"/>
              </a:rPr>
              <a:t>свое </a:t>
            </a:r>
            <a:r>
              <a:rPr lang="ru-RU" sz="2000" spc="-1" dirty="0">
                <a:solidFill>
                  <a:srgbClr val="262626"/>
                </a:solidFill>
                <a:latin typeface="Montserrat"/>
              </a:rPr>
              <a:t>выполнения на другие процессоры).</a:t>
            </a:r>
          </a:p>
        </p:txBody>
      </p:sp>
    </p:spTree>
    <p:extLst>
      <p:ext uri="{BB962C8B-B14F-4D97-AF65-F5344CB8AC3E}">
        <p14:creationId xmlns:p14="http://schemas.microsoft.com/office/powerpoint/2010/main" val="3224408513"/>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err="1">
                <a:solidFill>
                  <a:srgbClr val="004892"/>
                </a:solidFill>
                <a:latin typeface="Montserrat"/>
              </a:rPr>
              <a:t>Мультиагентная</a:t>
            </a:r>
            <a:r>
              <a:rPr lang="ru-RU" sz="3600" spc="-1" dirty="0">
                <a:solidFill>
                  <a:srgbClr val="004892"/>
                </a:solidFill>
                <a:latin typeface="Montserrat"/>
              </a:rPr>
              <a:t> система</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Программный агент</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a:solidFill>
                  <a:srgbClr val="262626"/>
                </a:solidFill>
                <a:latin typeface="Montserrat"/>
              </a:rPr>
              <a:t>Термин «агент» описывает программную абстракцию, идею или концепцию, подобно таким терминам ООП, как метод, функция или объект. Концепция агента обеспечивает удобный и мощный способ описания сложной программной сущности, которая способна действовать с </a:t>
            </a:r>
            <a:r>
              <a:rPr lang="ru-RU" sz="2000" spc="-1" dirty="0" smtClean="0">
                <a:solidFill>
                  <a:srgbClr val="262626"/>
                </a:solidFill>
                <a:latin typeface="Montserrat"/>
              </a:rPr>
              <a:t>определенной </a:t>
            </a:r>
            <a:r>
              <a:rPr lang="ru-RU" sz="2000" spc="-1" dirty="0">
                <a:solidFill>
                  <a:srgbClr val="262626"/>
                </a:solidFill>
                <a:latin typeface="Montserrat"/>
              </a:rPr>
              <a:t>степенью автономности с целью выполнения задач от имени пользователя. Но в отличие от объектов, которые определяются в терминах методов и атрибутов, агент определяется посредством описания его </a:t>
            </a:r>
            <a:r>
              <a:rPr lang="ru-RU" sz="2000" spc="-1" dirty="0" smtClean="0">
                <a:solidFill>
                  <a:srgbClr val="262626"/>
                </a:solidFill>
                <a:latin typeface="Montserrat"/>
              </a:rPr>
              <a:t>поведения.</a:t>
            </a:r>
            <a:endParaRPr lang="ru-RU" sz="2000" spc="-1" dirty="0">
              <a:solidFill>
                <a:srgbClr val="262626"/>
              </a:solidFill>
              <a:latin typeface="Montserrat"/>
            </a:endParaRPr>
          </a:p>
        </p:txBody>
      </p:sp>
    </p:spTree>
    <p:extLst>
      <p:ext uri="{BB962C8B-B14F-4D97-AF65-F5344CB8AC3E}">
        <p14:creationId xmlns:p14="http://schemas.microsoft.com/office/powerpoint/2010/main" val="3976043631"/>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err="1">
                <a:solidFill>
                  <a:srgbClr val="004892"/>
                </a:solidFill>
                <a:latin typeface="Montserrat"/>
              </a:rPr>
              <a:t>Мультиагентная</a:t>
            </a:r>
            <a:r>
              <a:rPr lang="ru-RU" sz="3600" spc="-1" dirty="0">
                <a:solidFill>
                  <a:srgbClr val="004892"/>
                </a:solidFill>
                <a:latin typeface="Montserrat"/>
              </a:rPr>
              <a:t> система</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Виды агентов</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smtClean="0">
                <a:solidFill>
                  <a:srgbClr val="262626"/>
                </a:solidFill>
                <a:latin typeface="Montserrat"/>
              </a:rPr>
              <a:t>Выделяют четыре </a:t>
            </a:r>
            <a:r>
              <a:rPr lang="ru-RU" sz="2000" spc="-1" dirty="0">
                <a:solidFill>
                  <a:srgbClr val="262626"/>
                </a:solidFill>
                <a:latin typeface="Montserrat"/>
              </a:rPr>
              <a:t>основных типа интеллектуальных программных агентов:</a:t>
            </a: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агенты-покупатели </a:t>
            </a:r>
            <a:r>
              <a:rPr lang="ru-RU" sz="2000" spc="-1" dirty="0">
                <a:solidFill>
                  <a:srgbClr val="262626"/>
                </a:solidFill>
                <a:latin typeface="Montserrat"/>
              </a:rPr>
              <a:t>или торговые </a:t>
            </a:r>
            <a:r>
              <a:rPr lang="ru-RU" sz="2000" spc="-1" dirty="0" smtClean="0">
                <a:solidFill>
                  <a:srgbClr val="262626"/>
                </a:solidFill>
                <a:latin typeface="Montserrat"/>
              </a:rPr>
              <a:t>боты;</a:t>
            </a:r>
            <a:endParaRPr lang="ru-RU" sz="2000" spc="-1" dirty="0">
              <a:solidFill>
                <a:srgbClr val="262626"/>
              </a:solidFill>
              <a:latin typeface="Montserrat"/>
            </a:endParaRP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пользовательские </a:t>
            </a:r>
            <a:r>
              <a:rPr lang="ru-RU" sz="2000" spc="-1" dirty="0">
                <a:solidFill>
                  <a:srgbClr val="262626"/>
                </a:solidFill>
                <a:latin typeface="Montserrat"/>
              </a:rPr>
              <a:t>или персональные </a:t>
            </a:r>
            <a:r>
              <a:rPr lang="ru-RU" sz="2000" spc="-1" dirty="0" smtClean="0">
                <a:solidFill>
                  <a:srgbClr val="262626"/>
                </a:solidFill>
                <a:latin typeface="Montserrat"/>
              </a:rPr>
              <a:t>агенты;</a:t>
            </a:r>
            <a:endParaRPr lang="ru-RU" sz="2000" spc="-1" dirty="0">
              <a:solidFill>
                <a:srgbClr val="262626"/>
              </a:solidFill>
              <a:latin typeface="Montserrat"/>
            </a:endParaRP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агенты </a:t>
            </a:r>
            <a:r>
              <a:rPr lang="ru-RU" sz="2000" spc="-1" dirty="0">
                <a:solidFill>
                  <a:srgbClr val="262626"/>
                </a:solidFill>
                <a:latin typeface="Montserrat"/>
              </a:rPr>
              <a:t>по мониторингу и </a:t>
            </a:r>
            <a:r>
              <a:rPr lang="ru-RU" sz="2000" spc="-1" dirty="0" smtClean="0">
                <a:solidFill>
                  <a:srgbClr val="262626"/>
                </a:solidFill>
                <a:latin typeface="Montserrat"/>
              </a:rPr>
              <a:t>наблюдению;</a:t>
            </a:r>
            <a:endParaRPr lang="ru-RU" sz="2000" spc="-1" dirty="0">
              <a:solidFill>
                <a:srgbClr val="262626"/>
              </a:solidFill>
              <a:latin typeface="Montserrat"/>
            </a:endParaRP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агенты </a:t>
            </a:r>
            <a:r>
              <a:rPr lang="ru-RU" sz="2000" spc="-1" dirty="0">
                <a:solidFill>
                  <a:srgbClr val="262626"/>
                </a:solidFill>
                <a:latin typeface="Montserrat"/>
              </a:rPr>
              <a:t>по добыче и анализу </a:t>
            </a:r>
            <a:r>
              <a:rPr lang="ru-RU" sz="2000" spc="-1" dirty="0" smtClean="0">
                <a:solidFill>
                  <a:srgbClr val="262626"/>
                </a:solidFill>
                <a:latin typeface="Montserrat"/>
              </a:rPr>
              <a:t>данных.</a:t>
            </a:r>
            <a:endParaRPr lang="ru-RU" sz="2000" spc="-1" dirty="0">
              <a:solidFill>
                <a:srgbClr val="262626"/>
              </a:solidFill>
              <a:latin typeface="Montserrat"/>
            </a:endParaRPr>
          </a:p>
        </p:txBody>
      </p:sp>
    </p:spTree>
    <p:extLst>
      <p:ext uri="{BB962C8B-B14F-4D97-AF65-F5344CB8AC3E}">
        <p14:creationId xmlns:p14="http://schemas.microsoft.com/office/powerpoint/2010/main" val="2683753352"/>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err="1">
                <a:solidFill>
                  <a:srgbClr val="004892"/>
                </a:solidFill>
                <a:latin typeface="Montserrat"/>
              </a:rPr>
              <a:t>Мультиагентная</a:t>
            </a:r>
            <a:r>
              <a:rPr lang="ru-RU" sz="3600" spc="-1" dirty="0">
                <a:solidFill>
                  <a:srgbClr val="004892"/>
                </a:solidFill>
                <a:latin typeface="Montserrat"/>
              </a:rPr>
              <a:t> система</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a:solidFill>
                  <a:srgbClr val="004892"/>
                </a:solidFill>
                <a:latin typeface="Montserrat Bold"/>
              </a:rPr>
              <a:t>А</a:t>
            </a:r>
            <a:r>
              <a:rPr lang="ru-RU" sz="2000" spc="-1" dirty="0" smtClean="0">
                <a:solidFill>
                  <a:srgbClr val="004892"/>
                </a:solidFill>
                <a:latin typeface="Montserrat Bold"/>
              </a:rPr>
              <a:t>генты-покупатели</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a:solidFill>
                  <a:srgbClr val="262626"/>
                </a:solidFill>
                <a:latin typeface="Montserrat"/>
              </a:rPr>
              <a:t>Агенты-покупатели просматривают сетевые ресурсы (например, интернет) с целью </a:t>
            </a:r>
            <a:r>
              <a:rPr lang="ru-RU" sz="2000" b="1" spc="-1" dirty="0">
                <a:solidFill>
                  <a:srgbClr val="262626"/>
                </a:solidFill>
                <a:latin typeface="Montserrat"/>
              </a:rPr>
              <a:t>получения информации </a:t>
            </a:r>
            <a:r>
              <a:rPr lang="ru-RU" sz="2000" spc="-1" dirty="0">
                <a:solidFill>
                  <a:srgbClr val="262626"/>
                </a:solidFill>
                <a:latin typeface="Montserrat"/>
              </a:rPr>
              <a:t>о товарах и услугах. Эти агенты, известные также как «роботы по закупкам», очень эффективно работают с товарами народного потребления, такими как компакт-диски, книги, электронные компоненты и другие продукты «на все случаи жизни».</a:t>
            </a:r>
          </a:p>
        </p:txBody>
      </p:sp>
    </p:spTree>
    <p:extLst>
      <p:ext uri="{BB962C8B-B14F-4D97-AF65-F5344CB8AC3E}">
        <p14:creationId xmlns:p14="http://schemas.microsoft.com/office/powerpoint/2010/main" val="1359244190"/>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err="1">
                <a:solidFill>
                  <a:srgbClr val="004892"/>
                </a:solidFill>
                <a:latin typeface="Montserrat"/>
              </a:rPr>
              <a:t>Мультиагентная</a:t>
            </a:r>
            <a:r>
              <a:rPr lang="ru-RU" sz="3600" spc="-1" dirty="0">
                <a:solidFill>
                  <a:srgbClr val="004892"/>
                </a:solidFill>
                <a:latin typeface="Montserrat"/>
              </a:rPr>
              <a:t> система</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a:solidFill>
                  <a:srgbClr val="004892"/>
                </a:solidFill>
                <a:latin typeface="Montserrat Bold"/>
              </a:rPr>
              <a:t>Пользовательские агенты</a:t>
            </a: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a:solidFill>
                  <a:srgbClr val="262626"/>
                </a:solidFill>
                <a:latin typeface="Montserrat"/>
              </a:rPr>
              <a:t>Пользовательские </a:t>
            </a:r>
            <a:r>
              <a:rPr lang="ru-RU" sz="2000" spc="-1" dirty="0" smtClean="0">
                <a:solidFill>
                  <a:srgbClr val="262626"/>
                </a:solidFill>
                <a:latin typeface="Montserrat"/>
              </a:rPr>
              <a:t>агенты </a:t>
            </a:r>
            <a:r>
              <a:rPr lang="ru-RU" sz="2000" spc="-1" dirty="0">
                <a:solidFill>
                  <a:srgbClr val="262626"/>
                </a:solidFill>
                <a:latin typeface="Montserrat"/>
              </a:rPr>
              <a:t>–</a:t>
            </a:r>
            <a:r>
              <a:rPr lang="ru-RU" sz="2000" spc="-1" dirty="0" smtClean="0">
                <a:solidFill>
                  <a:srgbClr val="262626"/>
                </a:solidFill>
                <a:latin typeface="Montserrat"/>
              </a:rPr>
              <a:t> </a:t>
            </a:r>
            <a:r>
              <a:rPr lang="ru-RU" sz="2000" spc="-1" dirty="0">
                <a:solidFill>
                  <a:srgbClr val="262626"/>
                </a:solidFill>
                <a:latin typeface="Montserrat"/>
              </a:rPr>
              <a:t>это интеллектуальные агенты, которые действуют от вашего имени. К этой категории относятся интеллектуальные агенты, которые уже выполняют или будут выполнять следующие задачи</a:t>
            </a:r>
            <a:r>
              <a:rPr lang="ru-RU" sz="2000" spc="-1" dirty="0" smtClean="0">
                <a:solidFill>
                  <a:srgbClr val="262626"/>
                </a:solidFill>
                <a:latin typeface="Montserrat"/>
              </a:rPr>
              <a:t>:</a:t>
            </a:r>
            <a:endParaRPr lang="ru-RU" sz="2000" spc="-1" dirty="0">
              <a:solidFill>
                <a:srgbClr val="262626"/>
              </a:solidFill>
              <a:latin typeface="Montserrat"/>
            </a:endParaRP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Проверяют вашу электронную почту, </a:t>
            </a:r>
            <a:r>
              <a:rPr lang="ru-RU" sz="2000" spc="-1">
                <a:solidFill>
                  <a:srgbClr val="262626"/>
                </a:solidFill>
                <a:latin typeface="Montserrat"/>
              </a:rPr>
              <a:t>сортируют </a:t>
            </a:r>
            <a:r>
              <a:rPr lang="ru-RU" sz="2000" spc="-1" smtClean="0">
                <a:solidFill>
                  <a:srgbClr val="262626"/>
                </a:solidFill>
                <a:latin typeface="Montserrat"/>
              </a:rPr>
              <a:t>ее </a:t>
            </a:r>
            <a:r>
              <a:rPr lang="ru-RU" sz="2000" spc="-1" dirty="0">
                <a:solidFill>
                  <a:srgbClr val="262626"/>
                </a:solidFill>
                <a:latin typeface="Montserrat"/>
              </a:rPr>
              <a:t>по вашим предпочтениям и извещают о приходе важных писем.</a:t>
            </a: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Играют в компьютерные игры, когда ваш противник или патрулирующий игру проявляет активность.</a:t>
            </a: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Собирают заказанные отчеты новостей для вас</a:t>
            </a:r>
            <a:r>
              <a:rPr lang="ru-RU" sz="2000" spc="-1" dirty="0" smtClean="0">
                <a:solidFill>
                  <a:srgbClr val="262626"/>
                </a:solidFill>
                <a:latin typeface="Montserrat"/>
              </a:rPr>
              <a:t>.</a:t>
            </a:r>
            <a:endParaRPr lang="ru-RU" sz="2000" spc="-1" dirty="0">
              <a:solidFill>
                <a:srgbClr val="262626"/>
              </a:solidFill>
              <a:latin typeface="Montserrat"/>
            </a:endParaRP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Делают поиск информации по вашей теме и вашему запросу.</a:t>
            </a: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Автоматически заполняют веб-формы для вас, сохраняют вашу информацию для использования в будущем</a:t>
            </a:r>
            <a:r>
              <a:rPr lang="ru-RU" sz="2000" spc="-1" dirty="0" smtClean="0">
                <a:solidFill>
                  <a:srgbClr val="262626"/>
                </a:solidFill>
                <a:latin typeface="Montserrat"/>
              </a:rPr>
              <a:t>.</a:t>
            </a:r>
            <a:endParaRPr lang="ru-RU" sz="2000" spc="-1" dirty="0">
              <a:solidFill>
                <a:srgbClr val="262626"/>
              </a:solidFill>
              <a:latin typeface="Montserrat"/>
            </a:endParaRPr>
          </a:p>
        </p:txBody>
      </p:sp>
    </p:spTree>
    <p:extLst>
      <p:ext uri="{BB962C8B-B14F-4D97-AF65-F5344CB8AC3E}">
        <p14:creationId xmlns:p14="http://schemas.microsoft.com/office/powerpoint/2010/main" val="1733491411"/>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err="1">
                <a:solidFill>
                  <a:srgbClr val="004892"/>
                </a:solidFill>
                <a:latin typeface="Montserrat"/>
              </a:rPr>
              <a:t>Мультиагентная</a:t>
            </a:r>
            <a:r>
              <a:rPr lang="ru-RU" sz="3600" spc="-1" dirty="0">
                <a:solidFill>
                  <a:srgbClr val="004892"/>
                </a:solidFill>
                <a:latin typeface="Montserrat"/>
              </a:rPr>
              <a:t> система</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a:solidFill>
                  <a:srgbClr val="004892"/>
                </a:solidFill>
                <a:latin typeface="Montserrat Bold"/>
              </a:rPr>
              <a:t>Агенты по мониторингу и наблюдению</a:t>
            </a: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a:solidFill>
                  <a:srgbClr val="262626"/>
                </a:solidFill>
                <a:latin typeface="Montserrat"/>
              </a:rPr>
              <a:t>Агенты по мониторингу и наблюдению используются для наблюдения за объектами и передачи информации на оборудование, как правило, на компьютерные системы. Агенты могут отслеживать уровень запасов материалов компании, следить за ценами конкурентов и доводить их до сведения компании, анализировать фондовые манипуляции по </a:t>
            </a:r>
            <a:r>
              <a:rPr lang="ru-RU" sz="2000" spc="-1" dirty="0" smtClean="0">
                <a:solidFill>
                  <a:srgbClr val="262626"/>
                </a:solidFill>
                <a:latin typeface="Montserrat"/>
              </a:rPr>
              <a:t>инсайдерской информации </a:t>
            </a:r>
            <a:r>
              <a:rPr lang="ru-RU" sz="2000" spc="-1" dirty="0">
                <a:solidFill>
                  <a:srgbClr val="262626"/>
                </a:solidFill>
                <a:latin typeface="Montserrat"/>
              </a:rPr>
              <a:t>и слухам, и т. д</a:t>
            </a:r>
            <a:r>
              <a:rPr lang="ru-RU" sz="2000" spc="-1" dirty="0" smtClean="0">
                <a:solidFill>
                  <a:srgbClr val="262626"/>
                </a:solidFill>
                <a:latin typeface="Montserrat"/>
              </a:rPr>
              <a:t>.</a:t>
            </a:r>
          </a:p>
          <a:p>
            <a:pPr algn="just">
              <a:lnSpc>
                <a:spcPct val="100000"/>
              </a:lnSpc>
            </a:pPr>
            <a:r>
              <a:rPr lang="ru-RU" sz="2000" spc="-1" dirty="0">
                <a:solidFill>
                  <a:srgbClr val="262626"/>
                </a:solidFill>
                <a:latin typeface="Montserrat"/>
              </a:rPr>
              <a:t>Особыми агентами по мониторингу и наблюдению являются структуры агентов, используемых для моделирования процесса принятия решений во время тактических операций. Агенты осуществляют мониторинг состояния активов (боеприпасов, оружия, средств транспортировки и т. д.) и получают цели (поручения) от агентов верхнего уровня. Агенты добиваются достижения целей с имеющимися активами, сводя к минимуму расходы активов при максимальном достижении </a:t>
            </a:r>
            <a:r>
              <a:rPr lang="ru-RU" sz="2000" spc="-1" dirty="0" smtClean="0">
                <a:solidFill>
                  <a:srgbClr val="262626"/>
                </a:solidFill>
                <a:latin typeface="Montserrat"/>
              </a:rPr>
              <a:t>цели.</a:t>
            </a:r>
            <a:endParaRPr lang="ru-RU" sz="2000" spc="-1" dirty="0">
              <a:solidFill>
                <a:srgbClr val="262626"/>
              </a:solidFill>
              <a:latin typeface="Montserrat"/>
            </a:endParaRPr>
          </a:p>
        </p:txBody>
      </p:sp>
    </p:spTree>
    <p:extLst>
      <p:ext uri="{BB962C8B-B14F-4D97-AF65-F5344CB8AC3E}">
        <p14:creationId xmlns:p14="http://schemas.microsoft.com/office/powerpoint/2010/main" val="2057158151"/>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err="1">
                <a:solidFill>
                  <a:srgbClr val="004892"/>
                </a:solidFill>
                <a:latin typeface="Montserrat"/>
              </a:rPr>
              <a:t>Мультиагентная</a:t>
            </a:r>
            <a:r>
              <a:rPr lang="ru-RU" sz="3600" spc="-1" dirty="0">
                <a:solidFill>
                  <a:srgbClr val="004892"/>
                </a:solidFill>
                <a:latin typeface="Montserrat"/>
              </a:rPr>
              <a:t> система</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a:solidFill>
                  <a:srgbClr val="004892"/>
                </a:solidFill>
                <a:latin typeface="Montserrat Bold"/>
              </a:rPr>
              <a:t>Агенты по добыче и анализу данных</a:t>
            </a: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a:solidFill>
                  <a:srgbClr val="262626"/>
                </a:solidFill>
                <a:latin typeface="Montserrat"/>
              </a:rPr>
              <a:t>Эти агенты используют информационные технологии для поиска тенденций и закономерностей в обилии информации из различных источников. Пользователь может сортировать эту информацию для того, чтобы отобрать именно то, что он ищет.</a:t>
            </a:r>
          </a:p>
          <a:p>
            <a:pPr algn="just">
              <a:lnSpc>
                <a:spcPct val="100000"/>
              </a:lnSpc>
            </a:pPr>
            <a:r>
              <a:rPr lang="ru-RU" sz="2000" spc="-1" dirty="0" smtClean="0">
                <a:solidFill>
                  <a:srgbClr val="262626"/>
                </a:solidFill>
                <a:latin typeface="Montserrat"/>
              </a:rPr>
              <a:t>Агенты </a:t>
            </a:r>
            <a:r>
              <a:rPr lang="ru-RU" sz="2000" spc="-1" dirty="0">
                <a:solidFill>
                  <a:srgbClr val="262626"/>
                </a:solidFill>
                <a:latin typeface="Montserrat"/>
              </a:rPr>
              <a:t>по добыче и анализу данных работают в хранилище данных обнаруженной информации. «Хранилище данных» объединяет информацию из множества разных источников. «Анализ данных» представляет собой процесс просмотра данных в хранилище с целью нахождения такой информации, которую можно использовать для </a:t>
            </a:r>
            <a:r>
              <a:rPr lang="ru-RU" sz="2000" spc="-1" dirty="0" smtClean="0">
                <a:solidFill>
                  <a:srgbClr val="262626"/>
                </a:solidFill>
                <a:latin typeface="Montserrat"/>
              </a:rPr>
              <a:t>принятия </a:t>
            </a:r>
            <a:r>
              <a:rPr lang="ru-RU" sz="2000" spc="-1" dirty="0">
                <a:solidFill>
                  <a:srgbClr val="262626"/>
                </a:solidFill>
                <a:latin typeface="Montserrat"/>
              </a:rPr>
              <a:t>целенаправленных действий, например, для увеличения продаж или сохранения клиентов, которые рассматривают возможность ухода к конкурентам.</a:t>
            </a:r>
          </a:p>
        </p:txBody>
      </p:sp>
    </p:spTree>
    <p:extLst>
      <p:ext uri="{BB962C8B-B14F-4D97-AF65-F5344CB8AC3E}">
        <p14:creationId xmlns:p14="http://schemas.microsoft.com/office/powerpoint/2010/main" val="1331855933"/>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err="1">
                <a:solidFill>
                  <a:srgbClr val="004892"/>
                </a:solidFill>
                <a:latin typeface="Montserrat"/>
              </a:rPr>
              <a:t>Мультиагентная</a:t>
            </a:r>
            <a:r>
              <a:rPr lang="ru-RU" sz="3600" spc="-1" dirty="0">
                <a:solidFill>
                  <a:srgbClr val="004892"/>
                </a:solidFill>
                <a:latin typeface="Montserrat"/>
              </a:rPr>
              <a:t> система</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Аспекты разработки программных агентов</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smtClean="0">
                <a:solidFill>
                  <a:srgbClr val="262626"/>
                </a:solidFill>
                <a:latin typeface="Montserrat"/>
              </a:rPr>
              <a:t>При разработке </a:t>
            </a:r>
            <a:r>
              <a:rPr lang="ru-RU" sz="2000" spc="-1" dirty="0" err="1" smtClean="0">
                <a:solidFill>
                  <a:srgbClr val="262626"/>
                </a:solidFill>
                <a:latin typeface="Montserrat"/>
              </a:rPr>
              <a:t>агенто</a:t>
            </a:r>
            <a:r>
              <a:rPr lang="ru-RU" sz="2000" spc="-1" dirty="0" smtClean="0">
                <a:solidFill>
                  <a:srgbClr val="262626"/>
                </a:solidFill>
                <a:latin typeface="Montserrat"/>
              </a:rPr>
              <a:t>-ориентированных </a:t>
            </a:r>
            <a:r>
              <a:rPr lang="ru-RU" sz="2000" spc="-1" dirty="0">
                <a:solidFill>
                  <a:srgbClr val="262626"/>
                </a:solidFill>
                <a:latin typeface="Montserrat"/>
              </a:rPr>
              <a:t>систем </a:t>
            </a:r>
            <a:r>
              <a:rPr lang="ru-RU" sz="2000" spc="-1" dirty="0" smtClean="0">
                <a:solidFill>
                  <a:srgbClr val="262626"/>
                </a:solidFill>
                <a:latin typeface="Montserrat"/>
              </a:rPr>
              <a:t>необходимо решать следующие вопросы:</a:t>
            </a:r>
            <a:endParaRPr lang="ru-RU" sz="2000" spc="-1" dirty="0">
              <a:solidFill>
                <a:srgbClr val="262626"/>
              </a:solidFill>
              <a:latin typeface="Montserrat"/>
            </a:endParaRP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Насколько сложной является окружающая среда? Есть ли неопределенность? Полностью ли она наблюдаема? Как быстро она может меняться?</a:t>
            </a: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Какие </a:t>
            </a:r>
            <a:r>
              <a:rPr lang="ru-RU" sz="2000" spc="-1" dirty="0">
                <a:solidFill>
                  <a:srgbClr val="262626"/>
                </a:solidFill>
                <a:latin typeface="Montserrat"/>
              </a:rPr>
              <a:t>задачи требуется решать агенту? Насколько они сложны</a:t>
            </a:r>
            <a:r>
              <a:rPr lang="ru-RU" sz="2000" spc="-1" dirty="0" smtClean="0">
                <a:solidFill>
                  <a:srgbClr val="262626"/>
                </a:solidFill>
                <a:latin typeface="Montserrat"/>
              </a:rPr>
              <a:t>?</a:t>
            </a:r>
            <a:endParaRPr lang="ru-RU" sz="2000" spc="-1" dirty="0">
              <a:solidFill>
                <a:srgbClr val="262626"/>
              </a:solidFill>
              <a:latin typeface="Montserrat"/>
            </a:endParaRP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Какой </a:t>
            </a:r>
            <a:r>
              <a:rPr lang="ru-RU" sz="2000" spc="-1" dirty="0">
                <a:solidFill>
                  <a:srgbClr val="262626"/>
                </a:solidFill>
                <a:latin typeface="Montserrat"/>
              </a:rPr>
              <a:t>должна быть архитектура агента? В настоящее время распространены различные реактивные архитектуры. А из логических – BDI</a:t>
            </a:r>
            <a:r>
              <a:rPr lang="ru-RU" sz="2000" spc="-1" dirty="0" smtClean="0">
                <a:solidFill>
                  <a:srgbClr val="262626"/>
                </a:solidFill>
                <a:latin typeface="Montserrat"/>
              </a:rPr>
              <a:t>.</a:t>
            </a:r>
            <a:endParaRPr lang="ru-RU" sz="2000" spc="-1" dirty="0">
              <a:solidFill>
                <a:srgbClr val="262626"/>
              </a:solidFill>
              <a:latin typeface="Montserrat"/>
            </a:endParaRP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Какими </a:t>
            </a:r>
            <a:r>
              <a:rPr lang="ru-RU" sz="2000" spc="-1" dirty="0">
                <a:solidFill>
                  <a:srgbClr val="262626"/>
                </a:solidFill>
                <a:latin typeface="Montserrat"/>
              </a:rPr>
              <a:t>должны быть цели агента?</a:t>
            </a: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Какой </a:t>
            </a:r>
            <a:r>
              <a:rPr lang="ru-RU" sz="2000" spc="-1" dirty="0">
                <a:solidFill>
                  <a:srgbClr val="262626"/>
                </a:solidFill>
                <a:latin typeface="Montserrat"/>
              </a:rPr>
              <a:t>будет его функция полезности, т.е. как агент сможет понять, что он достигает целей оптимальными </a:t>
            </a:r>
            <a:r>
              <a:rPr lang="ru-RU" sz="2000" spc="-1" dirty="0" smtClean="0">
                <a:solidFill>
                  <a:srgbClr val="262626"/>
                </a:solidFill>
                <a:latin typeface="Montserrat"/>
              </a:rPr>
              <a:t>способами?</a:t>
            </a: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Каким </a:t>
            </a:r>
            <a:r>
              <a:rPr lang="ru-RU" sz="2000" spc="-1" dirty="0">
                <a:solidFill>
                  <a:srgbClr val="262626"/>
                </a:solidFill>
                <a:latin typeface="Montserrat"/>
              </a:rPr>
              <a:t>должно быть поведение агента?</a:t>
            </a:r>
          </a:p>
        </p:txBody>
      </p:sp>
    </p:spTree>
    <p:extLst>
      <p:ext uri="{BB962C8B-B14F-4D97-AF65-F5344CB8AC3E}">
        <p14:creationId xmlns:p14="http://schemas.microsoft.com/office/powerpoint/2010/main" val="540105442"/>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err="1">
                <a:solidFill>
                  <a:srgbClr val="004892"/>
                </a:solidFill>
                <a:latin typeface="Montserrat"/>
              </a:rPr>
              <a:t>Мультиагентная</a:t>
            </a:r>
            <a:r>
              <a:rPr lang="ru-RU" sz="3600" spc="-1" dirty="0">
                <a:solidFill>
                  <a:srgbClr val="004892"/>
                </a:solidFill>
                <a:latin typeface="Montserrat"/>
              </a:rPr>
              <a:t> система</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Аспекты разработки программных агентов</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smtClean="0">
                <a:solidFill>
                  <a:srgbClr val="262626"/>
                </a:solidFill>
                <a:latin typeface="Montserrat"/>
              </a:rPr>
              <a:t>При разработке </a:t>
            </a:r>
            <a:r>
              <a:rPr lang="ru-RU" sz="2000" spc="-1" dirty="0" err="1" smtClean="0">
                <a:solidFill>
                  <a:srgbClr val="262626"/>
                </a:solidFill>
                <a:latin typeface="Montserrat"/>
              </a:rPr>
              <a:t>агенто</a:t>
            </a:r>
            <a:r>
              <a:rPr lang="ru-RU" sz="2000" spc="-1" dirty="0" smtClean="0">
                <a:solidFill>
                  <a:srgbClr val="262626"/>
                </a:solidFill>
                <a:latin typeface="Montserrat"/>
              </a:rPr>
              <a:t>-ориентированных </a:t>
            </a:r>
            <a:r>
              <a:rPr lang="ru-RU" sz="2000" spc="-1" dirty="0">
                <a:solidFill>
                  <a:srgbClr val="262626"/>
                </a:solidFill>
                <a:latin typeface="Montserrat"/>
              </a:rPr>
              <a:t>систем </a:t>
            </a:r>
            <a:r>
              <a:rPr lang="ru-RU" sz="2000" spc="-1" dirty="0" smtClean="0">
                <a:solidFill>
                  <a:srgbClr val="262626"/>
                </a:solidFill>
                <a:latin typeface="Montserrat"/>
              </a:rPr>
              <a:t>необходимо решать следующие вопросы:</a:t>
            </a:r>
            <a:endParaRPr lang="ru-RU" sz="2000" spc="-1" dirty="0">
              <a:solidFill>
                <a:srgbClr val="262626"/>
              </a:solidFill>
              <a:latin typeface="Montserrat"/>
            </a:endParaRP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Что </a:t>
            </a:r>
            <a:r>
              <a:rPr lang="ru-RU" sz="2000" spc="-1" dirty="0">
                <a:solidFill>
                  <a:srgbClr val="262626"/>
                </a:solidFill>
                <a:latin typeface="Montserrat"/>
              </a:rPr>
              <a:t>должен знать агент о себе и окружающей среде, т.е. какова будет его модель среды и себя самого? Какими символами и понятиями он сможет оперировать? Насколько полными и детальными должны быть его знания? Будут ли знания задаваться разработчиком, или они будут приобретаться в процессе (само)обучения</a:t>
            </a:r>
            <a:r>
              <a:rPr lang="ru-RU" sz="2000" spc="-1" dirty="0" smtClean="0">
                <a:solidFill>
                  <a:srgbClr val="262626"/>
                </a:solidFill>
                <a:latin typeface="Montserrat"/>
              </a:rPr>
              <a:t>?</a:t>
            </a:r>
            <a:endParaRPr lang="ru-RU" sz="2000" spc="-1" dirty="0">
              <a:solidFill>
                <a:srgbClr val="262626"/>
              </a:solidFill>
              <a:latin typeface="Montserrat"/>
            </a:endParaRP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Каким </a:t>
            </a:r>
            <a:r>
              <a:rPr lang="ru-RU" sz="2000" spc="-1" dirty="0">
                <a:solidFill>
                  <a:srgbClr val="262626"/>
                </a:solidFill>
                <a:latin typeface="Montserrat"/>
              </a:rPr>
              <a:t>способом представить знания агента? Насколько выразительным должен быть язык описания знаний? Как обеспечить требуемую производительность алгоритмов обработки знаний</a:t>
            </a:r>
            <a:r>
              <a:rPr lang="ru-RU" sz="2000" spc="-1" dirty="0" smtClean="0">
                <a:solidFill>
                  <a:srgbClr val="262626"/>
                </a:solidFill>
                <a:latin typeface="Montserrat"/>
              </a:rPr>
              <a:t>?</a:t>
            </a:r>
            <a:endParaRPr lang="ru-RU" sz="2000" spc="-1" dirty="0">
              <a:solidFill>
                <a:srgbClr val="262626"/>
              </a:solidFill>
              <a:latin typeface="Montserrat"/>
            </a:endParaRP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Каковы </a:t>
            </a:r>
            <a:r>
              <a:rPr lang="ru-RU" sz="2000" spc="-1" dirty="0">
                <a:solidFill>
                  <a:srgbClr val="262626"/>
                </a:solidFill>
                <a:latin typeface="Montserrat"/>
              </a:rPr>
              <a:t>должны быть границы адаптации агента к изменениям окружающей среды? Как агент будет менять свое поведение? Как агент может (само)обучаться?</a:t>
            </a:r>
          </a:p>
        </p:txBody>
      </p:sp>
    </p:spTree>
    <p:extLst>
      <p:ext uri="{BB962C8B-B14F-4D97-AF65-F5344CB8AC3E}">
        <p14:creationId xmlns:p14="http://schemas.microsoft.com/office/powerpoint/2010/main" val="4227235528"/>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err="1">
                <a:solidFill>
                  <a:srgbClr val="004892"/>
                </a:solidFill>
                <a:latin typeface="Montserrat"/>
              </a:rPr>
              <a:t>Мультиагентная</a:t>
            </a:r>
            <a:r>
              <a:rPr lang="ru-RU" sz="3600" spc="-1" dirty="0">
                <a:solidFill>
                  <a:srgbClr val="004892"/>
                </a:solidFill>
                <a:latin typeface="Montserrat"/>
              </a:rPr>
              <a:t> система</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Аспекты разработки программных агентов</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smtClean="0">
                <a:solidFill>
                  <a:srgbClr val="262626"/>
                </a:solidFill>
                <a:latin typeface="Montserrat"/>
              </a:rPr>
              <a:t>При разработке </a:t>
            </a:r>
            <a:r>
              <a:rPr lang="ru-RU" sz="2000" spc="-1" dirty="0" err="1" smtClean="0">
                <a:solidFill>
                  <a:srgbClr val="262626"/>
                </a:solidFill>
                <a:latin typeface="Montserrat"/>
              </a:rPr>
              <a:t>агенто</a:t>
            </a:r>
            <a:r>
              <a:rPr lang="ru-RU" sz="2000" spc="-1" dirty="0" smtClean="0">
                <a:solidFill>
                  <a:srgbClr val="262626"/>
                </a:solidFill>
                <a:latin typeface="Montserrat"/>
              </a:rPr>
              <a:t>-ориентированных </a:t>
            </a:r>
            <a:r>
              <a:rPr lang="ru-RU" sz="2000" spc="-1" dirty="0">
                <a:solidFill>
                  <a:srgbClr val="262626"/>
                </a:solidFill>
                <a:latin typeface="Montserrat"/>
              </a:rPr>
              <a:t>систем </a:t>
            </a:r>
            <a:r>
              <a:rPr lang="ru-RU" sz="2000" spc="-1" dirty="0" smtClean="0">
                <a:solidFill>
                  <a:srgbClr val="262626"/>
                </a:solidFill>
                <a:latin typeface="Montserrat"/>
              </a:rPr>
              <a:t>необходимо решать следующие вопросы:</a:t>
            </a:r>
            <a:endParaRPr lang="ru-RU" sz="2000" spc="-1" dirty="0">
              <a:solidFill>
                <a:srgbClr val="262626"/>
              </a:solidFill>
              <a:latin typeface="Montserrat"/>
            </a:endParaRP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Как </a:t>
            </a:r>
            <a:r>
              <a:rPr lang="ru-RU" sz="2000" spc="-1" dirty="0">
                <a:solidFill>
                  <a:srgbClr val="262626"/>
                </a:solidFill>
                <a:latin typeface="Montserrat"/>
              </a:rPr>
              <a:t>планируются задачи и как достигается их </a:t>
            </a:r>
            <a:r>
              <a:rPr lang="ru-RU" sz="2000" spc="-1" dirty="0" smtClean="0">
                <a:solidFill>
                  <a:srgbClr val="262626"/>
                </a:solidFill>
                <a:latin typeface="Montserrat"/>
              </a:rPr>
              <a:t>синхронизация?</a:t>
            </a:r>
            <a:endParaRPr lang="ru-RU" sz="2000" spc="-1" dirty="0">
              <a:solidFill>
                <a:srgbClr val="262626"/>
              </a:solidFill>
              <a:latin typeface="Montserrat"/>
            </a:endParaRP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Как </a:t>
            </a:r>
            <a:r>
              <a:rPr lang="ru-RU" sz="2000" spc="-1" dirty="0">
                <a:solidFill>
                  <a:srgbClr val="262626"/>
                </a:solidFill>
                <a:latin typeface="Montserrat"/>
              </a:rPr>
              <a:t>агенты устанавливают приоритеты </a:t>
            </a:r>
            <a:r>
              <a:rPr lang="ru-RU" sz="2000" spc="-1" dirty="0" smtClean="0">
                <a:solidFill>
                  <a:srgbClr val="262626"/>
                </a:solidFill>
                <a:latin typeface="Montserrat"/>
              </a:rPr>
              <a:t>задач?</a:t>
            </a:r>
            <a:endParaRPr lang="ru-RU" sz="2000" spc="-1" dirty="0">
              <a:solidFill>
                <a:srgbClr val="262626"/>
              </a:solidFill>
              <a:latin typeface="Montserrat"/>
            </a:endParaRP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Как </a:t>
            </a:r>
            <a:r>
              <a:rPr lang="ru-RU" sz="2000" spc="-1" dirty="0">
                <a:solidFill>
                  <a:srgbClr val="262626"/>
                </a:solidFill>
                <a:latin typeface="Montserrat"/>
              </a:rPr>
              <a:t>агенты могут взаимодействовать друг с другом и как они привлекают </a:t>
            </a:r>
            <a:r>
              <a:rPr lang="ru-RU" sz="2000" spc="-1" dirty="0" smtClean="0">
                <a:solidFill>
                  <a:srgbClr val="262626"/>
                </a:solidFill>
                <a:latin typeface="Montserrat"/>
              </a:rPr>
              <a:t>ресурсы?</a:t>
            </a:r>
            <a:endParaRPr lang="ru-RU" sz="2000" spc="-1" dirty="0">
              <a:solidFill>
                <a:srgbClr val="262626"/>
              </a:solidFill>
              <a:latin typeface="Montserrat"/>
            </a:endParaRP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Как</a:t>
            </a:r>
            <a:r>
              <a:rPr lang="ru-RU" sz="2000" spc="-1" dirty="0" smtClean="0">
                <a:solidFill>
                  <a:srgbClr val="262626"/>
                </a:solidFill>
                <a:latin typeface="Montserrat"/>
              </a:rPr>
              <a:t> </a:t>
            </a:r>
            <a:r>
              <a:rPr lang="ru-RU" sz="2000" spc="-1" dirty="0">
                <a:solidFill>
                  <a:srgbClr val="262626"/>
                </a:solidFill>
                <a:latin typeface="Montserrat"/>
              </a:rPr>
              <a:t>агенты могут быть </a:t>
            </a:r>
            <a:r>
              <a:rPr lang="ru-RU" sz="2000" spc="-1" dirty="0" err="1">
                <a:solidFill>
                  <a:srgbClr val="262626"/>
                </a:solidFill>
                <a:latin typeface="Montserrat"/>
              </a:rPr>
              <a:t>переинсталлированы</a:t>
            </a:r>
            <a:r>
              <a:rPr lang="ru-RU" sz="2000" spc="-1" dirty="0">
                <a:solidFill>
                  <a:srgbClr val="262626"/>
                </a:solidFill>
                <a:latin typeface="Montserrat"/>
              </a:rPr>
              <a:t> в различных средах и как сохраняются их внутренние </a:t>
            </a:r>
            <a:r>
              <a:rPr lang="ru-RU" sz="2000" spc="-1" dirty="0" smtClean="0">
                <a:solidFill>
                  <a:srgbClr val="262626"/>
                </a:solidFill>
                <a:latin typeface="Montserrat"/>
              </a:rPr>
              <a:t>параметры?</a:t>
            </a:r>
            <a:endParaRPr lang="ru-RU" sz="2000" spc="-1" dirty="0">
              <a:solidFill>
                <a:srgbClr val="262626"/>
              </a:solidFill>
              <a:latin typeface="Montserrat"/>
            </a:endParaRP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Как</a:t>
            </a:r>
            <a:r>
              <a:rPr lang="ru-RU" sz="2000" spc="-1" dirty="0" smtClean="0">
                <a:solidFill>
                  <a:srgbClr val="262626"/>
                </a:solidFill>
                <a:latin typeface="Montserrat"/>
              </a:rPr>
              <a:t> </a:t>
            </a:r>
            <a:r>
              <a:rPr lang="ru-RU" sz="2000" spc="-1" dirty="0">
                <a:solidFill>
                  <a:srgbClr val="262626"/>
                </a:solidFill>
                <a:latin typeface="Montserrat"/>
              </a:rPr>
              <a:t>тестируется окружающая среда и как изменения окружающей среды отражаются на поведении </a:t>
            </a:r>
            <a:r>
              <a:rPr lang="ru-RU" sz="2000" spc="-1" dirty="0" smtClean="0">
                <a:solidFill>
                  <a:srgbClr val="262626"/>
                </a:solidFill>
                <a:latin typeface="Montserrat"/>
              </a:rPr>
              <a:t>агентов?</a:t>
            </a:r>
            <a:endParaRPr lang="ru-RU" sz="2000" spc="-1" dirty="0">
              <a:solidFill>
                <a:srgbClr val="262626"/>
              </a:solidFill>
              <a:latin typeface="Montserrat"/>
            </a:endParaRP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Как</a:t>
            </a:r>
            <a:r>
              <a:rPr lang="ru-RU" sz="2000" spc="-1" dirty="0" smtClean="0">
                <a:solidFill>
                  <a:srgbClr val="262626"/>
                </a:solidFill>
                <a:latin typeface="Montserrat"/>
              </a:rPr>
              <a:t> </a:t>
            </a:r>
            <a:r>
              <a:rPr lang="ru-RU" sz="2000" spc="-1" dirty="0">
                <a:solidFill>
                  <a:srgbClr val="262626"/>
                </a:solidFill>
                <a:latin typeface="Montserrat"/>
              </a:rPr>
              <a:t>устанавливается связь и обмен сообщениями между </a:t>
            </a:r>
            <a:r>
              <a:rPr lang="ru-RU" sz="2000" spc="-1" dirty="0" smtClean="0">
                <a:solidFill>
                  <a:srgbClr val="262626"/>
                </a:solidFill>
                <a:latin typeface="Montserrat"/>
              </a:rPr>
              <a:t>агентами?</a:t>
            </a:r>
            <a:endParaRPr lang="ru-RU" sz="2000" spc="-1" dirty="0">
              <a:solidFill>
                <a:srgbClr val="262626"/>
              </a:solidFill>
              <a:latin typeface="Montserrat"/>
            </a:endParaRP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Какова </a:t>
            </a:r>
            <a:r>
              <a:rPr lang="ru-RU" sz="2000" spc="-1" dirty="0">
                <a:solidFill>
                  <a:srgbClr val="262626"/>
                </a:solidFill>
                <a:latin typeface="Montserrat"/>
              </a:rPr>
              <a:t>иерархия агентов (например, агентов для выполнения заданий, агентов-планировщиков, поставщиков ресурсов, и т. п</a:t>
            </a:r>
            <a:r>
              <a:rPr lang="ru-RU" sz="2000" spc="-1" dirty="0" smtClean="0">
                <a:solidFill>
                  <a:srgbClr val="262626"/>
                </a:solidFill>
                <a:latin typeface="Montserrat"/>
              </a:rPr>
              <a:t>.)?</a:t>
            </a:r>
            <a:endParaRPr lang="ru-RU" sz="2000" spc="-1" dirty="0">
              <a:solidFill>
                <a:srgbClr val="262626"/>
              </a:solidFill>
              <a:latin typeface="Montserrat"/>
            </a:endParaRPr>
          </a:p>
        </p:txBody>
      </p:sp>
    </p:spTree>
    <p:extLst>
      <p:ext uri="{BB962C8B-B14F-4D97-AF65-F5344CB8AC3E}">
        <p14:creationId xmlns:p14="http://schemas.microsoft.com/office/powerpoint/2010/main" val="228508968"/>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err="1">
                <a:solidFill>
                  <a:srgbClr val="004892"/>
                </a:solidFill>
                <a:latin typeface="Montserrat"/>
              </a:rPr>
              <a:t>Мультиагентная</a:t>
            </a:r>
            <a:r>
              <a:rPr lang="ru-RU" sz="3600" spc="-1" dirty="0">
                <a:solidFill>
                  <a:srgbClr val="004892"/>
                </a:solidFill>
                <a:latin typeface="Montserrat"/>
              </a:rPr>
              <a:t> система</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Аспекты разработки программных агентов</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smtClean="0">
                <a:solidFill>
                  <a:srgbClr val="262626"/>
                </a:solidFill>
                <a:latin typeface="Montserrat"/>
              </a:rPr>
              <a:t>При разработке </a:t>
            </a:r>
            <a:r>
              <a:rPr lang="ru-RU" sz="2000" spc="-1" dirty="0" err="1" smtClean="0">
                <a:solidFill>
                  <a:srgbClr val="262626"/>
                </a:solidFill>
                <a:latin typeface="Montserrat"/>
              </a:rPr>
              <a:t>агенто</a:t>
            </a:r>
            <a:r>
              <a:rPr lang="ru-RU" sz="2000" spc="-1" dirty="0" smtClean="0">
                <a:solidFill>
                  <a:srgbClr val="262626"/>
                </a:solidFill>
                <a:latin typeface="Montserrat"/>
              </a:rPr>
              <a:t>-ориентированных </a:t>
            </a:r>
            <a:r>
              <a:rPr lang="ru-RU" sz="2000" spc="-1" dirty="0">
                <a:solidFill>
                  <a:srgbClr val="262626"/>
                </a:solidFill>
                <a:latin typeface="Montserrat"/>
              </a:rPr>
              <a:t>систем </a:t>
            </a:r>
            <a:r>
              <a:rPr lang="ru-RU" sz="2000" spc="-1" dirty="0" smtClean="0">
                <a:solidFill>
                  <a:srgbClr val="262626"/>
                </a:solidFill>
                <a:latin typeface="Montserrat"/>
              </a:rPr>
              <a:t>необходимо решать следующие вопросы:</a:t>
            </a:r>
            <a:endParaRPr lang="ru-RU" sz="2000" spc="-1" dirty="0">
              <a:solidFill>
                <a:srgbClr val="262626"/>
              </a:solidFill>
              <a:latin typeface="Montserrat"/>
            </a:endParaRP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Как </a:t>
            </a:r>
            <a:r>
              <a:rPr lang="ru-RU" sz="2000" spc="-1" dirty="0">
                <a:solidFill>
                  <a:srgbClr val="262626"/>
                </a:solidFill>
                <a:latin typeface="Montserrat"/>
              </a:rPr>
              <a:t>организовать </a:t>
            </a:r>
            <a:r>
              <a:rPr lang="ru-RU" sz="2000" spc="-1" dirty="0" smtClean="0">
                <a:solidFill>
                  <a:srgbClr val="262626"/>
                </a:solidFill>
                <a:latin typeface="Montserrat"/>
              </a:rPr>
              <a:t>совместную </a:t>
            </a:r>
            <a:r>
              <a:rPr lang="ru-RU" sz="2000" spc="-1" dirty="0">
                <a:solidFill>
                  <a:srgbClr val="262626"/>
                </a:solidFill>
                <a:latin typeface="Montserrat"/>
              </a:rPr>
              <a:t>семантику </a:t>
            </a:r>
            <a:r>
              <a:rPr lang="ru-RU" sz="2000" spc="-1" dirty="0" smtClean="0">
                <a:solidFill>
                  <a:srgbClr val="262626"/>
                </a:solidFill>
                <a:latin typeface="Montserrat"/>
              </a:rPr>
              <a:t>данных агентов </a:t>
            </a:r>
            <a:r>
              <a:rPr lang="ru-RU" sz="2000" spc="-1" dirty="0">
                <a:solidFill>
                  <a:srgbClr val="262626"/>
                </a:solidFill>
                <a:latin typeface="Montserrat"/>
              </a:rPr>
              <a:t>(например, </a:t>
            </a:r>
            <a:r>
              <a:rPr lang="ru-RU" sz="2000" spc="-1" dirty="0" smtClean="0">
                <a:solidFill>
                  <a:srgbClr val="262626"/>
                </a:solidFill>
                <a:latin typeface="Montserrat"/>
              </a:rPr>
              <a:t>через применение </a:t>
            </a:r>
            <a:r>
              <a:rPr lang="ru-RU" sz="2000" spc="-1" dirty="0">
                <a:solidFill>
                  <a:srgbClr val="262626"/>
                </a:solidFill>
                <a:latin typeface="Montserrat"/>
              </a:rPr>
              <a:t>компьютерных систем описания </a:t>
            </a:r>
            <a:r>
              <a:rPr lang="ru-RU" sz="2000" spc="-1" dirty="0" smtClean="0">
                <a:solidFill>
                  <a:srgbClr val="262626"/>
                </a:solidFill>
                <a:latin typeface="Montserrat"/>
              </a:rPr>
              <a:t>метаданных)?</a:t>
            </a: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Как определить обработчиков </a:t>
            </a:r>
            <a:r>
              <a:rPr lang="ru-RU" sz="2000" spc="-1" dirty="0" smtClean="0">
                <a:solidFill>
                  <a:srgbClr val="262626"/>
                </a:solidFill>
                <a:latin typeface="Montserrat"/>
              </a:rPr>
              <a:t>агентов:</a:t>
            </a:r>
          </a:p>
          <a:p>
            <a:pPr marL="800100" lvl="1" indent="-342900" algn="just">
              <a:buFont typeface="Wingdings" panose="05000000000000000000" pitchFamily="2" charset="2"/>
              <a:buChar char="§"/>
            </a:pPr>
            <a:r>
              <a:rPr lang="ru-RU" sz="2000" spc="-1" dirty="0" smtClean="0">
                <a:solidFill>
                  <a:srgbClr val="262626"/>
                </a:solidFill>
                <a:latin typeface="Montserrat"/>
              </a:rPr>
              <a:t>обработчики </a:t>
            </a:r>
            <a:r>
              <a:rPr lang="ru-RU" sz="2000" spc="-1" dirty="0">
                <a:solidFill>
                  <a:srgbClr val="262626"/>
                </a:solidFill>
                <a:latin typeface="Montserrat"/>
              </a:rPr>
              <a:t>внутреннего состояние и онтологических аспектов представления знаний;</a:t>
            </a:r>
          </a:p>
          <a:p>
            <a:pPr marL="800100" lvl="1" indent="-342900" algn="just">
              <a:buFont typeface="Wingdings" panose="05000000000000000000" pitchFamily="2" charset="2"/>
              <a:buChar char="§"/>
            </a:pPr>
            <a:r>
              <a:rPr lang="ru-RU" sz="2000" spc="-1" dirty="0">
                <a:solidFill>
                  <a:srgbClr val="262626"/>
                </a:solidFill>
                <a:latin typeface="Montserrat"/>
              </a:rPr>
              <a:t>протоколы взаимодействия –</a:t>
            </a:r>
            <a:r>
              <a:rPr lang="ru-RU" sz="2000" spc="-1" dirty="0" smtClean="0">
                <a:solidFill>
                  <a:srgbClr val="262626"/>
                </a:solidFill>
                <a:latin typeface="Montserrat"/>
              </a:rPr>
              <a:t> </a:t>
            </a:r>
            <a:r>
              <a:rPr lang="ru-RU" sz="2000" spc="-1" dirty="0">
                <a:solidFill>
                  <a:srgbClr val="262626"/>
                </a:solidFill>
                <a:latin typeface="Montserrat"/>
              </a:rPr>
              <a:t>стандарты для определения связей агентов</a:t>
            </a:r>
            <a:r>
              <a:rPr lang="ru-RU" sz="2000" spc="-1" dirty="0" smtClean="0">
                <a:solidFill>
                  <a:srgbClr val="262626"/>
                </a:solidFill>
                <a:latin typeface="Montserrat"/>
              </a:rPr>
              <a:t>.</a:t>
            </a:r>
            <a:endParaRPr lang="ru-RU" sz="2000" spc="-1" dirty="0">
              <a:solidFill>
                <a:srgbClr val="262626"/>
              </a:solidFill>
              <a:latin typeface="Montserrat"/>
            </a:endParaRPr>
          </a:p>
        </p:txBody>
      </p:sp>
    </p:spTree>
    <p:extLst>
      <p:ext uri="{BB962C8B-B14F-4D97-AF65-F5344CB8AC3E}">
        <p14:creationId xmlns:p14="http://schemas.microsoft.com/office/powerpoint/2010/main" val="2232575369"/>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err="1">
                <a:solidFill>
                  <a:srgbClr val="004892"/>
                </a:solidFill>
                <a:latin typeface="Montserrat"/>
              </a:rPr>
              <a:t>Мультиагентная</a:t>
            </a:r>
            <a:r>
              <a:rPr lang="ru-RU" sz="3600" spc="-1" dirty="0">
                <a:solidFill>
                  <a:srgbClr val="004892"/>
                </a:solidFill>
                <a:latin typeface="Montserrat"/>
              </a:rPr>
              <a:t> система</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Системные агенты</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a:solidFill>
                  <a:srgbClr val="262626"/>
                </a:solidFill>
                <a:latin typeface="Montserrat"/>
              </a:rPr>
              <a:t>Системные агенты используются для моделирования реальных мировых систем с исчислением процессов и параллельной обработкой.</a:t>
            </a: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Машинные </a:t>
            </a:r>
            <a:r>
              <a:rPr lang="ru-RU" sz="2000" spc="-1" dirty="0">
                <a:solidFill>
                  <a:srgbClr val="262626"/>
                </a:solidFill>
                <a:latin typeface="Montserrat"/>
              </a:rPr>
              <a:t>агенты –</a:t>
            </a:r>
            <a:r>
              <a:rPr lang="ru-RU" sz="2000" spc="-1" dirty="0" smtClean="0">
                <a:solidFill>
                  <a:srgbClr val="262626"/>
                </a:solidFill>
                <a:latin typeface="Montserrat"/>
              </a:rPr>
              <a:t> </a:t>
            </a:r>
            <a:r>
              <a:rPr lang="ru-RU" sz="2000" spc="-1" dirty="0">
                <a:solidFill>
                  <a:srgbClr val="262626"/>
                </a:solidFill>
                <a:latin typeface="Montserrat"/>
              </a:rPr>
              <a:t>различного вида движки, имеющие разную степень интеллектуальности.</a:t>
            </a: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Контентные агенты –</a:t>
            </a:r>
            <a:r>
              <a:rPr lang="ru-RU" sz="2000" spc="-1" dirty="0" smtClean="0">
                <a:solidFill>
                  <a:srgbClr val="262626"/>
                </a:solidFill>
                <a:latin typeface="Montserrat"/>
              </a:rPr>
              <a:t> </a:t>
            </a:r>
            <a:r>
              <a:rPr lang="ru-RU" sz="2000" spc="-1" dirty="0">
                <a:solidFill>
                  <a:srgbClr val="262626"/>
                </a:solidFill>
                <a:latin typeface="Montserrat"/>
              </a:rPr>
              <a:t>данные, используемые движками в системах логического вывода и обучения.</a:t>
            </a: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Агенты доступа –</a:t>
            </a:r>
            <a:r>
              <a:rPr lang="ru-RU" sz="2000" spc="-1" dirty="0" smtClean="0">
                <a:solidFill>
                  <a:srgbClr val="262626"/>
                </a:solidFill>
                <a:latin typeface="Montserrat"/>
              </a:rPr>
              <a:t> </a:t>
            </a:r>
            <a:r>
              <a:rPr lang="ru-RU" sz="2000" spc="-1" dirty="0">
                <a:solidFill>
                  <a:srgbClr val="262626"/>
                </a:solidFill>
                <a:latin typeface="Montserrat"/>
              </a:rPr>
              <a:t>методы, обеспечивающие движкам восприятие контента и выполнение действий, являющихся результатом логического вывода.</a:t>
            </a: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Агенты безопасности –</a:t>
            </a:r>
            <a:r>
              <a:rPr lang="ru-RU" sz="2000" spc="-1" dirty="0" smtClean="0">
                <a:solidFill>
                  <a:srgbClr val="262626"/>
                </a:solidFill>
                <a:latin typeface="Montserrat"/>
              </a:rPr>
              <a:t> </a:t>
            </a:r>
            <a:r>
              <a:rPr lang="ru-RU" sz="2000" spc="-1" dirty="0">
                <a:solidFill>
                  <a:srgbClr val="262626"/>
                </a:solidFill>
                <a:latin typeface="Montserrat"/>
              </a:rPr>
              <a:t>гаджеты, связанные с </a:t>
            </a:r>
            <a:r>
              <a:rPr lang="ru-RU" sz="2000" spc="-1" dirty="0" smtClean="0">
                <a:solidFill>
                  <a:srgbClr val="262626"/>
                </a:solidFill>
                <a:latin typeface="Montserrat"/>
              </a:rPr>
              <a:t>распределенными </a:t>
            </a:r>
            <a:r>
              <a:rPr lang="ru-RU" sz="2000" spc="-1" dirty="0">
                <a:solidFill>
                  <a:srgbClr val="262626"/>
                </a:solidFill>
                <a:latin typeface="Montserrat"/>
              </a:rPr>
              <a:t>вычислениями, дополненные несколькими специальными свойствами, связанными с </a:t>
            </a:r>
            <a:r>
              <a:rPr lang="ru-RU" sz="2000" spc="-1" dirty="0" err="1">
                <a:solidFill>
                  <a:srgbClr val="262626"/>
                </a:solidFill>
                <a:latin typeface="Montserrat"/>
              </a:rPr>
              <a:t>агентным</a:t>
            </a:r>
            <a:r>
              <a:rPr lang="ru-RU" sz="2000" spc="-1" dirty="0">
                <a:solidFill>
                  <a:srgbClr val="262626"/>
                </a:solidFill>
                <a:latin typeface="Montserrat"/>
              </a:rPr>
              <a:t> подходом.</a:t>
            </a:r>
          </a:p>
        </p:txBody>
      </p:sp>
    </p:spTree>
    <p:extLst>
      <p:ext uri="{BB962C8B-B14F-4D97-AF65-F5344CB8AC3E}">
        <p14:creationId xmlns:p14="http://schemas.microsoft.com/office/powerpoint/2010/main" val="3595492079"/>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err="1">
                <a:solidFill>
                  <a:srgbClr val="004892"/>
                </a:solidFill>
                <a:latin typeface="Montserrat"/>
              </a:rPr>
              <a:t>Мультиагентная</a:t>
            </a:r>
            <a:r>
              <a:rPr lang="ru-RU" sz="3600" spc="-1" dirty="0">
                <a:solidFill>
                  <a:srgbClr val="004892"/>
                </a:solidFill>
                <a:latin typeface="Montserrat"/>
              </a:rPr>
              <a:t> система</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Изучаемые </a:t>
            </a:r>
            <a:r>
              <a:rPr lang="ru-RU" sz="2000" spc="-1" dirty="0" err="1" smtClean="0">
                <a:solidFill>
                  <a:srgbClr val="004892"/>
                </a:solidFill>
                <a:latin typeface="Montserrat Bold"/>
              </a:rPr>
              <a:t>дисцпилны</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smtClean="0">
                <a:solidFill>
                  <a:srgbClr val="262626"/>
                </a:solidFill>
                <a:latin typeface="Montserrat"/>
              </a:rPr>
              <a:t>В рамках разработки АОС от разработчика потребуются знания сразу по нескольким дисциплинам:</a:t>
            </a:r>
            <a:endParaRPr lang="ru-RU" sz="2000" spc="-1" dirty="0">
              <a:solidFill>
                <a:srgbClr val="262626"/>
              </a:solidFill>
              <a:latin typeface="Montserrat"/>
            </a:endParaRP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искусственный интеллект;</a:t>
            </a: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разработка ПО;</a:t>
            </a: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распределенные системы;</a:t>
            </a: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робототехника и </a:t>
            </a:r>
            <a:r>
              <a:rPr lang="ru-RU" sz="2000" spc="-1" dirty="0" err="1" smtClean="0">
                <a:solidFill>
                  <a:srgbClr val="262626"/>
                </a:solidFill>
                <a:latin typeface="Montserrat"/>
              </a:rPr>
              <a:t>наномеханизмы</a:t>
            </a:r>
            <a:r>
              <a:rPr lang="ru-RU" sz="2000" spc="-1" dirty="0" smtClean="0">
                <a:solidFill>
                  <a:srgbClr val="262626"/>
                </a:solidFill>
                <a:latin typeface="Montserrat"/>
              </a:rPr>
              <a:t>;</a:t>
            </a:r>
            <a:endParaRPr lang="ru-RU" sz="2000" spc="-1" dirty="0">
              <a:solidFill>
                <a:srgbClr val="262626"/>
              </a:solidFill>
              <a:latin typeface="Montserrat"/>
            </a:endParaRP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экономика;</a:t>
            </a: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психология и прочие </a:t>
            </a:r>
            <a:r>
              <a:rPr lang="ru-RU" sz="2000" spc="-1" dirty="0" smtClean="0">
                <a:solidFill>
                  <a:srgbClr val="262626"/>
                </a:solidFill>
                <a:latin typeface="Montserrat"/>
              </a:rPr>
              <a:t>социальные </a:t>
            </a:r>
            <a:r>
              <a:rPr lang="ru-RU" sz="2000" spc="-1" dirty="0">
                <a:solidFill>
                  <a:srgbClr val="262626"/>
                </a:solidFill>
                <a:latin typeface="Montserrat"/>
              </a:rPr>
              <a:t>науки.</a:t>
            </a:r>
          </a:p>
        </p:txBody>
      </p:sp>
    </p:spTree>
    <p:extLst>
      <p:ext uri="{BB962C8B-B14F-4D97-AF65-F5344CB8AC3E}">
        <p14:creationId xmlns:p14="http://schemas.microsoft.com/office/powerpoint/2010/main" val="3313099988"/>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extShape 1"/>
          <p:cNvSpPr txBox="1"/>
          <p:nvPr/>
        </p:nvSpPr>
        <p:spPr>
          <a:xfrm>
            <a:off x="581040" y="800280"/>
            <a:ext cx="8048160" cy="2297160"/>
          </a:xfrm>
          <a:prstGeom prst="rect">
            <a:avLst/>
          </a:prstGeom>
          <a:noFill/>
          <a:ln>
            <a:noFill/>
          </a:ln>
        </p:spPr>
        <p:txBody>
          <a:bodyPr>
            <a:noAutofit/>
          </a:bodyPr>
          <a:lstStyle/>
          <a:p>
            <a:pPr>
              <a:lnSpc>
                <a:spcPct val="100000"/>
              </a:lnSpc>
            </a:pPr>
            <a:r>
              <a:rPr lang="ru-RU" sz="4800" b="0" strike="noStrike" spc="-1">
                <a:solidFill>
                  <a:srgbClr val="004892"/>
                </a:solidFill>
                <a:latin typeface="Montserrat Bold"/>
              </a:rPr>
              <a:t>Спасибо за внимание!</a:t>
            </a:r>
            <a:endParaRPr lang="en-US" sz="4800" b="0" strike="noStrike" spc="-1">
              <a:solidFill>
                <a:srgbClr val="000000"/>
              </a:solidFill>
              <a:latin typeface="Geometria light"/>
            </a:endParaRPr>
          </a:p>
        </p:txBody>
      </p:sp>
      <p:sp>
        <p:nvSpPr>
          <p:cNvPr id="103" name="CustomShape 2"/>
          <p:cNvSpPr/>
          <p:nvPr/>
        </p:nvSpPr>
        <p:spPr>
          <a:xfrm>
            <a:off x="0" y="6862680"/>
            <a:ext cx="10691280" cy="45864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en-US" sz="1600" b="0" strike="noStrike" spc="-1" dirty="0" smtClean="0">
                <a:solidFill>
                  <a:srgbClr val="173277"/>
                </a:solidFill>
                <a:latin typeface="Montserrat"/>
              </a:rPr>
              <a:t>2022</a:t>
            </a:r>
            <a:endParaRPr lang="en-US" sz="1600" b="0" strike="noStrike" spc="-1" dirty="0">
              <a:latin typeface="Arial"/>
            </a:endParaRPr>
          </a:p>
        </p:txBody>
      </p:sp>
      <p:pic>
        <p:nvPicPr>
          <p:cNvPr id="104" name="Рисунок 2"/>
          <p:cNvPicPr/>
          <p:nvPr/>
        </p:nvPicPr>
        <p:blipFill>
          <a:blip r:embed="rId2"/>
          <a:stretch/>
        </p:blipFill>
        <p:spPr>
          <a:xfrm>
            <a:off x="4115160" y="5178600"/>
            <a:ext cx="2232360" cy="1426680"/>
          </a:xfrm>
          <a:prstGeom prst="rect">
            <a:avLst/>
          </a:prstGeom>
          <a:ln>
            <a:noFill/>
          </a:ln>
        </p:spPr>
      </p:pic>
      <p:sp>
        <p:nvSpPr>
          <p:cNvPr id="105" name="CustomShape 3"/>
          <p:cNvSpPr/>
          <p:nvPr/>
        </p:nvSpPr>
        <p:spPr>
          <a:xfrm>
            <a:off x="581040" y="1833480"/>
            <a:ext cx="8048160" cy="229716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b="0" strike="noStrike" spc="-1" dirty="0">
                <a:solidFill>
                  <a:srgbClr val="004892"/>
                </a:solidFill>
                <a:latin typeface="Montserrat"/>
              </a:rPr>
              <a:t>Рады видеть Вас на наших мероприятиях!</a:t>
            </a:r>
            <a:endParaRPr lang="en-US" sz="2000" b="0" strike="noStrike" spc="-1" dirty="0">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noFill/>
        </a:ln>
      </a:spPr>
      <a:bodyPr>
        <a:noAutofit/>
      </a:bodyPr>
      <a:lstStyle>
        <a:defPPr>
          <a:lnSpc>
            <a:spcPct val="100000"/>
          </a:lnSpc>
          <a:defRPr sz="1400" b="0" strike="noStrike" spc="-1">
            <a:solidFill>
              <a:srgbClr val="004892"/>
            </a:solidFill>
            <a:latin typeface="Montserrat"/>
          </a:defRPr>
        </a:defPPr>
      </a:lstStyle>
      <a:style>
        <a:lnRef idx="0">
          <a:scrgbClr r="0" g="0" b="0"/>
        </a:lnRef>
        <a:fillRef idx="0">
          <a:scrgbClr r="0" g="0" b="0"/>
        </a:fillRef>
        <a:effectRef idx="0">
          <a:scrgbClr r="0" g="0" b="0"/>
        </a:effectRef>
        <a:fontRef idx="minor"/>
      </a: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4833</TotalTime>
  <Words>3728</Words>
  <Application>Microsoft Office PowerPoint</Application>
  <PresentationFormat>Custom</PresentationFormat>
  <Paragraphs>345</Paragraphs>
  <Slides>50</Slides>
  <Notes>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50</vt:i4>
      </vt:variant>
    </vt:vector>
  </HeadingPairs>
  <TitlesOfParts>
    <vt:vector size="61" baseType="lpstr">
      <vt:lpstr>Arial</vt:lpstr>
      <vt:lpstr>Calibri</vt:lpstr>
      <vt:lpstr>DejaVu Sans</vt:lpstr>
      <vt:lpstr>Geometria  bold</vt:lpstr>
      <vt:lpstr>Geometria light</vt:lpstr>
      <vt:lpstr>Montserrat</vt:lpstr>
      <vt:lpstr>Montserrat Bold</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Результаты приемной  кампании - 2019</dc:title>
  <dc:subject/>
  <dc:creator>afsafasfasfa afafaf</dc:creator>
  <dc:description/>
  <cp:lastModifiedBy>Evgenii Egov</cp:lastModifiedBy>
  <cp:revision>462</cp:revision>
  <dcterms:created xsi:type="dcterms:W3CDTF">2019-09-16T12:04:13Z</dcterms:created>
  <dcterms:modified xsi:type="dcterms:W3CDTF">2022-10-08T05:11:42Z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0</vt:i4>
  </property>
  <property fmtid="{D5CDD505-2E9C-101B-9397-08002B2CF9AE}" pid="8" name="PresentationFormat">
    <vt:lpwstr>Произвольный</vt:lpwstr>
  </property>
  <property fmtid="{D5CDD505-2E9C-101B-9397-08002B2CF9AE}" pid="9" name="ScaleCrop">
    <vt:bool>false</vt:bool>
  </property>
  <property fmtid="{D5CDD505-2E9C-101B-9397-08002B2CF9AE}" pid="10" name="ShareDoc">
    <vt:bool>false</vt:bool>
  </property>
  <property fmtid="{D5CDD505-2E9C-101B-9397-08002B2CF9AE}" pid="11" name="Slides">
    <vt:i4>5</vt:i4>
  </property>
</Properties>
</file>