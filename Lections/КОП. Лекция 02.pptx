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7"/>
  </p:notesMasterIdLst>
  <p:sldIdLst>
    <p:sldId id="256" r:id="rId2"/>
    <p:sldId id="269" r:id="rId3"/>
    <p:sldId id="271" r:id="rId4"/>
    <p:sldId id="303" r:id="rId5"/>
    <p:sldId id="301" r:id="rId6"/>
    <p:sldId id="302" r:id="rId7"/>
    <p:sldId id="317" r:id="rId8"/>
    <p:sldId id="304" r:id="rId9"/>
    <p:sldId id="307" r:id="rId10"/>
    <p:sldId id="305" r:id="rId11"/>
    <p:sldId id="306" r:id="rId12"/>
    <p:sldId id="309" r:id="rId13"/>
    <p:sldId id="310" r:id="rId14"/>
    <p:sldId id="313" r:id="rId15"/>
    <p:sldId id="314" r:id="rId16"/>
    <p:sldId id="318" r:id="rId17"/>
    <p:sldId id="319" r:id="rId18"/>
    <p:sldId id="320" r:id="rId19"/>
    <p:sldId id="321" r:id="rId20"/>
    <p:sldId id="311" r:id="rId21"/>
    <p:sldId id="312" r:id="rId22"/>
    <p:sldId id="322" r:id="rId23"/>
    <p:sldId id="323" r:id="rId24"/>
    <p:sldId id="324" r:id="rId25"/>
    <p:sldId id="260" r:id="rId26"/>
  </p:sldIdLst>
  <p:sldSz cx="10691813" cy="7559675"/>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Введение" id="{5D9F7A72-7903-4791-9B02-03B0CC4EBD96}">
          <p14:sldIdLst>
            <p14:sldId id="256"/>
          </p14:sldIdLst>
        </p14:section>
        <p14:section name="Прототипно-ориентированный подход" id="{E08CC9DD-223C-4625-B723-68B607D9346D}">
          <p14:sldIdLst>
            <p14:sldId id="269"/>
            <p14:sldId id="271"/>
            <p14:sldId id="303"/>
            <p14:sldId id="301"/>
            <p14:sldId id="302"/>
            <p14:sldId id="317"/>
            <p14:sldId id="304"/>
            <p14:sldId id="307"/>
            <p14:sldId id="305"/>
            <p14:sldId id="306"/>
            <p14:sldId id="309"/>
          </p14:sldIdLst>
        </p14:section>
        <p14:section name="Контроль типов" id="{0C2F49B5-195A-4AA7-8D76-1D67E2735A25}">
          <p14:sldIdLst>
            <p14:sldId id="310"/>
            <p14:sldId id="313"/>
            <p14:sldId id="314"/>
            <p14:sldId id="318"/>
            <p14:sldId id="319"/>
            <p14:sldId id="320"/>
            <p14:sldId id="321"/>
            <p14:sldId id="311"/>
            <p14:sldId id="312"/>
            <p14:sldId id="322"/>
            <p14:sldId id="323"/>
            <p14:sldId id="324"/>
          </p14:sldIdLst>
        </p14:section>
        <p14:section name="Завершение" id="{57706748-57AD-45AB-9FB3-1B9A00E91AB5}">
          <p14:sldIdLst>
            <p14:sldId id="26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92" autoAdjust="0"/>
    <p:restoredTop sz="94660"/>
  </p:normalViewPr>
  <p:slideViewPr>
    <p:cSldViewPr snapToGrid="0">
      <p:cViewPr varScale="1">
        <p:scale>
          <a:sx n="99" d="100"/>
          <a:sy n="99" d="100"/>
        </p:scale>
        <p:origin x="143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43B9156D-793D-4199-AAB2-E661653C6D60}" type="datetimeFigureOut">
              <a:rPr lang="en-US" smtClean="0"/>
              <a:t>10/4/2022</a:t>
            </a:fld>
            <a:endParaRPr lang="en-US"/>
          </a:p>
        </p:txBody>
      </p:sp>
      <p:sp>
        <p:nvSpPr>
          <p:cNvPr id="4" name="Slide Image Placeholder 3"/>
          <p:cNvSpPr>
            <a:spLocks noGrp="1" noRot="1" noChangeAspect="1"/>
          </p:cNvSpPr>
          <p:nvPr>
            <p:ph type="sldImg" idx="2"/>
          </p:nvPr>
        </p:nvSpPr>
        <p:spPr>
          <a:xfrm>
            <a:off x="1228725" y="1336675"/>
            <a:ext cx="5102225" cy="36083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E10D884F-4143-43AF-878B-33CC48EE52DB}" type="slidenum">
              <a:rPr lang="en-US" smtClean="0"/>
              <a:t>‹#›</a:t>
            </a:fld>
            <a:endParaRPr lang="en-US"/>
          </a:p>
        </p:txBody>
      </p:sp>
    </p:spTree>
    <p:extLst>
      <p:ext uri="{BB962C8B-B14F-4D97-AF65-F5344CB8AC3E}">
        <p14:creationId xmlns:p14="http://schemas.microsoft.com/office/powerpoint/2010/main" val="35476587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10D884F-4143-43AF-878B-33CC48EE52DB}" type="slidenum">
              <a:rPr lang="en-US" smtClean="0"/>
              <a:t>7</a:t>
            </a:fld>
            <a:endParaRPr lang="en-US"/>
          </a:p>
        </p:txBody>
      </p:sp>
    </p:spTree>
    <p:extLst>
      <p:ext uri="{BB962C8B-B14F-4D97-AF65-F5344CB8AC3E}">
        <p14:creationId xmlns:p14="http://schemas.microsoft.com/office/powerpoint/2010/main" val="3705416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10D884F-4143-43AF-878B-33CC48EE52DB}" type="slidenum">
              <a:rPr lang="en-US" smtClean="0"/>
              <a:t>9</a:t>
            </a:fld>
            <a:endParaRPr lang="en-US"/>
          </a:p>
        </p:txBody>
      </p:sp>
    </p:spTree>
    <p:extLst>
      <p:ext uri="{BB962C8B-B14F-4D97-AF65-F5344CB8AC3E}">
        <p14:creationId xmlns:p14="http://schemas.microsoft.com/office/powerpoint/2010/main" val="36302543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801720" y="1237320"/>
            <a:ext cx="9087840" cy="2631600"/>
          </a:xfrm>
          <a:prstGeom prst="rect">
            <a:avLst/>
          </a:prstGeom>
        </p:spPr>
        <p:txBody>
          <a:bodyPr lIns="0" tIns="0" rIns="0" bIns="0" anchor="ctr">
            <a:noAutofit/>
          </a:bodyPr>
          <a:lstStyle/>
          <a:p>
            <a:endParaRPr lang="en-US" sz="1800" b="0" strike="noStrike" spc="-1">
              <a:solidFill>
                <a:srgbClr val="000000"/>
              </a:solidFill>
              <a:latin typeface="Geometria light"/>
            </a:endParaRPr>
          </a:p>
        </p:txBody>
      </p:sp>
      <p:sp>
        <p:nvSpPr>
          <p:cNvPr id="6" name="PlaceHolder 2"/>
          <p:cNvSpPr>
            <a:spLocks noGrp="1"/>
          </p:cNvSpPr>
          <p:nvPr>
            <p:ph type="subTitle"/>
          </p:nvPr>
        </p:nvSpPr>
        <p:spPr>
          <a:xfrm>
            <a:off x="534240" y="1768680"/>
            <a:ext cx="9622080" cy="438408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801720" y="1237320"/>
            <a:ext cx="9087840" cy="2631600"/>
          </a:xfrm>
          <a:prstGeom prst="rect">
            <a:avLst/>
          </a:prstGeom>
        </p:spPr>
        <p:txBody>
          <a:bodyPr lIns="0" tIns="0" rIns="0" bIns="0" anchor="ctr">
            <a:noAutofit/>
          </a:bodyPr>
          <a:lstStyle/>
          <a:p>
            <a:endParaRPr lang="en-US" sz="1800" b="0" strike="noStrike" spc="-1">
              <a:solidFill>
                <a:srgbClr val="000000"/>
              </a:solidFill>
              <a:latin typeface="Geometria light"/>
            </a:endParaRPr>
          </a:p>
        </p:txBody>
      </p:sp>
      <p:sp>
        <p:nvSpPr>
          <p:cNvPr id="8" name="PlaceHolder 2"/>
          <p:cNvSpPr>
            <a:spLocks noGrp="1"/>
          </p:cNvSpPr>
          <p:nvPr>
            <p:ph type="body"/>
          </p:nvPr>
        </p:nvSpPr>
        <p:spPr>
          <a:xfrm>
            <a:off x="534240" y="1768680"/>
            <a:ext cx="9622080" cy="4384080"/>
          </a:xfrm>
          <a:prstGeom prst="rect">
            <a:avLst/>
          </a:prstGeom>
        </p:spPr>
        <p:txBody>
          <a:bodyPr lIns="0" tIns="0" rIns="0" bIns="0">
            <a:normAutofit/>
          </a:bodyPr>
          <a:lstStyle/>
          <a:p>
            <a:endParaRPr lang="en-US" sz="3090" b="0" strike="noStrike" spc="-1">
              <a:solidFill>
                <a:srgbClr val="000000"/>
              </a:solidFill>
              <a:latin typeface="Geometria light"/>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801720" y="1237320"/>
            <a:ext cx="9087840" cy="2631600"/>
          </a:xfrm>
          <a:prstGeom prst="rect">
            <a:avLst/>
          </a:prstGeom>
        </p:spPr>
        <p:txBody>
          <a:bodyPr lIns="0" tIns="0" rIns="0" bIns="0" anchor="ctr">
            <a:noAutofit/>
          </a:bodyPr>
          <a:lstStyle/>
          <a:p>
            <a:endParaRPr lang="en-US" sz="1800" b="0" strike="noStrike" spc="-1">
              <a:solidFill>
                <a:srgbClr val="000000"/>
              </a:solidFill>
              <a:latin typeface="Geometria light"/>
            </a:endParaRPr>
          </a:p>
        </p:txBody>
      </p:sp>
      <p:sp>
        <p:nvSpPr>
          <p:cNvPr id="10" name="PlaceHolder 2"/>
          <p:cNvSpPr>
            <a:spLocks noGrp="1"/>
          </p:cNvSpPr>
          <p:nvPr>
            <p:ph type="body"/>
          </p:nvPr>
        </p:nvSpPr>
        <p:spPr>
          <a:xfrm>
            <a:off x="534240" y="1768680"/>
            <a:ext cx="4695480" cy="4384080"/>
          </a:xfrm>
          <a:prstGeom prst="rect">
            <a:avLst/>
          </a:prstGeom>
        </p:spPr>
        <p:txBody>
          <a:bodyPr lIns="0" tIns="0" rIns="0" bIns="0">
            <a:normAutofit/>
          </a:bodyPr>
          <a:lstStyle/>
          <a:p>
            <a:endParaRPr lang="en-US" sz="3090" b="0" strike="noStrike" spc="-1">
              <a:solidFill>
                <a:srgbClr val="000000"/>
              </a:solidFill>
              <a:latin typeface="Geometria light"/>
            </a:endParaRPr>
          </a:p>
        </p:txBody>
      </p:sp>
      <p:sp>
        <p:nvSpPr>
          <p:cNvPr id="11" name="PlaceHolder 3"/>
          <p:cNvSpPr>
            <a:spLocks noGrp="1"/>
          </p:cNvSpPr>
          <p:nvPr>
            <p:ph type="body"/>
          </p:nvPr>
        </p:nvSpPr>
        <p:spPr>
          <a:xfrm>
            <a:off x="5464800" y="1768680"/>
            <a:ext cx="4695480" cy="4384080"/>
          </a:xfrm>
          <a:prstGeom prst="rect">
            <a:avLst/>
          </a:prstGeom>
        </p:spPr>
        <p:txBody>
          <a:bodyPr lIns="0" tIns="0" rIns="0" bIns="0">
            <a:normAutofit/>
          </a:bodyPr>
          <a:lstStyle/>
          <a:p>
            <a:endParaRPr lang="en-US" sz="3090" b="0" strike="noStrike" spc="-1">
              <a:solidFill>
                <a:srgbClr val="000000"/>
              </a:solidFill>
              <a:latin typeface="Geometria light"/>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801720" y="1237320"/>
            <a:ext cx="9087840" cy="2631600"/>
          </a:xfrm>
          <a:prstGeom prst="rect">
            <a:avLst/>
          </a:prstGeom>
        </p:spPr>
        <p:txBody>
          <a:bodyPr lIns="0" tIns="0" rIns="0" bIns="0" anchor="ctr">
            <a:noAutofit/>
          </a:bodyPr>
          <a:lstStyle/>
          <a:p>
            <a:endParaRPr lang="en-US" sz="1800" b="0" strike="noStrike" spc="-1">
              <a:solidFill>
                <a:srgbClr val="000000"/>
              </a:solidFill>
              <a:latin typeface="Geometria light"/>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801720" y="1237320"/>
            <a:ext cx="9087840" cy="1219968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801720" y="1237320"/>
            <a:ext cx="9087840" cy="2631600"/>
          </a:xfrm>
          <a:prstGeom prst="rect">
            <a:avLst/>
          </a:prstGeom>
        </p:spPr>
        <p:txBody>
          <a:bodyPr lIns="0" tIns="0" rIns="0" bIns="0" anchor="ctr">
            <a:noAutofit/>
          </a:bodyPr>
          <a:lstStyle/>
          <a:p>
            <a:endParaRPr lang="en-US" sz="1800" b="0" strike="noStrike" spc="-1">
              <a:solidFill>
                <a:srgbClr val="000000"/>
              </a:solidFill>
              <a:latin typeface="Geometria light"/>
            </a:endParaRPr>
          </a:p>
        </p:txBody>
      </p:sp>
      <p:sp>
        <p:nvSpPr>
          <p:cNvPr id="15" name="PlaceHolder 2"/>
          <p:cNvSpPr>
            <a:spLocks noGrp="1"/>
          </p:cNvSpPr>
          <p:nvPr>
            <p:ph type="body"/>
          </p:nvPr>
        </p:nvSpPr>
        <p:spPr>
          <a:xfrm>
            <a:off x="534240" y="1768680"/>
            <a:ext cx="4695480" cy="2090880"/>
          </a:xfrm>
          <a:prstGeom prst="rect">
            <a:avLst/>
          </a:prstGeom>
        </p:spPr>
        <p:txBody>
          <a:bodyPr lIns="0" tIns="0" rIns="0" bIns="0">
            <a:normAutofit/>
          </a:bodyPr>
          <a:lstStyle/>
          <a:p>
            <a:endParaRPr lang="en-US" sz="3090" b="0" strike="noStrike" spc="-1">
              <a:solidFill>
                <a:srgbClr val="000000"/>
              </a:solidFill>
              <a:latin typeface="Geometria light"/>
            </a:endParaRPr>
          </a:p>
        </p:txBody>
      </p:sp>
      <p:sp>
        <p:nvSpPr>
          <p:cNvPr id="16" name="PlaceHolder 3"/>
          <p:cNvSpPr>
            <a:spLocks noGrp="1"/>
          </p:cNvSpPr>
          <p:nvPr>
            <p:ph type="body"/>
          </p:nvPr>
        </p:nvSpPr>
        <p:spPr>
          <a:xfrm>
            <a:off x="5464800" y="1768680"/>
            <a:ext cx="4695480" cy="4384080"/>
          </a:xfrm>
          <a:prstGeom prst="rect">
            <a:avLst/>
          </a:prstGeom>
        </p:spPr>
        <p:txBody>
          <a:bodyPr lIns="0" tIns="0" rIns="0" bIns="0">
            <a:normAutofit/>
          </a:bodyPr>
          <a:lstStyle/>
          <a:p>
            <a:endParaRPr lang="en-US" sz="3090" b="0" strike="noStrike" spc="-1">
              <a:solidFill>
                <a:srgbClr val="000000"/>
              </a:solidFill>
              <a:latin typeface="Geometria light"/>
            </a:endParaRPr>
          </a:p>
        </p:txBody>
      </p:sp>
      <p:sp>
        <p:nvSpPr>
          <p:cNvPr id="17" name="PlaceHolder 4"/>
          <p:cNvSpPr>
            <a:spLocks noGrp="1"/>
          </p:cNvSpPr>
          <p:nvPr>
            <p:ph type="body"/>
          </p:nvPr>
        </p:nvSpPr>
        <p:spPr>
          <a:xfrm>
            <a:off x="534240" y="4058640"/>
            <a:ext cx="4695480" cy="2090880"/>
          </a:xfrm>
          <a:prstGeom prst="rect">
            <a:avLst/>
          </a:prstGeom>
        </p:spPr>
        <p:txBody>
          <a:bodyPr lIns="0" tIns="0" rIns="0" bIns="0">
            <a:normAutofit/>
          </a:bodyPr>
          <a:lstStyle/>
          <a:p>
            <a:endParaRPr lang="en-US" sz="3090" b="0" strike="noStrike" spc="-1">
              <a:solidFill>
                <a:srgbClr val="000000"/>
              </a:solidFill>
              <a:latin typeface="Geometria light"/>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801720" y="1237320"/>
            <a:ext cx="9087840" cy="2631600"/>
          </a:xfrm>
          <a:prstGeom prst="rect">
            <a:avLst/>
          </a:prstGeom>
        </p:spPr>
        <p:txBody>
          <a:bodyPr lIns="0" tIns="0" rIns="0" bIns="0" anchor="ctr">
            <a:noAutofit/>
          </a:bodyPr>
          <a:lstStyle/>
          <a:p>
            <a:endParaRPr lang="en-US" sz="1800" b="0" strike="noStrike" spc="-1">
              <a:solidFill>
                <a:srgbClr val="000000"/>
              </a:solidFill>
              <a:latin typeface="Geometria light"/>
            </a:endParaRPr>
          </a:p>
        </p:txBody>
      </p:sp>
      <p:sp>
        <p:nvSpPr>
          <p:cNvPr id="19" name="PlaceHolder 2"/>
          <p:cNvSpPr>
            <a:spLocks noGrp="1"/>
          </p:cNvSpPr>
          <p:nvPr>
            <p:ph type="body"/>
          </p:nvPr>
        </p:nvSpPr>
        <p:spPr>
          <a:xfrm>
            <a:off x="534240" y="1768680"/>
            <a:ext cx="4695480" cy="4384080"/>
          </a:xfrm>
          <a:prstGeom prst="rect">
            <a:avLst/>
          </a:prstGeom>
        </p:spPr>
        <p:txBody>
          <a:bodyPr lIns="0" tIns="0" rIns="0" bIns="0">
            <a:normAutofit/>
          </a:bodyPr>
          <a:lstStyle/>
          <a:p>
            <a:endParaRPr lang="en-US" sz="3090" b="0" strike="noStrike" spc="-1">
              <a:solidFill>
                <a:srgbClr val="000000"/>
              </a:solidFill>
              <a:latin typeface="Geometria light"/>
            </a:endParaRPr>
          </a:p>
        </p:txBody>
      </p:sp>
      <p:sp>
        <p:nvSpPr>
          <p:cNvPr id="20" name="PlaceHolder 3"/>
          <p:cNvSpPr>
            <a:spLocks noGrp="1"/>
          </p:cNvSpPr>
          <p:nvPr>
            <p:ph type="body"/>
          </p:nvPr>
        </p:nvSpPr>
        <p:spPr>
          <a:xfrm>
            <a:off x="5464800" y="1768680"/>
            <a:ext cx="4695480" cy="2090880"/>
          </a:xfrm>
          <a:prstGeom prst="rect">
            <a:avLst/>
          </a:prstGeom>
        </p:spPr>
        <p:txBody>
          <a:bodyPr lIns="0" tIns="0" rIns="0" bIns="0">
            <a:normAutofit/>
          </a:bodyPr>
          <a:lstStyle/>
          <a:p>
            <a:endParaRPr lang="en-US" sz="3090" b="0" strike="noStrike" spc="-1">
              <a:solidFill>
                <a:srgbClr val="000000"/>
              </a:solidFill>
              <a:latin typeface="Geometria light"/>
            </a:endParaRPr>
          </a:p>
        </p:txBody>
      </p:sp>
      <p:sp>
        <p:nvSpPr>
          <p:cNvPr id="21" name="PlaceHolder 4"/>
          <p:cNvSpPr>
            <a:spLocks noGrp="1"/>
          </p:cNvSpPr>
          <p:nvPr>
            <p:ph type="body"/>
          </p:nvPr>
        </p:nvSpPr>
        <p:spPr>
          <a:xfrm>
            <a:off x="5464800" y="4058640"/>
            <a:ext cx="4695480" cy="2090880"/>
          </a:xfrm>
          <a:prstGeom prst="rect">
            <a:avLst/>
          </a:prstGeom>
        </p:spPr>
        <p:txBody>
          <a:bodyPr lIns="0" tIns="0" rIns="0" bIns="0">
            <a:normAutofit/>
          </a:bodyPr>
          <a:lstStyle/>
          <a:p>
            <a:endParaRPr lang="en-US" sz="3090" b="0" strike="noStrike" spc="-1">
              <a:solidFill>
                <a:srgbClr val="000000"/>
              </a:solidFill>
              <a:latin typeface="Geometria light"/>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801720" y="1237320"/>
            <a:ext cx="9087840" cy="2631600"/>
          </a:xfrm>
          <a:prstGeom prst="rect">
            <a:avLst/>
          </a:prstGeom>
        </p:spPr>
        <p:txBody>
          <a:bodyPr lIns="0" tIns="0" rIns="0" bIns="0" anchor="ctr">
            <a:noAutofit/>
          </a:bodyPr>
          <a:lstStyle/>
          <a:p>
            <a:endParaRPr lang="en-US" sz="1800" b="0" strike="noStrike" spc="-1">
              <a:solidFill>
                <a:srgbClr val="000000"/>
              </a:solidFill>
              <a:latin typeface="Geometria light"/>
            </a:endParaRPr>
          </a:p>
        </p:txBody>
      </p:sp>
      <p:sp>
        <p:nvSpPr>
          <p:cNvPr id="23" name="PlaceHolder 2"/>
          <p:cNvSpPr>
            <a:spLocks noGrp="1"/>
          </p:cNvSpPr>
          <p:nvPr>
            <p:ph type="body"/>
          </p:nvPr>
        </p:nvSpPr>
        <p:spPr>
          <a:xfrm>
            <a:off x="534240" y="1768680"/>
            <a:ext cx="4695480" cy="2090880"/>
          </a:xfrm>
          <a:prstGeom prst="rect">
            <a:avLst/>
          </a:prstGeom>
        </p:spPr>
        <p:txBody>
          <a:bodyPr lIns="0" tIns="0" rIns="0" bIns="0">
            <a:normAutofit/>
          </a:bodyPr>
          <a:lstStyle/>
          <a:p>
            <a:endParaRPr lang="en-US" sz="3090" b="0" strike="noStrike" spc="-1">
              <a:solidFill>
                <a:srgbClr val="000000"/>
              </a:solidFill>
              <a:latin typeface="Geometria light"/>
            </a:endParaRPr>
          </a:p>
        </p:txBody>
      </p:sp>
      <p:sp>
        <p:nvSpPr>
          <p:cNvPr id="24" name="PlaceHolder 3"/>
          <p:cNvSpPr>
            <a:spLocks noGrp="1"/>
          </p:cNvSpPr>
          <p:nvPr>
            <p:ph type="body"/>
          </p:nvPr>
        </p:nvSpPr>
        <p:spPr>
          <a:xfrm>
            <a:off x="5464800" y="1768680"/>
            <a:ext cx="4695480" cy="2090880"/>
          </a:xfrm>
          <a:prstGeom prst="rect">
            <a:avLst/>
          </a:prstGeom>
        </p:spPr>
        <p:txBody>
          <a:bodyPr lIns="0" tIns="0" rIns="0" bIns="0">
            <a:normAutofit/>
          </a:bodyPr>
          <a:lstStyle/>
          <a:p>
            <a:endParaRPr lang="en-US" sz="3090" b="0" strike="noStrike" spc="-1">
              <a:solidFill>
                <a:srgbClr val="000000"/>
              </a:solidFill>
              <a:latin typeface="Geometria light"/>
            </a:endParaRPr>
          </a:p>
        </p:txBody>
      </p:sp>
      <p:sp>
        <p:nvSpPr>
          <p:cNvPr id="25" name="PlaceHolder 4"/>
          <p:cNvSpPr>
            <a:spLocks noGrp="1"/>
          </p:cNvSpPr>
          <p:nvPr>
            <p:ph type="body"/>
          </p:nvPr>
        </p:nvSpPr>
        <p:spPr>
          <a:xfrm>
            <a:off x="534240" y="4058640"/>
            <a:ext cx="9622080" cy="2090880"/>
          </a:xfrm>
          <a:prstGeom prst="rect">
            <a:avLst/>
          </a:prstGeom>
        </p:spPr>
        <p:txBody>
          <a:bodyPr lIns="0" tIns="0" rIns="0" bIns="0">
            <a:normAutofit/>
          </a:bodyPr>
          <a:lstStyle/>
          <a:p>
            <a:endParaRPr lang="en-US" sz="3090" b="0" strike="noStrike" spc="-1">
              <a:solidFill>
                <a:srgbClr val="000000"/>
              </a:solidFill>
              <a:latin typeface="Geometria light"/>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801720" y="1237320"/>
            <a:ext cx="9087840" cy="2631600"/>
          </a:xfrm>
          <a:prstGeom prst="rect">
            <a:avLst/>
          </a:prstGeom>
        </p:spPr>
        <p:txBody>
          <a:bodyPr lIns="0" tIns="0" rIns="0" bIns="0" anchor="ctr">
            <a:noAutofit/>
          </a:bodyPr>
          <a:lstStyle/>
          <a:p>
            <a:endParaRPr lang="en-US" sz="1800" b="0" strike="noStrike" spc="-1">
              <a:solidFill>
                <a:srgbClr val="000000"/>
              </a:solidFill>
              <a:latin typeface="Geometria light"/>
            </a:endParaRPr>
          </a:p>
        </p:txBody>
      </p:sp>
      <p:sp>
        <p:nvSpPr>
          <p:cNvPr id="27" name="PlaceHolder 2"/>
          <p:cNvSpPr>
            <a:spLocks noGrp="1"/>
          </p:cNvSpPr>
          <p:nvPr>
            <p:ph type="body"/>
          </p:nvPr>
        </p:nvSpPr>
        <p:spPr>
          <a:xfrm>
            <a:off x="534240" y="1768680"/>
            <a:ext cx="9622080" cy="2090880"/>
          </a:xfrm>
          <a:prstGeom prst="rect">
            <a:avLst/>
          </a:prstGeom>
        </p:spPr>
        <p:txBody>
          <a:bodyPr lIns="0" tIns="0" rIns="0" bIns="0">
            <a:normAutofit/>
          </a:bodyPr>
          <a:lstStyle/>
          <a:p>
            <a:endParaRPr lang="en-US" sz="3090" b="0" strike="noStrike" spc="-1">
              <a:solidFill>
                <a:srgbClr val="000000"/>
              </a:solidFill>
              <a:latin typeface="Geometria light"/>
            </a:endParaRPr>
          </a:p>
        </p:txBody>
      </p:sp>
      <p:sp>
        <p:nvSpPr>
          <p:cNvPr id="28" name="PlaceHolder 3"/>
          <p:cNvSpPr>
            <a:spLocks noGrp="1"/>
          </p:cNvSpPr>
          <p:nvPr>
            <p:ph type="body"/>
          </p:nvPr>
        </p:nvSpPr>
        <p:spPr>
          <a:xfrm>
            <a:off x="534240" y="4058640"/>
            <a:ext cx="9622080" cy="2090880"/>
          </a:xfrm>
          <a:prstGeom prst="rect">
            <a:avLst/>
          </a:prstGeom>
        </p:spPr>
        <p:txBody>
          <a:bodyPr lIns="0" tIns="0" rIns="0" bIns="0">
            <a:normAutofit/>
          </a:bodyPr>
          <a:lstStyle/>
          <a:p>
            <a:endParaRPr lang="en-US" sz="3090" b="0" strike="noStrike" spc="-1">
              <a:solidFill>
                <a:srgbClr val="000000"/>
              </a:solidFill>
              <a:latin typeface="Geometria light"/>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801720" y="1237320"/>
            <a:ext cx="9087840" cy="2631600"/>
          </a:xfrm>
          <a:prstGeom prst="rect">
            <a:avLst/>
          </a:prstGeom>
        </p:spPr>
        <p:txBody>
          <a:bodyPr lIns="0" tIns="0" rIns="0" bIns="0" anchor="ctr">
            <a:noAutofit/>
          </a:bodyPr>
          <a:lstStyle/>
          <a:p>
            <a:endParaRPr lang="en-US" sz="1800" b="0" strike="noStrike" spc="-1">
              <a:solidFill>
                <a:srgbClr val="000000"/>
              </a:solidFill>
              <a:latin typeface="Geometria light"/>
            </a:endParaRPr>
          </a:p>
        </p:txBody>
      </p:sp>
      <p:sp>
        <p:nvSpPr>
          <p:cNvPr id="30" name="PlaceHolder 2"/>
          <p:cNvSpPr>
            <a:spLocks noGrp="1"/>
          </p:cNvSpPr>
          <p:nvPr>
            <p:ph type="body"/>
          </p:nvPr>
        </p:nvSpPr>
        <p:spPr>
          <a:xfrm>
            <a:off x="534240" y="1768680"/>
            <a:ext cx="4695480" cy="2090880"/>
          </a:xfrm>
          <a:prstGeom prst="rect">
            <a:avLst/>
          </a:prstGeom>
        </p:spPr>
        <p:txBody>
          <a:bodyPr lIns="0" tIns="0" rIns="0" bIns="0">
            <a:normAutofit/>
          </a:bodyPr>
          <a:lstStyle/>
          <a:p>
            <a:endParaRPr lang="en-US" sz="3090" b="0" strike="noStrike" spc="-1">
              <a:solidFill>
                <a:srgbClr val="000000"/>
              </a:solidFill>
              <a:latin typeface="Geometria light"/>
            </a:endParaRPr>
          </a:p>
        </p:txBody>
      </p:sp>
      <p:sp>
        <p:nvSpPr>
          <p:cNvPr id="31" name="PlaceHolder 3"/>
          <p:cNvSpPr>
            <a:spLocks noGrp="1"/>
          </p:cNvSpPr>
          <p:nvPr>
            <p:ph type="body"/>
          </p:nvPr>
        </p:nvSpPr>
        <p:spPr>
          <a:xfrm>
            <a:off x="5464800" y="1768680"/>
            <a:ext cx="4695480" cy="2090880"/>
          </a:xfrm>
          <a:prstGeom prst="rect">
            <a:avLst/>
          </a:prstGeom>
        </p:spPr>
        <p:txBody>
          <a:bodyPr lIns="0" tIns="0" rIns="0" bIns="0">
            <a:normAutofit/>
          </a:bodyPr>
          <a:lstStyle/>
          <a:p>
            <a:endParaRPr lang="en-US" sz="3090" b="0" strike="noStrike" spc="-1">
              <a:solidFill>
                <a:srgbClr val="000000"/>
              </a:solidFill>
              <a:latin typeface="Geometria light"/>
            </a:endParaRPr>
          </a:p>
        </p:txBody>
      </p:sp>
      <p:sp>
        <p:nvSpPr>
          <p:cNvPr id="32" name="PlaceHolder 4"/>
          <p:cNvSpPr>
            <a:spLocks noGrp="1"/>
          </p:cNvSpPr>
          <p:nvPr>
            <p:ph type="body"/>
          </p:nvPr>
        </p:nvSpPr>
        <p:spPr>
          <a:xfrm>
            <a:off x="534240" y="4058640"/>
            <a:ext cx="4695480" cy="2090880"/>
          </a:xfrm>
          <a:prstGeom prst="rect">
            <a:avLst/>
          </a:prstGeom>
        </p:spPr>
        <p:txBody>
          <a:bodyPr lIns="0" tIns="0" rIns="0" bIns="0">
            <a:normAutofit/>
          </a:bodyPr>
          <a:lstStyle/>
          <a:p>
            <a:endParaRPr lang="en-US" sz="3090" b="0" strike="noStrike" spc="-1">
              <a:solidFill>
                <a:srgbClr val="000000"/>
              </a:solidFill>
              <a:latin typeface="Geometria light"/>
            </a:endParaRPr>
          </a:p>
        </p:txBody>
      </p:sp>
      <p:sp>
        <p:nvSpPr>
          <p:cNvPr id="33" name="PlaceHolder 5"/>
          <p:cNvSpPr>
            <a:spLocks noGrp="1"/>
          </p:cNvSpPr>
          <p:nvPr>
            <p:ph type="body"/>
          </p:nvPr>
        </p:nvSpPr>
        <p:spPr>
          <a:xfrm>
            <a:off x="5464800" y="4058640"/>
            <a:ext cx="4695480" cy="2090880"/>
          </a:xfrm>
          <a:prstGeom prst="rect">
            <a:avLst/>
          </a:prstGeom>
        </p:spPr>
        <p:txBody>
          <a:bodyPr lIns="0" tIns="0" rIns="0" bIns="0">
            <a:normAutofit/>
          </a:bodyPr>
          <a:lstStyle/>
          <a:p>
            <a:endParaRPr lang="en-US" sz="3090" b="0" strike="noStrike" spc="-1">
              <a:solidFill>
                <a:srgbClr val="000000"/>
              </a:solidFill>
              <a:latin typeface="Geometria light"/>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801720" y="1237320"/>
            <a:ext cx="9087840" cy="2631600"/>
          </a:xfrm>
          <a:prstGeom prst="rect">
            <a:avLst/>
          </a:prstGeom>
        </p:spPr>
        <p:txBody>
          <a:bodyPr lIns="0" tIns="0" rIns="0" bIns="0" anchor="ctr">
            <a:noAutofit/>
          </a:bodyPr>
          <a:lstStyle/>
          <a:p>
            <a:endParaRPr lang="en-US" sz="1800" b="0" strike="noStrike" spc="-1">
              <a:solidFill>
                <a:srgbClr val="000000"/>
              </a:solidFill>
              <a:latin typeface="Geometria light"/>
            </a:endParaRPr>
          </a:p>
        </p:txBody>
      </p:sp>
      <p:sp>
        <p:nvSpPr>
          <p:cNvPr id="35" name="PlaceHolder 2"/>
          <p:cNvSpPr>
            <a:spLocks noGrp="1"/>
          </p:cNvSpPr>
          <p:nvPr>
            <p:ph type="body"/>
          </p:nvPr>
        </p:nvSpPr>
        <p:spPr>
          <a:xfrm>
            <a:off x="534240" y="1768680"/>
            <a:ext cx="3098160" cy="2090880"/>
          </a:xfrm>
          <a:prstGeom prst="rect">
            <a:avLst/>
          </a:prstGeom>
        </p:spPr>
        <p:txBody>
          <a:bodyPr lIns="0" tIns="0" rIns="0" bIns="0">
            <a:normAutofit/>
          </a:bodyPr>
          <a:lstStyle/>
          <a:p>
            <a:endParaRPr lang="en-US" sz="3090" b="0" strike="noStrike" spc="-1">
              <a:solidFill>
                <a:srgbClr val="000000"/>
              </a:solidFill>
              <a:latin typeface="Geometria light"/>
            </a:endParaRPr>
          </a:p>
        </p:txBody>
      </p:sp>
      <p:sp>
        <p:nvSpPr>
          <p:cNvPr id="36" name="PlaceHolder 3"/>
          <p:cNvSpPr>
            <a:spLocks noGrp="1"/>
          </p:cNvSpPr>
          <p:nvPr>
            <p:ph type="body"/>
          </p:nvPr>
        </p:nvSpPr>
        <p:spPr>
          <a:xfrm>
            <a:off x="3787560" y="1768680"/>
            <a:ext cx="3098160" cy="2090880"/>
          </a:xfrm>
          <a:prstGeom prst="rect">
            <a:avLst/>
          </a:prstGeom>
        </p:spPr>
        <p:txBody>
          <a:bodyPr lIns="0" tIns="0" rIns="0" bIns="0">
            <a:normAutofit/>
          </a:bodyPr>
          <a:lstStyle/>
          <a:p>
            <a:endParaRPr lang="en-US" sz="3090" b="0" strike="noStrike" spc="-1">
              <a:solidFill>
                <a:srgbClr val="000000"/>
              </a:solidFill>
              <a:latin typeface="Geometria light"/>
            </a:endParaRPr>
          </a:p>
        </p:txBody>
      </p:sp>
      <p:sp>
        <p:nvSpPr>
          <p:cNvPr id="37" name="PlaceHolder 4"/>
          <p:cNvSpPr>
            <a:spLocks noGrp="1"/>
          </p:cNvSpPr>
          <p:nvPr>
            <p:ph type="body"/>
          </p:nvPr>
        </p:nvSpPr>
        <p:spPr>
          <a:xfrm>
            <a:off x="7041240" y="1768680"/>
            <a:ext cx="3098160" cy="2090880"/>
          </a:xfrm>
          <a:prstGeom prst="rect">
            <a:avLst/>
          </a:prstGeom>
        </p:spPr>
        <p:txBody>
          <a:bodyPr lIns="0" tIns="0" rIns="0" bIns="0">
            <a:normAutofit/>
          </a:bodyPr>
          <a:lstStyle/>
          <a:p>
            <a:endParaRPr lang="en-US" sz="3090" b="0" strike="noStrike" spc="-1">
              <a:solidFill>
                <a:srgbClr val="000000"/>
              </a:solidFill>
              <a:latin typeface="Geometria light"/>
            </a:endParaRPr>
          </a:p>
        </p:txBody>
      </p:sp>
      <p:sp>
        <p:nvSpPr>
          <p:cNvPr id="38" name="PlaceHolder 5"/>
          <p:cNvSpPr>
            <a:spLocks noGrp="1"/>
          </p:cNvSpPr>
          <p:nvPr>
            <p:ph type="body"/>
          </p:nvPr>
        </p:nvSpPr>
        <p:spPr>
          <a:xfrm>
            <a:off x="534240" y="4058640"/>
            <a:ext cx="3098160" cy="2090880"/>
          </a:xfrm>
          <a:prstGeom prst="rect">
            <a:avLst/>
          </a:prstGeom>
        </p:spPr>
        <p:txBody>
          <a:bodyPr lIns="0" tIns="0" rIns="0" bIns="0">
            <a:normAutofit/>
          </a:bodyPr>
          <a:lstStyle/>
          <a:p>
            <a:endParaRPr lang="en-US" sz="3090" b="0" strike="noStrike" spc="-1">
              <a:solidFill>
                <a:srgbClr val="000000"/>
              </a:solidFill>
              <a:latin typeface="Geometria light"/>
            </a:endParaRPr>
          </a:p>
        </p:txBody>
      </p:sp>
      <p:sp>
        <p:nvSpPr>
          <p:cNvPr id="39" name="PlaceHolder 6"/>
          <p:cNvSpPr>
            <a:spLocks noGrp="1"/>
          </p:cNvSpPr>
          <p:nvPr>
            <p:ph type="body"/>
          </p:nvPr>
        </p:nvSpPr>
        <p:spPr>
          <a:xfrm>
            <a:off x="3787560" y="4058640"/>
            <a:ext cx="3098160" cy="2090880"/>
          </a:xfrm>
          <a:prstGeom prst="rect">
            <a:avLst/>
          </a:prstGeom>
        </p:spPr>
        <p:txBody>
          <a:bodyPr lIns="0" tIns="0" rIns="0" bIns="0">
            <a:normAutofit/>
          </a:bodyPr>
          <a:lstStyle/>
          <a:p>
            <a:endParaRPr lang="en-US" sz="3090" b="0" strike="noStrike" spc="-1">
              <a:solidFill>
                <a:srgbClr val="000000"/>
              </a:solidFill>
              <a:latin typeface="Geometria light"/>
            </a:endParaRPr>
          </a:p>
        </p:txBody>
      </p:sp>
      <p:sp>
        <p:nvSpPr>
          <p:cNvPr id="40" name="PlaceHolder 7"/>
          <p:cNvSpPr>
            <a:spLocks noGrp="1"/>
          </p:cNvSpPr>
          <p:nvPr>
            <p:ph type="body"/>
          </p:nvPr>
        </p:nvSpPr>
        <p:spPr>
          <a:xfrm>
            <a:off x="7041240" y="4058640"/>
            <a:ext cx="3098160" cy="2090880"/>
          </a:xfrm>
          <a:prstGeom prst="rect">
            <a:avLst/>
          </a:prstGeom>
        </p:spPr>
        <p:txBody>
          <a:bodyPr lIns="0" tIns="0" rIns="0" bIns="0">
            <a:normAutofit/>
          </a:bodyPr>
          <a:lstStyle/>
          <a:p>
            <a:endParaRPr lang="en-US" sz="3090" b="0" strike="noStrike" spc="-1">
              <a:solidFill>
                <a:srgbClr val="000000"/>
              </a:solidFill>
              <a:latin typeface="Geometria light"/>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801720" y="1237320"/>
            <a:ext cx="9087840" cy="2631600"/>
          </a:xfrm>
          <a:prstGeom prst="rect">
            <a:avLst/>
          </a:prstGeom>
        </p:spPr>
        <p:txBody>
          <a:bodyPr anchor="b">
            <a:noAutofit/>
          </a:bodyPr>
          <a:lstStyle/>
          <a:p>
            <a:pPr algn="ctr">
              <a:lnSpc>
                <a:spcPct val="90000"/>
              </a:lnSpc>
            </a:pPr>
            <a:r>
              <a:rPr lang="ru-RU" sz="6619" b="0" strike="noStrike" spc="-1">
                <a:solidFill>
                  <a:srgbClr val="000000"/>
                </a:solidFill>
                <a:latin typeface="Geometria  bold"/>
              </a:rPr>
              <a:t>Образец заголовка</a:t>
            </a:r>
            <a:endParaRPr lang="en-US" sz="6619" b="0" strike="noStrike" spc="-1">
              <a:solidFill>
                <a:srgbClr val="000000"/>
              </a:solidFill>
              <a:latin typeface="Geometria light"/>
            </a:endParaRPr>
          </a:p>
        </p:txBody>
      </p:sp>
      <p:sp>
        <p:nvSpPr>
          <p:cNvPr id="6" name="PlaceHolder 2"/>
          <p:cNvSpPr>
            <a:spLocks noGrp="1"/>
          </p:cNvSpPr>
          <p:nvPr>
            <p:ph type="dt"/>
          </p:nvPr>
        </p:nvSpPr>
        <p:spPr>
          <a:xfrm>
            <a:off x="735120" y="7006680"/>
            <a:ext cx="2405160" cy="402120"/>
          </a:xfrm>
          <a:prstGeom prst="rect">
            <a:avLst/>
          </a:prstGeom>
        </p:spPr>
        <p:txBody>
          <a:bodyPr anchor="ctr">
            <a:noAutofit/>
          </a:bodyPr>
          <a:lstStyle/>
          <a:p>
            <a:pPr>
              <a:lnSpc>
                <a:spcPct val="100000"/>
              </a:lnSpc>
            </a:pPr>
            <a:fld id="{87095A16-4C3A-49BC-BA45-ED63D8DC7979}" type="datetime">
              <a:rPr lang="ru-RU" sz="1330" b="0" strike="noStrike" spc="-1">
                <a:solidFill>
                  <a:srgbClr val="8B8B8B"/>
                </a:solidFill>
                <a:latin typeface="Geometria light"/>
              </a:rPr>
              <a:t>04.10.2022</a:t>
            </a:fld>
            <a:endParaRPr lang="en-US" sz="1330" b="0" strike="noStrike" spc="-1">
              <a:latin typeface="Times New Roman"/>
            </a:endParaRPr>
          </a:p>
        </p:txBody>
      </p:sp>
      <p:sp>
        <p:nvSpPr>
          <p:cNvPr id="2" name="PlaceHolder 3"/>
          <p:cNvSpPr>
            <a:spLocks noGrp="1"/>
          </p:cNvSpPr>
          <p:nvPr>
            <p:ph type="ftr"/>
          </p:nvPr>
        </p:nvSpPr>
        <p:spPr>
          <a:xfrm>
            <a:off x="3541680" y="7006680"/>
            <a:ext cx="3608280" cy="402120"/>
          </a:xfrm>
          <a:prstGeom prst="rect">
            <a:avLst/>
          </a:prstGeom>
        </p:spPr>
        <p:txBody>
          <a:bodyPr anchor="ctr">
            <a:noAutofit/>
          </a:bodyPr>
          <a:lstStyle/>
          <a:p>
            <a:endParaRPr lang="en-US" sz="2400" b="0" strike="noStrike" spc="-1">
              <a:latin typeface="Times New Roman"/>
            </a:endParaRPr>
          </a:p>
        </p:txBody>
      </p:sp>
      <p:sp>
        <p:nvSpPr>
          <p:cNvPr id="3" name="PlaceHolder 4"/>
          <p:cNvSpPr>
            <a:spLocks noGrp="1"/>
          </p:cNvSpPr>
          <p:nvPr>
            <p:ph type="sldNum"/>
          </p:nvPr>
        </p:nvSpPr>
        <p:spPr>
          <a:xfrm>
            <a:off x="7551000" y="7006680"/>
            <a:ext cx="2405160" cy="402120"/>
          </a:xfrm>
          <a:prstGeom prst="rect">
            <a:avLst/>
          </a:prstGeom>
        </p:spPr>
        <p:txBody>
          <a:bodyPr anchor="ctr">
            <a:noAutofit/>
          </a:bodyPr>
          <a:lstStyle/>
          <a:p>
            <a:pPr algn="r">
              <a:lnSpc>
                <a:spcPct val="100000"/>
              </a:lnSpc>
            </a:pPr>
            <a:fld id="{CC19D91D-1076-4D88-80F8-03FFDA14860F}" type="slidenum">
              <a:rPr lang="ru-RU" sz="1330" b="0" strike="noStrike" spc="-1">
                <a:solidFill>
                  <a:srgbClr val="8B8B8B"/>
                </a:solidFill>
                <a:latin typeface="Geometria light"/>
              </a:rPr>
              <a:t>‹#›</a:t>
            </a:fld>
            <a:endParaRPr lang="en-US" sz="1330" b="0" strike="noStrike" spc="-1">
              <a:latin typeface="Times New Roman"/>
            </a:endParaRPr>
          </a:p>
        </p:txBody>
      </p:sp>
      <p:sp>
        <p:nvSpPr>
          <p:cNvPr id="4" name="PlaceHolder 5"/>
          <p:cNvSpPr>
            <a:spLocks noGrp="1"/>
          </p:cNvSpPr>
          <p:nvPr>
            <p:ph type="body"/>
          </p:nvPr>
        </p:nvSpPr>
        <p:spPr>
          <a:xfrm>
            <a:off x="534240" y="1768680"/>
            <a:ext cx="9622080" cy="43840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n-US" sz="3090" b="0" strike="noStrike" spc="-1">
                <a:solidFill>
                  <a:srgbClr val="000000"/>
                </a:solidFill>
                <a:latin typeface="Geometria light"/>
              </a:rPr>
              <a:t>Click to edit the outline text format</a:t>
            </a:r>
          </a:p>
          <a:p>
            <a:pPr marL="864000" lvl="1" indent="-324000">
              <a:spcBef>
                <a:spcPts val="1134"/>
              </a:spcBef>
              <a:buClr>
                <a:srgbClr val="000000"/>
              </a:buClr>
              <a:buSzPct val="75000"/>
              <a:buFont typeface="Symbol" charset="2"/>
              <a:buChar char=""/>
            </a:pPr>
            <a:r>
              <a:rPr lang="en-US" sz="2210" b="0" strike="noStrike" spc="-1">
                <a:solidFill>
                  <a:srgbClr val="000000"/>
                </a:solidFill>
                <a:latin typeface="Geometria light"/>
              </a:rPr>
              <a:t>Second Outline Level</a:t>
            </a:r>
          </a:p>
          <a:p>
            <a:pPr marL="1296000" lvl="2" indent="-288000">
              <a:spcBef>
                <a:spcPts val="850"/>
              </a:spcBef>
              <a:buClr>
                <a:srgbClr val="000000"/>
              </a:buClr>
              <a:buSzPct val="45000"/>
              <a:buFont typeface="Wingdings" charset="2"/>
              <a:buChar char=""/>
            </a:pPr>
            <a:r>
              <a:rPr lang="en-US" sz="1990" b="0" strike="noStrike" spc="-1">
                <a:solidFill>
                  <a:srgbClr val="000000"/>
                </a:solidFill>
                <a:latin typeface="Geometria light"/>
              </a:rPr>
              <a:t>Third Outline Level</a:t>
            </a:r>
          </a:p>
          <a:p>
            <a:pPr marL="1728000" lvl="3" indent="-216000">
              <a:spcBef>
                <a:spcPts val="567"/>
              </a:spcBef>
              <a:buClr>
                <a:srgbClr val="000000"/>
              </a:buClr>
              <a:buSzPct val="75000"/>
              <a:buFont typeface="Symbol" charset="2"/>
              <a:buChar char=""/>
            </a:pPr>
            <a:r>
              <a:rPr lang="en-US" sz="1990" b="0" strike="noStrike" spc="-1">
                <a:solidFill>
                  <a:srgbClr val="000000"/>
                </a:solidFill>
                <a:latin typeface="Geometria light"/>
              </a:rPr>
              <a:t>Fourth Outline Level</a:t>
            </a:r>
          </a:p>
          <a:p>
            <a:pPr marL="2160000" lvl="4" indent="-216000">
              <a:spcBef>
                <a:spcPts val="283"/>
              </a:spcBef>
              <a:buClr>
                <a:srgbClr val="000000"/>
              </a:buClr>
              <a:buSzPct val="45000"/>
              <a:buFont typeface="Wingdings" charset="2"/>
              <a:buChar char=""/>
            </a:pPr>
            <a:r>
              <a:rPr lang="en-US" sz="2000" b="0" strike="noStrike" spc="-1">
                <a:solidFill>
                  <a:srgbClr val="000000"/>
                </a:solidFill>
                <a:latin typeface="Geometria light"/>
              </a:rPr>
              <a:t>Fifth Outline Level</a:t>
            </a:r>
          </a:p>
          <a:p>
            <a:pPr marL="2592000" lvl="5" indent="-216000">
              <a:spcBef>
                <a:spcPts val="283"/>
              </a:spcBef>
              <a:buClr>
                <a:srgbClr val="000000"/>
              </a:buClr>
              <a:buSzPct val="45000"/>
              <a:buFont typeface="Wingdings" charset="2"/>
              <a:buChar char=""/>
            </a:pPr>
            <a:r>
              <a:rPr lang="en-US" sz="2000" b="0" strike="noStrike" spc="-1">
                <a:solidFill>
                  <a:srgbClr val="000000"/>
                </a:solidFill>
                <a:latin typeface="Geometria light"/>
              </a:rPr>
              <a:t>Sixth Outline Level</a:t>
            </a:r>
          </a:p>
          <a:p>
            <a:pPr marL="3024000" lvl="6" indent="-216000">
              <a:spcBef>
                <a:spcPts val="283"/>
              </a:spcBef>
              <a:buClr>
                <a:srgbClr val="000000"/>
              </a:buClr>
              <a:buSzPct val="45000"/>
              <a:buFont typeface="Wingdings" charset="2"/>
              <a:buChar char=""/>
            </a:pPr>
            <a:r>
              <a:rPr lang="en-US" sz="2000" b="0" strike="noStrike" spc="-1">
                <a:solidFill>
                  <a:srgbClr val="000000"/>
                </a:solidFill>
                <a:latin typeface="Geometria light"/>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82" name="TextShape 1"/>
          <p:cNvSpPr txBox="1"/>
          <p:nvPr/>
        </p:nvSpPr>
        <p:spPr>
          <a:xfrm>
            <a:off x="360000" y="719999"/>
            <a:ext cx="10080000" cy="900000"/>
          </a:xfrm>
          <a:prstGeom prst="rect">
            <a:avLst/>
          </a:prstGeom>
          <a:noFill/>
          <a:ln>
            <a:noFill/>
          </a:ln>
        </p:spPr>
        <p:txBody>
          <a:bodyPr>
            <a:noAutofit/>
          </a:bodyPr>
          <a:lstStyle/>
          <a:p>
            <a:pPr algn="ctr">
              <a:lnSpc>
                <a:spcPct val="100000"/>
              </a:lnSpc>
            </a:pPr>
            <a:r>
              <a:rPr lang="ru-RU" sz="4800" spc="-1" dirty="0">
                <a:solidFill>
                  <a:srgbClr val="004892"/>
                </a:solidFill>
                <a:latin typeface="Montserrat Bold"/>
              </a:rPr>
              <a:t>Лекция </a:t>
            </a:r>
            <a:r>
              <a:rPr lang="en-US" sz="4800" spc="-1" dirty="0" smtClean="0">
                <a:solidFill>
                  <a:srgbClr val="004892"/>
                </a:solidFill>
                <a:latin typeface="Montserrat Bold"/>
              </a:rPr>
              <a:t>02</a:t>
            </a:r>
            <a:endParaRPr lang="en-US" sz="4800" b="0" strike="noStrike" spc="-1" dirty="0">
              <a:solidFill>
                <a:srgbClr val="000000"/>
              </a:solidFill>
              <a:latin typeface="Geometria light"/>
            </a:endParaRPr>
          </a:p>
        </p:txBody>
      </p:sp>
      <p:sp>
        <p:nvSpPr>
          <p:cNvPr id="83" name="CustomShape 2"/>
          <p:cNvSpPr/>
          <p:nvPr/>
        </p:nvSpPr>
        <p:spPr>
          <a:xfrm>
            <a:off x="0" y="6862680"/>
            <a:ext cx="10691280" cy="45864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en-US" sz="1600" b="0" strike="noStrike" spc="-1" dirty="0" smtClean="0">
                <a:solidFill>
                  <a:srgbClr val="173277"/>
                </a:solidFill>
                <a:latin typeface="Montserrat"/>
              </a:rPr>
              <a:t>2022</a:t>
            </a:r>
            <a:endParaRPr lang="en-US" sz="1600" b="0" strike="noStrike" spc="-1" dirty="0">
              <a:latin typeface="Arial"/>
            </a:endParaRPr>
          </a:p>
        </p:txBody>
      </p:sp>
      <p:pic>
        <p:nvPicPr>
          <p:cNvPr id="84" name="Рисунок 2"/>
          <p:cNvPicPr/>
          <p:nvPr/>
        </p:nvPicPr>
        <p:blipFill>
          <a:blip r:embed="rId3"/>
          <a:stretch/>
        </p:blipFill>
        <p:spPr>
          <a:xfrm>
            <a:off x="4115160" y="5178600"/>
            <a:ext cx="2232360" cy="1426680"/>
          </a:xfrm>
          <a:prstGeom prst="rect">
            <a:avLst/>
          </a:prstGeom>
          <a:ln>
            <a:noFill/>
          </a:ln>
        </p:spPr>
      </p:pic>
      <p:sp>
        <p:nvSpPr>
          <p:cNvPr id="85" name="CustomShape 3"/>
          <p:cNvSpPr/>
          <p:nvPr/>
        </p:nvSpPr>
        <p:spPr>
          <a:xfrm>
            <a:off x="360000" y="1980000"/>
            <a:ext cx="10080000" cy="32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2000" spc="-1" dirty="0" err="1">
                <a:solidFill>
                  <a:srgbClr val="004892"/>
                </a:solidFill>
                <a:latin typeface="Montserrat"/>
              </a:rPr>
              <a:t>Прототипно</a:t>
            </a:r>
            <a:r>
              <a:rPr lang="ru-RU" sz="2000" spc="-1" dirty="0">
                <a:solidFill>
                  <a:srgbClr val="004892"/>
                </a:solidFill>
                <a:latin typeface="Montserrat"/>
              </a:rPr>
              <a:t>-ориентированный </a:t>
            </a:r>
            <a:r>
              <a:rPr lang="ru-RU" sz="2000" spc="-1" dirty="0" smtClean="0">
                <a:solidFill>
                  <a:srgbClr val="004892"/>
                </a:solidFill>
                <a:latin typeface="Montserrat"/>
              </a:rPr>
              <a:t>подход</a:t>
            </a:r>
          </a:p>
          <a:p>
            <a:pPr>
              <a:lnSpc>
                <a:spcPct val="100000"/>
              </a:lnSpc>
            </a:pPr>
            <a:r>
              <a:rPr lang="ru-RU" sz="2000" spc="-1" dirty="0">
                <a:solidFill>
                  <a:srgbClr val="004892"/>
                </a:solidFill>
                <a:latin typeface="Montserrat"/>
              </a:rPr>
              <a:t>Контроль типов</a:t>
            </a:r>
            <a:endParaRPr lang="en-US" sz="2000" spc="-1" dirty="0" smtClean="0">
              <a:solidFill>
                <a:srgbClr val="004892"/>
              </a:solidFill>
              <a:latin typeface="Montserrat"/>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2160000"/>
            <a:ext cx="10080000" cy="90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3600" spc="-1" dirty="0" err="1">
                <a:solidFill>
                  <a:srgbClr val="004892"/>
                </a:solidFill>
                <a:latin typeface="Montserrat"/>
              </a:rPr>
              <a:t>Прототипно</a:t>
            </a:r>
            <a:r>
              <a:rPr lang="ru-RU" sz="3600" spc="-1" dirty="0">
                <a:solidFill>
                  <a:srgbClr val="004892"/>
                </a:solidFill>
                <a:latin typeface="Montserrat"/>
              </a:rPr>
              <a:t>-ориентированный подход</a:t>
            </a:r>
            <a:endParaRPr lang="en-US" sz="3600" b="0" strike="noStrike" spc="-1" dirty="0">
              <a:latin typeface="Arial"/>
            </a:endParaRPr>
          </a:p>
        </p:txBody>
      </p:sp>
      <p:pic>
        <p:nvPicPr>
          <p:cNvPr id="87" name="Рисунок 7"/>
          <p:cNvPicPr/>
          <p:nvPr/>
        </p:nvPicPr>
        <p:blipFill>
          <a:blip r:embed="rId2"/>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dirty="0">
                <a:solidFill>
                  <a:srgbClr val="004892"/>
                </a:solidFill>
                <a:latin typeface="Montserrat"/>
              </a:rPr>
              <a:t>Ульяновский государственный технический университет</a:t>
            </a:r>
            <a:endParaRPr lang="en-US" sz="1400" b="0" strike="noStrike" spc="-1" dirty="0">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Tree>
    <p:extLst>
      <p:ext uri="{BB962C8B-B14F-4D97-AF65-F5344CB8AC3E}">
        <p14:creationId xmlns:p14="http://schemas.microsoft.com/office/powerpoint/2010/main" val="4157942312"/>
      </p:ext>
    </p:extLst>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360000"/>
            <a:ext cx="10080000" cy="72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3600" spc="-1" dirty="0" err="1">
                <a:solidFill>
                  <a:srgbClr val="004892"/>
                </a:solidFill>
                <a:latin typeface="Montserrat"/>
              </a:rPr>
              <a:t>Прототипно</a:t>
            </a:r>
            <a:r>
              <a:rPr lang="ru-RU" sz="3600" spc="-1" dirty="0">
                <a:solidFill>
                  <a:srgbClr val="004892"/>
                </a:solidFill>
                <a:latin typeface="Montserrat"/>
              </a:rPr>
              <a:t>-ориентированный подход</a:t>
            </a:r>
            <a:endParaRPr lang="en-US" sz="3600" spc="-1" dirty="0"/>
          </a:p>
        </p:txBody>
      </p:sp>
      <p:pic>
        <p:nvPicPr>
          <p:cNvPr id="87" name="Рисунок 7"/>
          <p:cNvPicPr/>
          <p:nvPr/>
        </p:nvPicPr>
        <p:blipFill>
          <a:blip r:embed="rId2"/>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a:solidFill>
                  <a:srgbClr val="004892"/>
                </a:solidFill>
                <a:latin typeface="Montserrat"/>
              </a:rPr>
              <a:t>Ульяновский государственный технический университет</a:t>
            </a:r>
            <a:endParaRPr lang="en-US" sz="1400" b="0" strike="noStrike" spc="-1">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
        <p:nvSpPr>
          <p:cNvPr id="90" name="CustomShape 4"/>
          <p:cNvSpPr/>
          <p:nvPr/>
        </p:nvSpPr>
        <p:spPr>
          <a:xfrm>
            <a:off x="360000" y="1260000"/>
            <a:ext cx="10080000" cy="5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2000" spc="-1" dirty="0" err="1">
                <a:solidFill>
                  <a:srgbClr val="004892"/>
                </a:solidFill>
                <a:latin typeface="Montserrat Bold"/>
              </a:rPr>
              <a:t>Прототипно</a:t>
            </a:r>
            <a:r>
              <a:rPr lang="ru-RU" sz="2000" spc="-1" dirty="0">
                <a:solidFill>
                  <a:srgbClr val="004892"/>
                </a:solidFill>
                <a:latin typeface="Montserrat Bold"/>
              </a:rPr>
              <a:t>-ориентированный подход</a:t>
            </a:r>
          </a:p>
        </p:txBody>
      </p:sp>
      <p:sp>
        <p:nvSpPr>
          <p:cNvPr id="7" name="CustomShape 4"/>
          <p:cNvSpPr/>
          <p:nvPr/>
        </p:nvSpPr>
        <p:spPr>
          <a:xfrm>
            <a:off x="360000" y="1980000"/>
            <a:ext cx="10080000" cy="32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just">
              <a:lnSpc>
                <a:spcPct val="100000"/>
              </a:lnSpc>
            </a:pPr>
            <a:r>
              <a:rPr lang="ru-RU" sz="2000" spc="-1" dirty="0" err="1" smtClean="0">
                <a:solidFill>
                  <a:srgbClr val="262626"/>
                </a:solidFill>
                <a:latin typeface="Montserrat"/>
              </a:rPr>
              <a:t>Прототипное</a:t>
            </a:r>
            <a:r>
              <a:rPr lang="ru-RU" sz="2000" spc="-1" dirty="0" smtClean="0">
                <a:solidFill>
                  <a:srgbClr val="262626"/>
                </a:solidFill>
                <a:latin typeface="Montserrat"/>
              </a:rPr>
              <a:t> </a:t>
            </a:r>
            <a:r>
              <a:rPr lang="ru-RU" sz="2000" spc="-1" dirty="0">
                <a:solidFill>
                  <a:srgbClr val="262626"/>
                </a:solidFill>
                <a:latin typeface="Montserrat"/>
              </a:rPr>
              <a:t>программирование –</a:t>
            </a:r>
            <a:r>
              <a:rPr lang="ru-RU" sz="2000" spc="-1" dirty="0" smtClean="0">
                <a:solidFill>
                  <a:srgbClr val="262626"/>
                </a:solidFill>
                <a:latin typeface="Montserrat"/>
              </a:rPr>
              <a:t> </a:t>
            </a:r>
            <a:r>
              <a:rPr lang="ru-RU" sz="2000" spc="-1" dirty="0">
                <a:solidFill>
                  <a:srgbClr val="262626"/>
                </a:solidFill>
                <a:latin typeface="Montserrat"/>
              </a:rPr>
              <a:t>стиль объектно-ориентированного программирования, при котором </a:t>
            </a:r>
            <a:r>
              <a:rPr lang="ru-RU" sz="2000" b="1" spc="-1" dirty="0">
                <a:solidFill>
                  <a:srgbClr val="262626"/>
                </a:solidFill>
                <a:latin typeface="Montserrat"/>
              </a:rPr>
              <a:t>отсутствует</a:t>
            </a:r>
            <a:r>
              <a:rPr lang="ru-RU" sz="2000" spc="-1" dirty="0">
                <a:solidFill>
                  <a:srgbClr val="262626"/>
                </a:solidFill>
                <a:latin typeface="Montserrat"/>
              </a:rPr>
              <a:t> понятие класса, а наследование производится </a:t>
            </a:r>
            <a:r>
              <a:rPr lang="ru-RU" sz="2000" spc="-1" dirty="0" smtClean="0">
                <a:solidFill>
                  <a:srgbClr val="262626"/>
                </a:solidFill>
                <a:latin typeface="Montserrat"/>
              </a:rPr>
              <a:t>путем </a:t>
            </a:r>
            <a:r>
              <a:rPr lang="ru-RU" sz="2000" b="1" spc="-1" dirty="0">
                <a:solidFill>
                  <a:srgbClr val="262626"/>
                </a:solidFill>
                <a:latin typeface="Montserrat"/>
              </a:rPr>
              <a:t>клонирования</a:t>
            </a:r>
            <a:r>
              <a:rPr lang="ru-RU" sz="2000" spc="-1" dirty="0">
                <a:solidFill>
                  <a:srgbClr val="262626"/>
                </a:solidFill>
                <a:latin typeface="Montserrat"/>
              </a:rPr>
              <a:t> существующего экземпляра объекта –</a:t>
            </a:r>
            <a:r>
              <a:rPr lang="ru-RU" sz="2000" spc="-1" dirty="0" smtClean="0">
                <a:solidFill>
                  <a:srgbClr val="262626"/>
                </a:solidFill>
                <a:latin typeface="Montserrat"/>
              </a:rPr>
              <a:t> </a:t>
            </a:r>
            <a:r>
              <a:rPr lang="ru-RU" sz="2000" spc="-1" dirty="0">
                <a:solidFill>
                  <a:srgbClr val="262626"/>
                </a:solidFill>
                <a:latin typeface="Montserrat"/>
              </a:rPr>
              <a:t>прототипа</a:t>
            </a:r>
            <a:r>
              <a:rPr lang="ru-RU" sz="2000" spc="-1" dirty="0" smtClean="0">
                <a:solidFill>
                  <a:srgbClr val="262626"/>
                </a:solidFill>
                <a:latin typeface="Montserrat"/>
              </a:rPr>
              <a:t>.</a:t>
            </a:r>
            <a:endParaRPr lang="en-US" sz="2000" spc="-1" dirty="0" smtClean="0">
              <a:solidFill>
                <a:srgbClr val="262626"/>
              </a:solidFill>
              <a:latin typeface="Montserrat"/>
            </a:endParaRPr>
          </a:p>
          <a:p>
            <a:pPr algn="just">
              <a:lnSpc>
                <a:spcPct val="100000"/>
              </a:lnSpc>
            </a:pPr>
            <a:r>
              <a:rPr lang="ru-RU" sz="2000" spc="-1" dirty="0">
                <a:solidFill>
                  <a:srgbClr val="262626"/>
                </a:solidFill>
                <a:latin typeface="Montserrat"/>
              </a:rPr>
              <a:t>Сторонники </a:t>
            </a:r>
            <a:r>
              <a:rPr lang="ru-RU" sz="2000" spc="-1" dirty="0" err="1">
                <a:solidFill>
                  <a:srgbClr val="262626"/>
                </a:solidFill>
                <a:latin typeface="Montserrat"/>
              </a:rPr>
              <a:t>прототипного</a:t>
            </a:r>
            <a:r>
              <a:rPr lang="ru-RU" sz="2000" spc="-1" dirty="0">
                <a:solidFill>
                  <a:srgbClr val="262626"/>
                </a:solidFill>
                <a:latin typeface="Montserrat"/>
              </a:rPr>
              <a:t> программирования часто утверждают, что языки, основанные на классах, приводят к излишней концентрации на таксономии классов и на отношениях между ними. В противоположность этому, </a:t>
            </a:r>
            <a:r>
              <a:rPr lang="ru-RU" sz="2000" spc="-1" dirty="0" err="1">
                <a:solidFill>
                  <a:srgbClr val="262626"/>
                </a:solidFill>
                <a:latin typeface="Montserrat"/>
              </a:rPr>
              <a:t>прототипирование</a:t>
            </a:r>
            <a:r>
              <a:rPr lang="ru-RU" sz="2000" spc="-1" dirty="0">
                <a:solidFill>
                  <a:srgbClr val="262626"/>
                </a:solidFill>
                <a:latin typeface="Montserrat"/>
              </a:rPr>
              <a:t> заостряет внимание на поведении некоторого (небольшого) количества «образцов», которые затем классифицируются как «базовые» объекты и используются для создания других объектов.</a:t>
            </a:r>
          </a:p>
        </p:txBody>
      </p:sp>
    </p:spTree>
    <p:extLst>
      <p:ext uri="{BB962C8B-B14F-4D97-AF65-F5344CB8AC3E}">
        <p14:creationId xmlns:p14="http://schemas.microsoft.com/office/powerpoint/2010/main" val="4059547501"/>
      </p:ext>
    </p:extLst>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360000"/>
            <a:ext cx="10080000" cy="72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3600" spc="-1" dirty="0" err="1">
                <a:solidFill>
                  <a:srgbClr val="004892"/>
                </a:solidFill>
                <a:latin typeface="Montserrat"/>
              </a:rPr>
              <a:t>Прототипно</a:t>
            </a:r>
            <a:r>
              <a:rPr lang="ru-RU" sz="3600" spc="-1" dirty="0">
                <a:solidFill>
                  <a:srgbClr val="004892"/>
                </a:solidFill>
                <a:latin typeface="Montserrat"/>
              </a:rPr>
              <a:t>-ориентированный подход</a:t>
            </a:r>
            <a:endParaRPr lang="en-US" sz="3600" spc="-1" dirty="0"/>
          </a:p>
        </p:txBody>
      </p:sp>
      <p:pic>
        <p:nvPicPr>
          <p:cNvPr id="87" name="Рисунок 7"/>
          <p:cNvPicPr/>
          <p:nvPr/>
        </p:nvPicPr>
        <p:blipFill>
          <a:blip r:embed="rId2"/>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a:solidFill>
                  <a:srgbClr val="004892"/>
                </a:solidFill>
                <a:latin typeface="Montserrat"/>
              </a:rPr>
              <a:t>Ульяновский государственный технический университет</a:t>
            </a:r>
            <a:endParaRPr lang="en-US" sz="1400" b="0" strike="noStrike" spc="-1">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
        <p:nvSpPr>
          <p:cNvPr id="90" name="CustomShape 4"/>
          <p:cNvSpPr/>
          <p:nvPr/>
        </p:nvSpPr>
        <p:spPr>
          <a:xfrm>
            <a:off x="360000" y="1260000"/>
            <a:ext cx="10080000" cy="5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2000" spc="-1" dirty="0" err="1">
                <a:solidFill>
                  <a:srgbClr val="004892"/>
                </a:solidFill>
                <a:latin typeface="Montserrat Bold"/>
              </a:rPr>
              <a:t>Прототипно</a:t>
            </a:r>
            <a:r>
              <a:rPr lang="ru-RU" sz="2000" spc="-1" dirty="0">
                <a:solidFill>
                  <a:srgbClr val="004892"/>
                </a:solidFill>
                <a:latin typeface="Montserrat Bold"/>
              </a:rPr>
              <a:t>-ориентированный подход</a:t>
            </a:r>
          </a:p>
        </p:txBody>
      </p:sp>
      <p:sp>
        <p:nvSpPr>
          <p:cNvPr id="7" name="CustomShape 4"/>
          <p:cNvSpPr/>
          <p:nvPr/>
        </p:nvSpPr>
        <p:spPr>
          <a:xfrm>
            <a:off x="360000" y="1980000"/>
            <a:ext cx="10080000" cy="32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just">
              <a:lnSpc>
                <a:spcPct val="100000"/>
              </a:lnSpc>
            </a:pPr>
            <a:r>
              <a:rPr lang="ru-RU" sz="2000" spc="-1" dirty="0" smtClean="0">
                <a:solidFill>
                  <a:srgbClr val="262626"/>
                </a:solidFill>
                <a:latin typeface="Montserrat"/>
              </a:rPr>
              <a:t>Языки, поддерживающие </a:t>
            </a:r>
            <a:r>
              <a:rPr lang="ru-RU" sz="2000" spc="-1" dirty="0" err="1" smtClean="0">
                <a:solidFill>
                  <a:srgbClr val="262626"/>
                </a:solidFill>
                <a:latin typeface="Montserrat"/>
              </a:rPr>
              <a:t>прототипно</a:t>
            </a:r>
            <a:r>
              <a:rPr lang="ru-RU" sz="2000" spc="-1" dirty="0" smtClean="0">
                <a:solidFill>
                  <a:srgbClr val="262626"/>
                </a:solidFill>
                <a:latin typeface="Montserrat"/>
              </a:rPr>
              <a:t>-ориентированный подход:</a:t>
            </a:r>
          </a:p>
          <a:p>
            <a:pPr marL="342900" indent="-342900" algn="just">
              <a:buFont typeface="Wingdings" panose="05000000000000000000" pitchFamily="2" charset="2"/>
              <a:buChar char="§"/>
            </a:pPr>
            <a:r>
              <a:rPr lang="en-US" sz="2000" spc="-1" dirty="0">
                <a:solidFill>
                  <a:srgbClr val="262626"/>
                </a:solidFill>
                <a:latin typeface="Montserrat"/>
              </a:rPr>
              <a:t>ECMAScript</a:t>
            </a:r>
            <a:r>
              <a:rPr lang="ru-RU" sz="2000" spc="-1" dirty="0" smtClean="0">
                <a:solidFill>
                  <a:srgbClr val="262626"/>
                </a:solidFill>
                <a:latin typeface="Montserrat"/>
              </a:rPr>
              <a:t> ( в частности, </a:t>
            </a:r>
            <a:r>
              <a:rPr lang="en-US" sz="2000" spc="-1" dirty="0" smtClean="0">
                <a:solidFill>
                  <a:srgbClr val="262626"/>
                </a:solidFill>
                <a:latin typeface="Montserrat"/>
              </a:rPr>
              <a:t>JavaScript</a:t>
            </a:r>
            <a:r>
              <a:rPr lang="ru-RU" sz="2000" spc="-1" dirty="0" smtClean="0">
                <a:solidFill>
                  <a:srgbClr val="262626"/>
                </a:solidFill>
                <a:latin typeface="Montserrat"/>
              </a:rPr>
              <a:t>)</a:t>
            </a:r>
            <a:endParaRPr lang="ru-RU" sz="2000" spc="-1" dirty="0">
              <a:solidFill>
                <a:srgbClr val="262626"/>
              </a:solidFill>
              <a:latin typeface="Montserrat"/>
            </a:endParaRPr>
          </a:p>
          <a:p>
            <a:pPr marL="342900" indent="-342900" algn="just">
              <a:lnSpc>
                <a:spcPct val="100000"/>
              </a:lnSpc>
              <a:buFont typeface="Wingdings" panose="05000000000000000000" pitchFamily="2" charset="2"/>
              <a:buChar char="§"/>
            </a:pPr>
            <a:r>
              <a:rPr lang="en-US" sz="2000" spc="-1" dirty="0" smtClean="0">
                <a:solidFill>
                  <a:srgbClr val="262626"/>
                </a:solidFill>
                <a:latin typeface="Montserrat"/>
              </a:rPr>
              <a:t>Self</a:t>
            </a:r>
            <a:endParaRPr lang="ru-RU" sz="2000" spc="-1" dirty="0">
              <a:solidFill>
                <a:srgbClr val="262626"/>
              </a:solidFill>
              <a:latin typeface="Montserrat"/>
            </a:endParaRPr>
          </a:p>
          <a:p>
            <a:pPr marL="342900" indent="-342900" algn="just">
              <a:lnSpc>
                <a:spcPct val="100000"/>
              </a:lnSpc>
              <a:buFont typeface="Wingdings" panose="05000000000000000000" pitchFamily="2" charset="2"/>
              <a:buChar char="§"/>
            </a:pPr>
            <a:r>
              <a:rPr lang="en-US" sz="2000" spc="-1" dirty="0" err="1" smtClean="0">
                <a:solidFill>
                  <a:srgbClr val="262626"/>
                </a:solidFill>
                <a:latin typeface="Montserrat"/>
              </a:rPr>
              <a:t>Lua</a:t>
            </a:r>
            <a:endParaRPr lang="ru-RU" sz="2000" spc="-1" dirty="0" smtClean="0">
              <a:solidFill>
                <a:srgbClr val="262626"/>
              </a:solidFill>
              <a:latin typeface="Montserrat"/>
            </a:endParaRPr>
          </a:p>
          <a:p>
            <a:pPr marL="342900" indent="-342900" algn="just">
              <a:lnSpc>
                <a:spcPct val="100000"/>
              </a:lnSpc>
              <a:buFont typeface="Wingdings" panose="05000000000000000000" pitchFamily="2" charset="2"/>
              <a:buChar char="§"/>
            </a:pPr>
            <a:r>
              <a:rPr lang="en-US" sz="2000" spc="-1" dirty="0" smtClean="0">
                <a:solidFill>
                  <a:srgbClr val="262626"/>
                </a:solidFill>
                <a:latin typeface="Montserrat"/>
              </a:rPr>
              <a:t>Io</a:t>
            </a:r>
            <a:endParaRPr lang="ru-RU" sz="2000" spc="-1" dirty="0" smtClean="0">
              <a:solidFill>
                <a:srgbClr val="262626"/>
              </a:solidFill>
              <a:latin typeface="Montserrat"/>
            </a:endParaRPr>
          </a:p>
          <a:p>
            <a:pPr marL="342900" indent="-342900" algn="just">
              <a:lnSpc>
                <a:spcPct val="100000"/>
              </a:lnSpc>
              <a:buFont typeface="Wingdings" panose="05000000000000000000" pitchFamily="2" charset="2"/>
              <a:buChar char="§"/>
            </a:pPr>
            <a:r>
              <a:rPr lang="en-US" sz="2000" spc="-1" dirty="0" smtClean="0">
                <a:solidFill>
                  <a:srgbClr val="262626"/>
                </a:solidFill>
                <a:latin typeface="Montserrat"/>
              </a:rPr>
              <a:t>REBOL</a:t>
            </a:r>
            <a:endParaRPr lang="ru-RU" sz="2000" spc="-1" dirty="0" smtClean="0">
              <a:solidFill>
                <a:srgbClr val="262626"/>
              </a:solidFill>
              <a:latin typeface="Montserrat"/>
            </a:endParaRPr>
          </a:p>
          <a:p>
            <a:pPr marL="342900" indent="-342900" algn="just">
              <a:lnSpc>
                <a:spcPct val="100000"/>
              </a:lnSpc>
              <a:buFont typeface="Wingdings" panose="05000000000000000000" pitchFamily="2" charset="2"/>
              <a:buChar char="§"/>
            </a:pPr>
            <a:r>
              <a:rPr lang="en-US" sz="2000" spc="-1" dirty="0" smtClean="0">
                <a:solidFill>
                  <a:srgbClr val="262626"/>
                </a:solidFill>
                <a:latin typeface="Montserrat"/>
              </a:rPr>
              <a:t>Factor</a:t>
            </a:r>
            <a:endParaRPr lang="ru-RU" sz="2000" spc="-1" dirty="0" smtClean="0">
              <a:solidFill>
                <a:srgbClr val="262626"/>
              </a:solidFill>
              <a:latin typeface="Montserrat"/>
            </a:endParaRPr>
          </a:p>
          <a:p>
            <a:pPr marL="342900" indent="-342900" algn="just">
              <a:lnSpc>
                <a:spcPct val="100000"/>
              </a:lnSpc>
              <a:buFont typeface="Wingdings" panose="05000000000000000000" pitchFamily="2" charset="2"/>
              <a:buChar char="§"/>
            </a:pPr>
            <a:r>
              <a:rPr lang="en-US" sz="2000" spc="-1" dirty="0" err="1" smtClean="0">
                <a:solidFill>
                  <a:srgbClr val="262626"/>
                </a:solidFill>
                <a:latin typeface="Montserrat"/>
              </a:rPr>
              <a:t>OpenLaszlo</a:t>
            </a:r>
            <a:endParaRPr lang="ru-RU" sz="2000" spc="-1" dirty="0" smtClean="0">
              <a:solidFill>
                <a:srgbClr val="262626"/>
              </a:solidFill>
              <a:latin typeface="Montserrat"/>
            </a:endParaRPr>
          </a:p>
          <a:p>
            <a:pPr marL="342900" indent="-342900" algn="just">
              <a:lnSpc>
                <a:spcPct val="100000"/>
              </a:lnSpc>
              <a:buFont typeface="Wingdings" panose="05000000000000000000" pitchFamily="2" charset="2"/>
              <a:buChar char="§"/>
            </a:pPr>
            <a:r>
              <a:rPr lang="en-US" sz="2000" spc="-1" dirty="0">
                <a:solidFill>
                  <a:srgbClr val="262626"/>
                </a:solidFill>
                <a:latin typeface="Montserrat"/>
              </a:rPr>
              <a:t>Slate</a:t>
            </a:r>
          </a:p>
          <a:p>
            <a:pPr marL="342900" indent="-342900" algn="just">
              <a:lnSpc>
                <a:spcPct val="100000"/>
              </a:lnSpc>
              <a:buFont typeface="Wingdings" panose="05000000000000000000" pitchFamily="2" charset="2"/>
              <a:buChar char="§"/>
            </a:pPr>
            <a:r>
              <a:rPr lang="en-US" sz="2000" spc="-1" dirty="0">
                <a:solidFill>
                  <a:srgbClr val="262626"/>
                </a:solidFill>
                <a:latin typeface="Montserrat"/>
              </a:rPr>
              <a:t>TADS</a:t>
            </a:r>
            <a:endParaRPr lang="ru-RU" sz="2000" spc="-1" dirty="0">
              <a:solidFill>
                <a:srgbClr val="262626"/>
              </a:solidFill>
              <a:latin typeface="Montserrat"/>
            </a:endParaRPr>
          </a:p>
        </p:txBody>
      </p:sp>
    </p:spTree>
    <p:extLst>
      <p:ext uri="{BB962C8B-B14F-4D97-AF65-F5344CB8AC3E}">
        <p14:creationId xmlns:p14="http://schemas.microsoft.com/office/powerpoint/2010/main" val="190245165"/>
      </p:ext>
    </p:extLst>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360000"/>
            <a:ext cx="10080000" cy="72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3600" spc="-1" dirty="0" err="1">
                <a:solidFill>
                  <a:srgbClr val="004892"/>
                </a:solidFill>
                <a:latin typeface="Montserrat"/>
              </a:rPr>
              <a:t>Прототипно</a:t>
            </a:r>
            <a:r>
              <a:rPr lang="ru-RU" sz="3600" spc="-1" dirty="0">
                <a:solidFill>
                  <a:srgbClr val="004892"/>
                </a:solidFill>
                <a:latin typeface="Montserrat"/>
              </a:rPr>
              <a:t>-ориентированный подход</a:t>
            </a:r>
            <a:endParaRPr lang="en-US" sz="3600" spc="-1" dirty="0"/>
          </a:p>
        </p:txBody>
      </p:sp>
      <p:pic>
        <p:nvPicPr>
          <p:cNvPr id="87" name="Рисунок 7"/>
          <p:cNvPicPr/>
          <p:nvPr/>
        </p:nvPicPr>
        <p:blipFill>
          <a:blip r:embed="rId2"/>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a:solidFill>
                  <a:srgbClr val="004892"/>
                </a:solidFill>
                <a:latin typeface="Montserrat"/>
              </a:rPr>
              <a:t>Ульяновский государственный технический университет</a:t>
            </a:r>
            <a:endParaRPr lang="en-US" sz="1400" b="0" strike="noStrike" spc="-1">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
        <p:nvSpPr>
          <p:cNvPr id="90" name="CustomShape 4"/>
          <p:cNvSpPr/>
          <p:nvPr/>
        </p:nvSpPr>
        <p:spPr>
          <a:xfrm>
            <a:off x="360000" y="1260000"/>
            <a:ext cx="10080000" cy="5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2000" spc="-1" dirty="0" err="1">
                <a:solidFill>
                  <a:srgbClr val="004892"/>
                </a:solidFill>
                <a:latin typeface="Montserrat Bold"/>
              </a:rPr>
              <a:t>Прототипно</a:t>
            </a:r>
            <a:r>
              <a:rPr lang="ru-RU" sz="2000" spc="-1" dirty="0">
                <a:solidFill>
                  <a:srgbClr val="004892"/>
                </a:solidFill>
                <a:latin typeface="Montserrat Bold"/>
              </a:rPr>
              <a:t>-ориентированный подход</a:t>
            </a:r>
          </a:p>
        </p:txBody>
      </p:sp>
      <p:sp>
        <p:nvSpPr>
          <p:cNvPr id="7" name="CustomShape 4"/>
          <p:cNvSpPr/>
          <p:nvPr/>
        </p:nvSpPr>
        <p:spPr>
          <a:xfrm>
            <a:off x="360000" y="1980000"/>
            <a:ext cx="10080000" cy="32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just">
              <a:lnSpc>
                <a:spcPct val="100000"/>
              </a:lnSpc>
            </a:pPr>
            <a:r>
              <a:rPr lang="ru-RU" sz="2000" spc="-1" dirty="0" smtClean="0">
                <a:solidFill>
                  <a:srgbClr val="262626"/>
                </a:solidFill>
                <a:latin typeface="Montserrat"/>
              </a:rPr>
              <a:t>В </a:t>
            </a:r>
            <a:r>
              <a:rPr lang="ru-RU" sz="2000" spc="-1" dirty="0" err="1" smtClean="0">
                <a:solidFill>
                  <a:srgbClr val="262626"/>
                </a:solidFill>
                <a:latin typeface="Montserrat"/>
              </a:rPr>
              <a:t>прототипно</a:t>
            </a:r>
            <a:r>
              <a:rPr lang="ru-RU" sz="2000" spc="-1" dirty="0" smtClean="0">
                <a:solidFill>
                  <a:srgbClr val="262626"/>
                </a:solidFill>
                <a:latin typeface="Montserrat"/>
              </a:rPr>
              <a:t>-ориентируемом подходе также есть понятие объекта, полей, методов (функций) объекта, но нет понятия класса, который бы позволял объединять различные объекты по общим признакам.</a:t>
            </a:r>
          </a:p>
          <a:p>
            <a:pPr algn="just">
              <a:lnSpc>
                <a:spcPct val="100000"/>
              </a:lnSpc>
            </a:pPr>
            <a:r>
              <a:rPr lang="ru-RU" sz="2000" spc="-1" dirty="0" smtClean="0">
                <a:solidFill>
                  <a:srgbClr val="262626"/>
                </a:solidFill>
                <a:latin typeface="Montserrat"/>
              </a:rPr>
              <a:t>В </a:t>
            </a:r>
            <a:r>
              <a:rPr lang="ru-RU" sz="2000" spc="-1" dirty="0">
                <a:solidFill>
                  <a:srgbClr val="262626"/>
                </a:solidFill>
                <a:latin typeface="Montserrat"/>
              </a:rPr>
              <a:t>прототип-ориентированных системах предоставляется два метода создания нового объекта</a:t>
            </a:r>
            <a:r>
              <a:rPr lang="ru-RU" sz="2000" spc="-1" dirty="0" smtClean="0">
                <a:solidFill>
                  <a:srgbClr val="262626"/>
                </a:solidFill>
                <a:latin typeface="Montserrat"/>
              </a:rPr>
              <a:t>:</a:t>
            </a:r>
            <a:endParaRPr lang="en-US" sz="2000" spc="-1" dirty="0" smtClean="0">
              <a:solidFill>
                <a:srgbClr val="262626"/>
              </a:solidFill>
              <a:latin typeface="Montserrat"/>
            </a:endParaRPr>
          </a:p>
          <a:p>
            <a:pPr marL="342900" indent="-342900" algn="just">
              <a:lnSpc>
                <a:spcPct val="100000"/>
              </a:lnSpc>
              <a:buFont typeface="Wingdings" panose="05000000000000000000" pitchFamily="2" charset="2"/>
              <a:buChar char="§"/>
            </a:pPr>
            <a:r>
              <a:rPr lang="ru-RU" sz="2000" spc="-1" dirty="0" smtClean="0">
                <a:solidFill>
                  <a:srgbClr val="262626"/>
                </a:solidFill>
                <a:latin typeface="Montserrat"/>
              </a:rPr>
              <a:t>клонирование </a:t>
            </a:r>
            <a:r>
              <a:rPr lang="ru-RU" sz="2000" spc="-1" dirty="0">
                <a:solidFill>
                  <a:srgbClr val="262626"/>
                </a:solidFill>
                <a:latin typeface="Montserrat"/>
              </a:rPr>
              <a:t>существующего объекта</a:t>
            </a:r>
            <a:r>
              <a:rPr lang="ru-RU" sz="2000" spc="-1" dirty="0" smtClean="0">
                <a:solidFill>
                  <a:srgbClr val="262626"/>
                </a:solidFill>
                <a:latin typeface="Montserrat"/>
              </a:rPr>
              <a:t>,</a:t>
            </a:r>
            <a:endParaRPr lang="en-US" sz="2000" spc="-1" dirty="0" smtClean="0">
              <a:solidFill>
                <a:srgbClr val="262626"/>
              </a:solidFill>
              <a:latin typeface="Montserrat"/>
            </a:endParaRPr>
          </a:p>
          <a:p>
            <a:pPr marL="342900" indent="-342900" algn="just">
              <a:lnSpc>
                <a:spcPct val="100000"/>
              </a:lnSpc>
              <a:buFont typeface="Wingdings" panose="05000000000000000000" pitchFamily="2" charset="2"/>
              <a:buChar char="§"/>
            </a:pPr>
            <a:r>
              <a:rPr lang="ru-RU" sz="2000" spc="-1" dirty="0">
                <a:solidFill>
                  <a:srgbClr val="262626"/>
                </a:solidFill>
                <a:latin typeface="Montserrat"/>
              </a:rPr>
              <a:t>с</a:t>
            </a:r>
            <a:r>
              <a:rPr lang="ru-RU" sz="2000" spc="-1" dirty="0" smtClean="0">
                <a:solidFill>
                  <a:srgbClr val="262626"/>
                </a:solidFill>
                <a:latin typeface="Montserrat"/>
              </a:rPr>
              <a:t>оздание </a:t>
            </a:r>
            <a:r>
              <a:rPr lang="ru-RU" sz="2000" spc="-1" dirty="0">
                <a:solidFill>
                  <a:srgbClr val="262626"/>
                </a:solidFill>
                <a:latin typeface="Montserrat"/>
              </a:rPr>
              <a:t>объекта «с нуля</a:t>
            </a:r>
            <a:r>
              <a:rPr lang="ru-RU" sz="2000" spc="-1" dirty="0" smtClean="0">
                <a:solidFill>
                  <a:srgbClr val="262626"/>
                </a:solidFill>
                <a:latin typeface="Montserrat"/>
              </a:rPr>
              <a:t>».</a:t>
            </a:r>
            <a:endParaRPr lang="ru-RU" sz="2000" spc="-1" dirty="0">
              <a:solidFill>
                <a:srgbClr val="262626"/>
              </a:solidFill>
              <a:latin typeface="Montserrat"/>
            </a:endParaRPr>
          </a:p>
        </p:txBody>
      </p:sp>
    </p:spTree>
    <p:extLst>
      <p:ext uri="{BB962C8B-B14F-4D97-AF65-F5344CB8AC3E}">
        <p14:creationId xmlns:p14="http://schemas.microsoft.com/office/powerpoint/2010/main" val="394920837"/>
      </p:ext>
    </p:extLst>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360000"/>
            <a:ext cx="10080000" cy="72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3600" spc="-1" dirty="0" err="1">
                <a:solidFill>
                  <a:srgbClr val="004892"/>
                </a:solidFill>
                <a:latin typeface="Montserrat"/>
              </a:rPr>
              <a:t>Прототипно</a:t>
            </a:r>
            <a:r>
              <a:rPr lang="ru-RU" sz="3600" spc="-1" dirty="0">
                <a:solidFill>
                  <a:srgbClr val="004892"/>
                </a:solidFill>
                <a:latin typeface="Montserrat"/>
              </a:rPr>
              <a:t>-ориентированный подход</a:t>
            </a:r>
            <a:endParaRPr lang="en-US" sz="3600" spc="-1" dirty="0"/>
          </a:p>
        </p:txBody>
      </p:sp>
      <p:pic>
        <p:nvPicPr>
          <p:cNvPr id="87" name="Рисунок 7"/>
          <p:cNvPicPr/>
          <p:nvPr/>
        </p:nvPicPr>
        <p:blipFill>
          <a:blip r:embed="rId2"/>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a:solidFill>
                  <a:srgbClr val="004892"/>
                </a:solidFill>
                <a:latin typeface="Montserrat"/>
              </a:rPr>
              <a:t>Ульяновский государственный технический университет</a:t>
            </a:r>
            <a:endParaRPr lang="en-US" sz="1400" b="0" strike="noStrike" spc="-1">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
        <p:nvSpPr>
          <p:cNvPr id="90" name="CustomShape 4"/>
          <p:cNvSpPr/>
          <p:nvPr/>
        </p:nvSpPr>
        <p:spPr>
          <a:xfrm>
            <a:off x="360000" y="1260000"/>
            <a:ext cx="10080000" cy="5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2000" spc="-1" dirty="0" err="1">
                <a:solidFill>
                  <a:srgbClr val="004892"/>
                </a:solidFill>
                <a:latin typeface="Montserrat Bold"/>
              </a:rPr>
              <a:t>Прототипно</a:t>
            </a:r>
            <a:r>
              <a:rPr lang="ru-RU" sz="2000" spc="-1" dirty="0">
                <a:solidFill>
                  <a:srgbClr val="004892"/>
                </a:solidFill>
                <a:latin typeface="Montserrat Bold"/>
              </a:rPr>
              <a:t>-ориентированный подход</a:t>
            </a:r>
          </a:p>
        </p:txBody>
      </p:sp>
      <p:sp>
        <p:nvSpPr>
          <p:cNvPr id="7" name="CustomShape 4"/>
          <p:cNvSpPr/>
          <p:nvPr/>
        </p:nvSpPr>
        <p:spPr>
          <a:xfrm>
            <a:off x="360000" y="1980000"/>
            <a:ext cx="10080000" cy="32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just">
              <a:lnSpc>
                <a:spcPct val="100000"/>
              </a:lnSpc>
            </a:pPr>
            <a:r>
              <a:rPr lang="ru-RU" sz="2000" spc="-1" dirty="0" smtClean="0">
                <a:solidFill>
                  <a:srgbClr val="262626"/>
                </a:solidFill>
                <a:latin typeface="Montserrat"/>
              </a:rPr>
              <a:t>Для </a:t>
            </a:r>
            <a:r>
              <a:rPr lang="ru-RU" sz="2000" spc="-1" dirty="0">
                <a:solidFill>
                  <a:srgbClr val="262626"/>
                </a:solidFill>
                <a:latin typeface="Montserrat"/>
              </a:rPr>
              <a:t>создания объекта с нуля программисту предоставляются синтаксические средства добавления </a:t>
            </a:r>
            <a:r>
              <a:rPr lang="ru-RU" sz="2000" spc="-1" dirty="0" smtClean="0">
                <a:solidFill>
                  <a:srgbClr val="262626"/>
                </a:solidFill>
                <a:latin typeface="Montserrat"/>
              </a:rPr>
              <a:t>свойств (полей) </a:t>
            </a:r>
            <a:r>
              <a:rPr lang="ru-RU" sz="2000" spc="-1" dirty="0">
                <a:solidFill>
                  <a:srgbClr val="262626"/>
                </a:solidFill>
                <a:latin typeface="Montserrat"/>
              </a:rPr>
              <a:t>и </a:t>
            </a:r>
            <a:r>
              <a:rPr lang="ru-RU" sz="2000" spc="-1" dirty="0" smtClean="0">
                <a:solidFill>
                  <a:srgbClr val="262626"/>
                </a:solidFill>
                <a:latin typeface="Montserrat"/>
              </a:rPr>
              <a:t>методов (функций) </a:t>
            </a:r>
            <a:r>
              <a:rPr lang="ru-RU" sz="2000" spc="-1" dirty="0">
                <a:solidFill>
                  <a:srgbClr val="262626"/>
                </a:solidFill>
                <a:latin typeface="Montserrat"/>
              </a:rPr>
              <a:t>в объект</a:t>
            </a:r>
            <a:r>
              <a:rPr lang="ru-RU" sz="2000" spc="-1" dirty="0" smtClean="0">
                <a:solidFill>
                  <a:srgbClr val="262626"/>
                </a:solidFill>
                <a:latin typeface="Montserrat"/>
              </a:rPr>
              <a:t>.</a:t>
            </a:r>
          </a:p>
          <a:p>
            <a:pPr algn="just">
              <a:lnSpc>
                <a:spcPct val="100000"/>
              </a:lnSpc>
            </a:pPr>
            <a:r>
              <a:rPr lang="ru-RU" sz="2000" spc="-1" dirty="0" smtClean="0">
                <a:solidFill>
                  <a:srgbClr val="262626"/>
                </a:solidFill>
                <a:latin typeface="Montserrat"/>
              </a:rPr>
              <a:t>В </a:t>
            </a:r>
            <a:r>
              <a:rPr lang="ru-RU" sz="2000" spc="-1" dirty="0">
                <a:solidFill>
                  <a:srgbClr val="262626"/>
                </a:solidFill>
                <a:latin typeface="Montserrat"/>
              </a:rPr>
              <a:t>дальнейшем, из получившегося объекта может быть получена полная его копия –</a:t>
            </a:r>
            <a:r>
              <a:rPr lang="ru-RU" sz="2000" spc="-1" dirty="0" smtClean="0">
                <a:solidFill>
                  <a:srgbClr val="262626"/>
                </a:solidFill>
                <a:latin typeface="Montserrat"/>
              </a:rPr>
              <a:t> </a:t>
            </a:r>
            <a:r>
              <a:rPr lang="ru-RU" sz="2000" spc="-1" dirty="0">
                <a:solidFill>
                  <a:srgbClr val="262626"/>
                </a:solidFill>
                <a:latin typeface="Montserrat"/>
              </a:rPr>
              <a:t>клон. В процессе клонирования копия наследует </a:t>
            </a:r>
            <a:r>
              <a:rPr lang="ru-RU" sz="2000" b="1" spc="-1" dirty="0">
                <a:solidFill>
                  <a:srgbClr val="262626"/>
                </a:solidFill>
                <a:latin typeface="Montserrat"/>
              </a:rPr>
              <a:t>все характеристики </a:t>
            </a:r>
            <a:r>
              <a:rPr lang="ru-RU" sz="2000" spc="-1" dirty="0">
                <a:solidFill>
                  <a:srgbClr val="262626"/>
                </a:solidFill>
                <a:latin typeface="Montserrat"/>
              </a:rPr>
              <a:t>своего прототипа, но с этого момента она становится </a:t>
            </a:r>
            <a:r>
              <a:rPr lang="ru-RU" sz="2000" b="1" spc="-1" dirty="0">
                <a:solidFill>
                  <a:srgbClr val="262626"/>
                </a:solidFill>
                <a:latin typeface="Montserrat"/>
              </a:rPr>
              <a:t>самостоятельной</a:t>
            </a:r>
            <a:r>
              <a:rPr lang="ru-RU" sz="2000" spc="-1" dirty="0">
                <a:solidFill>
                  <a:srgbClr val="262626"/>
                </a:solidFill>
                <a:latin typeface="Montserrat"/>
              </a:rPr>
              <a:t> и может быть изменена</a:t>
            </a:r>
            <a:r>
              <a:rPr lang="ru-RU" sz="2000" spc="-1" dirty="0" smtClean="0">
                <a:solidFill>
                  <a:srgbClr val="262626"/>
                </a:solidFill>
                <a:latin typeface="Montserrat"/>
              </a:rPr>
              <a:t>.</a:t>
            </a:r>
          </a:p>
          <a:p>
            <a:pPr algn="just">
              <a:lnSpc>
                <a:spcPct val="100000"/>
              </a:lnSpc>
            </a:pPr>
            <a:r>
              <a:rPr lang="ru-RU" sz="2000" spc="-1" dirty="0" smtClean="0">
                <a:solidFill>
                  <a:srgbClr val="262626"/>
                </a:solidFill>
                <a:latin typeface="Montserrat"/>
              </a:rPr>
              <a:t>В </a:t>
            </a:r>
            <a:r>
              <a:rPr lang="ru-RU" sz="2000" spc="-1" dirty="0">
                <a:solidFill>
                  <a:srgbClr val="262626"/>
                </a:solidFill>
                <a:latin typeface="Montserrat"/>
              </a:rPr>
              <a:t>некоторых реализациях копии хранят ссылки на объекты-прототипы, </a:t>
            </a:r>
            <a:r>
              <a:rPr lang="ru-RU" sz="2000" b="1" spc="-1" dirty="0">
                <a:solidFill>
                  <a:srgbClr val="262626"/>
                </a:solidFill>
                <a:latin typeface="Montserrat"/>
              </a:rPr>
              <a:t>делегируя</a:t>
            </a:r>
            <a:r>
              <a:rPr lang="ru-RU" sz="2000" spc="-1" dirty="0">
                <a:solidFill>
                  <a:srgbClr val="262626"/>
                </a:solidFill>
                <a:latin typeface="Montserrat"/>
              </a:rPr>
              <a:t> им часть своей функциональности; при этом изменение прототипа может затронуть </a:t>
            </a:r>
            <a:r>
              <a:rPr lang="ru-RU" sz="2000" b="1" spc="-1" dirty="0">
                <a:solidFill>
                  <a:srgbClr val="262626"/>
                </a:solidFill>
                <a:latin typeface="Montserrat"/>
              </a:rPr>
              <a:t>все</a:t>
            </a:r>
            <a:r>
              <a:rPr lang="ru-RU" sz="2000" spc="-1" dirty="0">
                <a:solidFill>
                  <a:srgbClr val="262626"/>
                </a:solidFill>
                <a:latin typeface="Montserrat"/>
              </a:rPr>
              <a:t> его копии.</a:t>
            </a:r>
          </a:p>
        </p:txBody>
      </p:sp>
    </p:spTree>
    <p:extLst>
      <p:ext uri="{BB962C8B-B14F-4D97-AF65-F5344CB8AC3E}">
        <p14:creationId xmlns:p14="http://schemas.microsoft.com/office/powerpoint/2010/main" val="2066669186"/>
      </p:ext>
    </p:extLst>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360000"/>
            <a:ext cx="10080000" cy="72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3600" spc="-1" dirty="0" err="1">
                <a:solidFill>
                  <a:srgbClr val="004892"/>
                </a:solidFill>
                <a:latin typeface="Montserrat"/>
              </a:rPr>
              <a:t>Прототипно</a:t>
            </a:r>
            <a:r>
              <a:rPr lang="ru-RU" sz="3600" spc="-1" dirty="0">
                <a:solidFill>
                  <a:srgbClr val="004892"/>
                </a:solidFill>
                <a:latin typeface="Montserrat"/>
              </a:rPr>
              <a:t>-ориентированный подход</a:t>
            </a:r>
            <a:endParaRPr lang="en-US" sz="3600" spc="-1" dirty="0"/>
          </a:p>
        </p:txBody>
      </p:sp>
      <p:pic>
        <p:nvPicPr>
          <p:cNvPr id="87" name="Рисунок 7"/>
          <p:cNvPicPr/>
          <p:nvPr/>
        </p:nvPicPr>
        <p:blipFill>
          <a:blip r:embed="rId3"/>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a:solidFill>
                  <a:srgbClr val="004892"/>
                </a:solidFill>
                <a:latin typeface="Montserrat"/>
              </a:rPr>
              <a:t>Ульяновский государственный технический университет</a:t>
            </a:r>
            <a:endParaRPr lang="en-US" sz="1400" b="0" strike="noStrike" spc="-1">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
        <p:nvSpPr>
          <p:cNvPr id="90" name="CustomShape 4"/>
          <p:cNvSpPr/>
          <p:nvPr/>
        </p:nvSpPr>
        <p:spPr>
          <a:xfrm>
            <a:off x="360000" y="1260000"/>
            <a:ext cx="10080000" cy="5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2000" spc="-1" dirty="0" smtClean="0">
                <a:solidFill>
                  <a:srgbClr val="004892"/>
                </a:solidFill>
                <a:latin typeface="Montserrat Bold"/>
              </a:rPr>
              <a:t>Создание объекта</a:t>
            </a:r>
            <a:r>
              <a:rPr lang="en-US" sz="2000" spc="-1" dirty="0" smtClean="0">
                <a:solidFill>
                  <a:srgbClr val="004892"/>
                </a:solidFill>
                <a:latin typeface="Montserrat Bold"/>
              </a:rPr>
              <a:t>. </a:t>
            </a:r>
            <a:r>
              <a:rPr lang="en-US" sz="2000" spc="-1" dirty="0" err="1" smtClean="0">
                <a:solidFill>
                  <a:srgbClr val="004892"/>
                </a:solidFill>
                <a:latin typeface="Montserrat Bold"/>
              </a:rPr>
              <a:t>JavaSrcipt</a:t>
            </a:r>
            <a:endParaRPr lang="ru-RU" sz="2000" spc="-1" dirty="0">
              <a:solidFill>
                <a:srgbClr val="004892"/>
              </a:solidFill>
              <a:latin typeface="Montserrat Bold"/>
            </a:endParaRPr>
          </a:p>
        </p:txBody>
      </p:sp>
      <p:pic>
        <p:nvPicPr>
          <p:cNvPr id="2" name="Picture 1"/>
          <p:cNvPicPr>
            <a:picLocks noChangeAspect="1"/>
          </p:cNvPicPr>
          <p:nvPr/>
        </p:nvPicPr>
        <p:blipFill>
          <a:blip r:embed="rId4"/>
          <a:stretch>
            <a:fillRect/>
          </a:stretch>
        </p:blipFill>
        <p:spPr>
          <a:xfrm>
            <a:off x="908334" y="2202322"/>
            <a:ext cx="4286848" cy="3667637"/>
          </a:xfrm>
          <a:prstGeom prst="rect">
            <a:avLst/>
          </a:prstGeom>
        </p:spPr>
      </p:pic>
      <p:pic>
        <p:nvPicPr>
          <p:cNvPr id="3" name="Picture 2"/>
          <p:cNvPicPr>
            <a:picLocks noChangeAspect="1"/>
          </p:cNvPicPr>
          <p:nvPr/>
        </p:nvPicPr>
        <p:blipFill>
          <a:blip r:embed="rId5"/>
          <a:stretch>
            <a:fillRect/>
          </a:stretch>
        </p:blipFill>
        <p:spPr>
          <a:xfrm>
            <a:off x="6601331" y="2612466"/>
            <a:ext cx="1724266" cy="2257740"/>
          </a:xfrm>
          <a:prstGeom prst="rect">
            <a:avLst/>
          </a:prstGeom>
        </p:spPr>
      </p:pic>
    </p:spTree>
    <p:extLst>
      <p:ext uri="{BB962C8B-B14F-4D97-AF65-F5344CB8AC3E}">
        <p14:creationId xmlns:p14="http://schemas.microsoft.com/office/powerpoint/2010/main" val="1255660053"/>
      </p:ext>
    </p:extLst>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360000"/>
            <a:ext cx="10080000" cy="72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3600" spc="-1" dirty="0" err="1">
                <a:solidFill>
                  <a:srgbClr val="004892"/>
                </a:solidFill>
                <a:latin typeface="Montserrat"/>
              </a:rPr>
              <a:t>Прототипно</a:t>
            </a:r>
            <a:r>
              <a:rPr lang="ru-RU" sz="3600" spc="-1" dirty="0">
                <a:solidFill>
                  <a:srgbClr val="004892"/>
                </a:solidFill>
                <a:latin typeface="Montserrat"/>
              </a:rPr>
              <a:t>-ориентированный подход</a:t>
            </a:r>
            <a:endParaRPr lang="en-US" sz="3600" spc="-1" dirty="0"/>
          </a:p>
        </p:txBody>
      </p:sp>
      <p:pic>
        <p:nvPicPr>
          <p:cNvPr id="87" name="Рисунок 7"/>
          <p:cNvPicPr/>
          <p:nvPr/>
        </p:nvPicPr>
        <p:blipFill>
          <a:blip r:embed="rId2"/>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a:solidFill>
                  <a:srgbClr val="004892"/>
                </a:solidFill>
                <a:latin typeface="Montserrat"/>
              </a:rPr>
              <a:t>Ульяновский государственный технический университет</a:t>
            </a:r>
            <a:endParaRPr lang="en-US" sz="1400" b="0" strike="noStrike" spc="-1">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
        <p:nvSpPr>
          <p:cNvPr id="90" name="CustomShape 4"/>
          <p:cNvSpPr/>
          <p:nvPr/>
        </p:nvSpPr>
        <p:spPr>
          <a:xfrm>
            <a:off x="360000" y="1260000"/>
            <a:ext cx="10080000" cy="5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2000" spc="-1" dirty="0">
                <a:solidFill>
                  <a:srgbClr val="004892"/>
                </a:solidFill>
                <a:latin typeface="Montserrat Bold"/>
              </a:rPr>
              <a:t>Делегирование</a:t>
            </a:r>
          </a:p>
        </p:txBody>
      </p:sp>
      <p:sp>
        <p:nvSpPr>
          <p:cNvPr id="7" name="CustomShape 4"/>
          <p:cNvSpPr/>
          <p:nvPr/>
        </p:nvSpPr>
        <p:spPr>
          <a:xfrm>
            <a:off x="360000" y="1980000"/>
            <a:ext cx="10080000" cy="32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just">
              <a:lnSpc>
                <a:spcPct val="100000"/>
              </a:lnSpc>
            </a:pPr>
            <a:r>
              <a:rPr lang="ru-RU" sz="2000" spc="-1" dirty="0">
                <a:solidFill>
                  <a:srgbClr val="262626"/>
                </a:solidFill>
                <a:latin typeface="Montserrat"/>
              </a:rPr>
              <a:t>В прототип-ориентированных языках, использующих делегирование, среда исполнения способна выполнять диспетчеризацию вызовов методов (или поиск нужных данных) просто следуя </a:t>
            </a:r>
            <a:r>
              <a:rPr lang="ru-RU" sz="2000" b="1" spc="-1" dirty="0">
                <a:solidFill>
                  <a:srgbClr val="262626"/>
                </a:solidFill>
                <a:latin typeface="Montserrat"/>
              </a:rPr>
              <a:t>по цепочке </a:t>
            </a:r>
            <a:r>
              <a:rPr lang="ru-RU" sz="2000" spc="-1" dirty="0">
                <a:solidFill>
                  <a:srgbClr val="262626"/>
                </a:solidFill>
                <a:latin typeface="Montserrat"/>
              </a:rPr>
              <a:t>делегирующих указателей (от объекта к его прототипу), до совпадения. В отличие от отношения «класс –</a:t>
            </a:r>
            <a:r>
              <a:rPr lang="ru-RU" sz="2000" spc="-1" dirty="0" smtClean="0">
                <a:solidFill>
                  <a:srgbClr val="262626"/>
                </a:solidFill>
                <a:latin typeface="Montserrat"/>
              </a:rPr>
              <a:t> </a:t>
            </a:r>
            <a:r>
              <a:rPr lang="ru-RU" sz="2000" spc="-1" dirty="0">
                <a:solidFill>
                  <a:srgbClr val="262626"/>
                </a:solidFill>
                <a:latin typeface="Montserrat"/>
              </a:rPr>
              <a:t>экземпляр», отношение «прототип –</a:t>
            </a:r>
            <a:r>
              <a:rPr lang="ru-RU" sz="2000" spc="-1" dirty="0" smtClean="0">
                <a:solidFill>
                  <a:srgbClr val="262626"/>
                </a:solidFill>
                <a:latin typeface="Montserrat"/>
              </a:rPr>
              <a:t> </a:t>
            </a:r>
            <a:r>
              <a:rPr lang="ru-RU" sz="2000" spc="-1" dirty="0">
                <a:solidFill>
                  <a:srgbClr val="262626"/>
                </a:solidFill>
                <a:latin typeface="Montserrat"/>
              </a:rPr>
              <a:t>потомки» не требует, чтобы объекты-потомки сохраняли структурное подобие со своим прототипом. </a:t>
            </a:r>
            <a:endParaRPr lang="ru-RU" sz="2000" spc="-1" dirty="0" smtClean="0">
              <a:solidFill>
                <a:srgbClr val="262626"/>
              </a:solidFill>
              <a:latin typeface="Montserrat"/>
            </a:endParaRPr>
          </a:p>
          <a:p>
            <a:pPr algn="just">
              <a:lnSpc>
                <a:spcPct val="100000"/>
              </a:lnSpc>
            </a:pPr>
            <a:r>
              <a:rPr lang="ru-RU" sz="2000" spc="-1" dirty="0" smtClean="0">
                <a:solidFill>
                  <a:srgbClr val="262626"/>
                </a:solidFill>
                <a:latin typeface="Montserrat"/>
              </a:rPr>
              <a:t>Важно</a:t>
            </a:r>
            <a:r>
              <a:rPr lang="ru-RU" sz="2000" spc="-1" dirty="0">
                <a:solidFill>
                  <a:srgbClr val="262626"/>
                </a:solidFill>
                <a:latin typeface="Montserrat"/>
              </a:rPr>
              <a:t>, что добавлять/удалять/модифицировать можно </a:t>
            </a:r>
            <a:r>
              <a:rPr lang="ru-RU" sz="2000" b="1" spc="-1" dirty="0">
                <a:solidFill>
                  <a:srgbClr val="262626"/>
                </a:solidFill>
                <a:latin typeface="Montserrat"/>
              </a:rPr>
              <a:t>не только данные</a:t>
            </a:r>
            <a:r>
              <a:rPr lang="ru-RU" sz="2000" spc="-1" dirty="0">
                <a:solidFill>
                  <a:srgbClr val="262626"/>
                </a:solidFill>
                <a:latin typeface="Montserrat"/>
              </a:rPr>
              <a:t>, но и </a:t>
            </a:r>
            <a:r>
              <a:rPr lang="ru-RU" sz="2000" spc="-1" dirty="0" smtClean="0">
                <a:solidFill>
                  <a:srgbClr val="262626"/>
                </a:solidFill>
                <a:latin typeface="Montserrat"/>
              </a:rPr>
              <a:t>функции. </a:t>
            </a:r>
            <a:endParaRPr lang="ru-RU" sz="2000" spc="-1" dirty="0">
              <a:solidFill>
                <a:srgbClr val="262626"/>
              </a:solidFill>
              <a:latin typeface="Montserrat"/>
            </a:endParaRPr>
          </a:p>
        </p:txBody>
      </p:sp>
    </p:spTree>
    <p:extLst>
      <p:ext uri="{BB962C8B-B14F-4D97-AF65-F5344CB8AC3E}">
        <p14:creationId xmlns:p14="http://schemas.microsoft.com/office/powerpoint/2010/main" val="3699991866"/>
      </p:ext>
    </p:extLst>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360000"/>
            <a:ext cx="10080000" cy="72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3600" spc="-1" dirty="0" err="1">
                <a:solidFill>
                  <a:srgbClr val="004892"/>
                </a:solidFill>
                <a:latin typeface="Montserrat"/>
              </a:rPr>
              <a:t>Прототипно</a:t>
            </a:r>
            <a:r>
              <a:rPr lang="ru-RU" sz="3600" spc="-1" dirty="0">
                <a:solidFill>
                  <a:srgbClr val="004892"/>
                </a:solidFill>
                <a:latin typeface="Montserrat"/>
              </a:rPr>
              <a:t>-ориентированный подход</a:t>
            </a:r>
            <a:endParaRPr lang="en-US" sz="3600" spc="-1" dirty="0"/>
          </a:p>
        </p:txBody>
      </p:sp>
      <p:pic>
        <p:nvPicPr>
          <p:cNvPr id="87" name="Рисунок 7"/>
          <p:cNvPicPr/>
          <p:nvPr/>
        </p:nvPicPr>
        <p:blipFill>
          <a:blip r:embed="rId3"/>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a:solidFill>
                  <a:srgbClr val="004892"/>
                </a:solidFill>
                <a:latin typeface="Montserrat"/>
              </a:rPr>
              <a:t>Ульяновский государственный технический университет</a:t>
            </a:r>
            <a:endParaRPr lang="en-US" sz="1400" b="0" strike="noStrike" spc="-1">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
        <p:nvSpPr>
          <p:cNvPr id="90" name="CustomShape 4"/>
          <p:cNvSpPr/>
          <p:nvPr/>
        </p:nvSpPr>
        <p:spPr>
          <a:xfrm>
            <a:off x="360000" y="1260000"/>
            <a:ext cx="10080000" cy="5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2000" spc="-1" dirty="0" smtClean="0">
                <a:solidFill>
                  <a:srgbClr val="004892"/>
                </a:solidFill>
                <a:latin typeface="Montserrat Bold"/>
              </a:rPr>
              <a:t>Делегирование</a:t>
            </a:r>
            <a:r>
              <a:rPr lang="en-US" sz="2000" spc="-1" dirty="0" smtClean="0">
                <a:solidFill>
                  <a:srgbClr val="004892"/>
                </a:solidFill>
                <a:latin typeface="Montserrat Bold"/>
              </a:rPr>
              <a:t>. </a:t>
            </a:r>
            <a:r>
              <a:rPr lang="en-US" sz="2000" spc="-1" dirty="0" err="1" smtClean="0">
                <a:solidFill>
                  <a:srgbClr val="004892"/>
                </a:solidFill>
                <a:latin typeface="Montserrat Bold"/>
              </a:rPr>
              <a:t>JavaSrcipt</a:t>
            </a:r>
            <a:endParaRPr lang="ru-RU" sz="2000" spc="-1" dirty="0">
              <a:solidFill>
                <a:srgbClr val="004892"/>
              </a:solidFill>
              <a:latin typeface="Montserrat Bold"/>
            </a:endParaRPr>
          </a:p>
        </p:txBody>
      </p:sp>
      <p:pic>
        <p:nvPicPr>
          <p:cNvPr id="3" name="Picture 2"/>
          <p:cNvPicPr>
            <a:picLocks noChangeAspect="1"/>
          </p:cNvPicPr>
          <p:nvPr/>
        </p:nvPicPr>
        <p:blipFill>
          <a:blip r:embed="rId4"/>
          <a:stretch>
            <a:fillRect/>
          </a:stretch>
        </p:blipFill>
        <p:spPr>
          <a:xfrm>
            <a:off x="3030230" y="2393909"/>
            <a:ext cx="3553321" cy="2772162"/>
          </a:xfrm>
          <a:prstGeom prst="rect">
            <a:avLst/>
          </a:prstGeom>
        </p:spPr>
      </p:pic>
    </p:spTree>
    <p:extLst>
      <p:ext uri="{BB962C8B-B14F-4D97-AF65-F5344CB8AC3E}">
        <p14:creationId xmlns:p14="http://schemas.microsoft.com/office/powerpoint/2010/main" val="1827589135"/>
      </p:ext>
    </p:extLst>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360000"/>
            <a:ext cx="10080000" cy="72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3600" spc="-1" dirty="0" err="1">
                <a:solidFill>
                  <a:srgbClr val="004892"/>
                </a:solidFill>
                <a:latin typeface="Montserrat"/>
              </a:rPr>
              <a:t>Прототипно</a:t>
            </a:r>
            <a:r>
              <a:rPr lang="ru-RU" sz="3600" spc="-1" dirty="0">
                <a:solidFill>
                  <a:srgbClr val="004892"/>
                </a:solidFill>
                <a:latin typeface="Montserrat"/>
              </a:rPr>
              <a:t>-ориентированный подход</a:t>
            </a:r>
            <a:endParaRPr lang="en-US" sz="3600" spc="-1" dirty="0"/>
          </a:p>
        </p:txBody>
      </p:sp>
      <p:pic>
        <p:nvPicPr>
          <p:cNvPr id="87" name="Рисунок 7"/>
          <p:cNvPicPr/>
          <p:nvPr/>
        </p:nvPicPr>
        <p:blipFill>
          <a:blip r:embed="rId2"/>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a:solidFill>
                  <a:srgbClr val="004892"/>
                </a:solidFill>
                <a:latin typeface="Montserrat"/>
              </a:rPr>
              <a:t>Ульяновский государственный технический университет</a:t>
            </a:r>
            <a:endParaRPr lang="en-US" sz="1400" b="0" strike="noStrike" spc="-1">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
        <p:nvSpPr>
          <p:cNvPr id="90" name="CustomShape 4"/>
          <p:cNvSpPr/>
          <p:nvPr/>
        </p:nvSpPr>
        <p:spPr>
          <a:xfrm>
            <a:off x="360000" y="1260000"/>
            <a:ext cx="10080000" cy="5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2000" spc="-1" dirty="0">
                <a:solidFill>
                  <a:srgbClr val="004892"/>
                </a:solidFill>
                <a:latin typeface="Montserrat Bold"/>
              </a:rPr>
              <a:t>Каскадирование</a:t>
            </a:r>
          </a:p>
        </p:txBody>
      </p:sp>
      <p:sp>
        <p:nvSpPr>
          <p:cNvPr id="7" name="CustomShape 4"/>
          <p:cNvSpPr/>
          <p:nvPr/>
        </p:nvSpPr>
        <p:spPr>
          <a:xfrm>
            <a:off x="360000" y="1980000"/>
            <a:ext cx="10080000" cy="32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just">
              <a:lnSpc>
                <a:spcPct val="100000"/>
              </a:lnSpc>
            </a:pPr>
            <a:r>
              <a:rPr lang="ru-RU" sz="2000" spc="-1" dirty="0">
                <a:solidFill>
                  <a:srgbClr val="262626"/>
                </a:solidFill>
                <a:latin typeface="Montserrat"/>
              </a:rPr>
              <a:t>При «чистом» </a:t>
            </a:r>
            <a:r>
              <a:rPr lang="ru-RU" sz="2000" spc="-1" dirty="0" err="1" smtClean="0">
                <a:solidFill>
                  <a:srgbClr val="262626"/>
                </a:solidFill>
                <a:latin typeface="Montserrat"/>
              </a:rPr>
              <a:t>прототипировании</a:t>
            </a:r>
            <a:r>
              <a:rPr lang="ru-RU" sz="2000" spc="-1" dirty="0" smtClean="0">
                <a:solidFill>
                  <a:srgbClr val="262626"/>
                </a:solidFill>
                <a:latin typeface="Montserrat"/>
              </a:rPr>
              <a:t> (каскадным) клонированные </a:t>
            </a:r>
            <a:r>
              <a:rPr lang="ru-RU" sz="2000" spc="-1" dirty="0">
                <a:solidFill>
                  <a:srgbClr val="262626"/>
                </a:solidFill>
                <a:latin typeface="Montserrat"/>
              </a:rPr>
              <a:t>объекты </a:t>
            </a:r>
            <a:r>
              <a:rPr lang="ru-RU" sz="2000" b="1" spc="-1" dirty="0">
                <a:solidFill>
                  <a:srgbClr val="262626"/>
                </a:solidFill>
                <a:latin typeface="Montserrat"/>
              </a:rPr>
              <a:t>не хранят </a:t>
            </a:r>
            <a:r>
              <a:rPr lang="ru-RU" sz="2000" spc="-1" dirty="0">
                <a:solidFill>
                  <a:srgbClr val="262626"/>
                </a:solidFill>
                <a:latin typeface="Montserrat"/>
              </a:rPr>
              <a:t>ссылок на свои прототипы. Прототип копируется один-в-один, со всеми методами и атрибутами, и копии присваивается новое имя (ссылка</a:t>
            </a:r>
            <a:r>
              <a:rPr lang="ru-RU" sz="2000" spc="-1" dirty="0" smtClean="0">
                <a:solidFill>
                  <a:srgbClr val="262626"/>
                </a:solidFill>
                <a:latin typeface="Montserrat"/>
              </a:rPr>
              <a:t>).</a:t>
            </a:r>
          </a:p>
          <a:p>
            <a:pPr algn="just">
              <a:lnSpc>
                <a:spcPct val="100000"/>
              </a:lnSpc>
            </a:pPr>
            <a:endParaRPr lang="ru-RU" sz="2000" spc="-1" dirty="0">
              <a:solidFill>
                <a:srgbClr val="262626"/>
              </a:solidFill>
              <a:latin typeface="Montserrat"/>
            </a:endParaRPr>
          </a:p>
          <a:p>
            <a:pPr algn="just">
              <a:lnSpc>
                <a:spcPct val="100000"/>
              </a:lnSpc>
            </a:pPr>
            <a:r>
              <a:rPr lang="ru-RU" sz="2000" spc="-1" dirty="0">
                <a:solidFill>
                  <a:srgbClr val="262626"/>
                </a:solidFill>
                <a:latin typeface="Montserrat"/>
              </a:rPr>
              <a:t>В число преимуществ данного подхода входит тот факт, что создатель копии может менять её, не опасаясь побочных эффектов среди других потомков своего предка. Также радикально снижаются вычислительные затраты на диспетчеризацию, так как нет необходимости обходить всю цепочку возможных делегатов в поисках подходящего слота (метода или атрибута</a:t>
            </a:r>
            <a:r>
              <a:rPr lang="ru-RU" sz="2000" spc="-1" dirty="0" smtClean="0">
                <a:solidFill>
                  <a:srgbClr val="262626"/>
                </a:solidFill>
                <a:latin typeface="Montserrat"/>
              </a:rPr>
              <a:t>).</a:t>
            </a:r>
            <a:endParaRPr lang="ru-RU" sz="2000" spc="-1" dirty="0">
              <a:solidFill>
                <a:srgbClr val="262626"/>
              </a:solidFill>
              <a:latin typeface="Montserrat"/>
            </a:endParaRPr>
          </a:p>
        </p:txBody>
      </p:sp>
    </p:spTree>
    <p:extLst>
      <p:ext uri="{BB962C8B-B14F-4D97-AF65-F5344CB8AC3E}">
        <p14:creationId xmlns:p14="http://schemas.microsoft.com/office/powerpoint/2010/main" val="191864027"/>
      </p:ext>
    </p:extLst>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360000"/>
            <a:ext cx="10080000" cy="72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3600" spc="-1" dirty="0" err="1">
                <a:solidFill>
                  <a:srgbClr val="004892"/>
                </a:solidFill>
                <a:latin typeface="Montserrat"/>
              </a:rPr>
              <a:t>Прототипно</a:t>
            </a:r>
            <a:r>
              <a:rPr lang="ru-RU" sz="3600" spc="-1" dirty="0">
                <a:solidFill>
                  <a:srgbClr val="004892"/>
                </a:solidFill>
                <a:latin typeface="Montserrat"/>
              </a:rPr>
              <a:t>-ориентированный подход</a:t>
            </a:r>
            <a:endParaRPr lang="en-US" sz="3600" spc="-1" dirty="0"/>
          </a:p>
        </p:txBody>
      </p:sp>
      <p:pic>
        <p:nvPicPr>
          <p:cNvPr id="87" name="Рисунок 7"/>
          <p:cNvPicPr/>
          <p:nvPr/>
        </p:nvPicPr>
        <p:blipFill>
          <a:blip r:embed="rId2"/>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a:solidFill>
                  <a:srgbClr val="004892"/>
                </a:solidFill>
                <a:latin typeface="Montserrat"/>
              </a:rPr>
              <a:t>Ульяновский государственный технический университет</a:t>
            </a:r>
            <a:endParaRPr lang="en-US" sz="1400" b="0" strike="noStrike" spc="-1">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
        <p:nvSpPr>
          <p:cNvPr id="90" name="CustomShape 4"/>
          <p:cNvSpPr/>
          <p:nvPr/>
        </p:nvSpPr>
        <p:spPr>
          <a:xfrm>
            <a:off x="360000" y="1260000"/>
            <a:ext cx="10080000" cy="5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2000" spc="-1" dirty="0">
                <a:solidFill>
                  <a:srgbClr val="004892"/>
                </a:solidFill>
                <a:latin typeface="Montserrat Bold"/>
              </a:rPr>
              <a:t>Каскадирование</a:t>
            </a:r>
          </a:p>
        </p:txBody>
      </p:sp>
      <p:sp>
        <p:nvSpPr>
          <p:cNvPr id="7" name="CustomShape 4"/>
          <p:cNvSpPr/>
          <p:nvPr/>
        </p:nvSpPr>
        <p:spPr>
          <a:xfrm>
            <a:off x="360000" y="1980000"/>
            <a:ext cx="10080000" cy="32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just">
              <a:lnSpc>
                <a:spcPct val="100000"/>
              </a:lnSpc>
            </a:pPr>
            <a:r>
              <a:rPr lang="ru-RU" sz="2000" spc="-1" dirty="0" smtClean="0">
                <a:solidFill>
                  <a:srgbClr val="262626"/>
                </a:solidFill>
                <a:latin typeface="Montserrat"/>
              </a:rPr>
              <a:t>В </a:t>
            </a:r>
            <a:r>
              <a:rPr lang="ru-RU" sz="2000" spc="-1" dirty="0">
                <a:solidFill>
                  <a:srgbClr val="262626"/>
                </a:solidFill>
                <a:latin typeface="Montserrat"/>
              </a:rPr>
              <a:t>число недостатков можно </a:t>
            </a:r>
            <a:r>
              <a:rPr lang="ru-RU" sz="2000" spc="-1" dirty="0" smtClean="0">
                <a:solidFill>
                  <a:srgbClr val="262626"/>
                </a:solidFill>
                <a:latin typeface="Montserrat"/>
              </a:rPr>
              <a:t>включить:</a:t>
            </a:r>
          </a:p>
          <a:p>
            <a:pPr marL="342900" indent="-342900" algn="just">
              <a:lnSpc>
                <a:spcPct val="100000"/>
              </a:lnSpc>
              <a:buFont typeface="Wingdings" panose="05000000000000000000" pitchFamily="2" charset="2"/>
              <a:buChar char="§"/>
            </a:pPr>
            <a:r>
              <a:rPr lang="ru-RU" sz="2000" spc="-1" dirty="0" smtClean="0">
                <a:solidFill>
                  <a:srgbClr val="262626"/>
                </a:solidFill>
                <a:latin typeface="Montserrat"/>
              </a:rPr>
              <a:t>трудности </a:t>
            </a:r>
            <a:r>
              <a:rPr lang="ru-RU" sz="2000" spc="-1" dirty="0">
                <a:solidFill>
                  <a:srgbClr val="262626"/>
                </a:solidFill>
                <a:latin typeface="Montserrat"/>
              </a:rPr>
              <a:t>с распространением изменений в системе: модификация прототипа не </a:t>
            </a:r>
            <a:r>
              <a:rPr lang="ru-RU" sz="2000" spc="-1" dirty="0" smtClean="0">
                <a:solidFill>
                  <a:srgbClr val="262626"/>
                </a:solidFill>
                <a:latin typeface="Montserrat"/>
              </a:rPr>
              <a:t>влечет </a:t>
            </a:r>
            <a:r>
              <a:rPr lang="ru-RU" sz="2000" spc="-1" dirty="0">
                <a:solidFill>
                  <a:srgbClr val="262626"/>
                </a:solidFill>
                <a:latin typeface="Montserrat"/>
              </a:rPr>
              <a:t>за собой немедленное и автоматическое изменение всех его потомков. </a:t>
            </a:r>
            <a:endParaRPr lang="ru-RU" sz="2000" spc="-1" dirty="0" smtClean="0">
              <a:solidFill>
                <a:srgbClr val="262626"/>
              </a:solidFill>
              <a:latin typeface="Montserrat"/>
            </a:endParaRPr>
          </a:p>
          <a:p>
            <a:pPr marL="342900" indent="-342900" algn="just">
              <a:lnSpc>
                <a:spcPct val="100000"/>
              </a:lnSpc>
              <a:buFont typeface="Wingdings" panose="05000000000000000000" pitchFamily="2" charset="2"/>
              <a:buChar char="§"/>
            </a:pPr>
            <a:r>
              <a:rPr lang="ru-RU" sz="2000" spc="-1" dirty="0" smtClean="0">
                <a:solidFill>
                  <a:srgbClr val="262626"/>
                </a:solidFill>
                <a:latin typeface="Montserrat"/>
              </a:rPr>
              <a:t>простейшие </a:t>
            </a:r>
            <a:r>
              <a:rPr lang="ru-RU" sz="2000" spc="-1" dirty="0">
                <a:solidFill>
                  <a:srgbClr val="262626"/>
                </a:solidFill>
                <a:latin typeface="Montserrat"/>
              </a:rPr>
              <a:t>реализации этой модели приводят к увеличенному (по сравнению с моделью делегирования) расходу памяти, так как каждый клон, пока он не </a:t>
            </a:r>
            <a:r>
              <a:rPr lang="ru-RU" sz="2000" spc="-1" dirty="0" smtClean="0">
                <a:solidFill>
                  <a:srgbClr val="262626"/>
                </a:solidFill>
                <a:latin typeface="Montserrat"/>
              </a:rPr>
              <a:t>изменен</a:t>
            </a:r>
            <a:r>
              <a:rPr lang="ru-RU" sz="2000" spc="-1" dirty="0">
                <a:solidFill>
                  <a:srgbClr val="262626"/>
                </a:solidFill>
                <a:latin typeface="Montserrat"/>
              </a:rPr>
              <a:t>, будет содержать копию данных своего прототипа</a:t>
            </a:r>
            <a:r>
              <a:rPr lang="ru-RU" sz="2000" spc="-1" dirty="0" smtClean="0">
                <a:solidFill>
                  <a:srgbClr val="262626"/>
                </a:solidFill>
                <a:latin typeface="Montserrat"/>
              </a:rPr>
              <a:t>.</a:t>
            </a:r>
            <a:endParaRPr lang="ru-RU" sz="2000" spc="-1" dirty="0">
              <a:solidFill>
                <a:srgbClr val="262626"/>
              </a:solidFill>
              <a:latin typeface="Montserrat"/>
            </a:endParaRPr>
          </a:p>
        </p:txBody>
      </p:sp>
    </p:spTree>
    <p:extLst>
      <p:ext uri="{BB962C8B-B14F-4D97-AF65-F5344CB8AC3E}">
        <p14:creationId xmlns:p14="http://schemas.microsoft.com/office/powerpoint/2010/main" val="1120086548"/>
      </p:ext>
    </p:extLst>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360000"/>
            <a:ext cx="10080000" cy="72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3600" spc="-1" dirty="0" err="1">
                <a:solidFill>
                  <a:srgbClr val="004892"/>
                </a:solidFill>
                <a:latin typeface="Montserrat"/>
              </a:rPr>
              <a:t>Прототипно</a:t>
            </a:r>
            <a:r>
              <a:rPr lang="ru-RU" sz="3600" spc="-1" dirty="0">
                <a:solidFill>
                  <a:srgbClr val="004892"/>
                </a:solidFill>
                <a:latin typeface="Montserrat"/>
              </a:rPr>
              <a:t>-ориентированный подход</a:t>
            </a:r>
            <a:endParaRPr lang="en-US" sz="3600" spc="-1" dirty="0"/>
          </a:p>
        </p:txBody>
      </p:sp>
      <p:pic>
        <p:nvPicPr>
          <p:cNvPr id="87" name="Рисунок 7"/>
          <p:cNvPicPr/>
          <p:nvPr/>
        </p:nvPicPr>
        <p:blipFill>
          <a:blip r:embed="rId2"/>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a:solidFill>
                  <a:srgbClr val="004892"/>
                </a:solidFill>
                <a:latin typeface="Montserrat"/>
              </a:rPr>
              <a:t>Ульяновский государственный технический университет</a:t>
            </a:r>
            <a:endParaRPr lang="en-US" sz="1400" b="0" strike="noStrike" spc="-1">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
        <p:nvSpPr>
          <p:cNvPr id="90" name="CustomShape 4"/>
          <p:cNvSpPr/>
          <p:nvPr/>
        </p:nvSpPr>
        <p:spPr>
          <a:xfrm>
            <a:off x="360000" y="1260000"/>
            <a:ext cx="10080000" cy="5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2000" spc="-1" dirty="0" smtClean="0">
                <a:solidFill>
                  <a:srgbClr val="004892"/>
                </a:solidFill>
                <a:latin typeface="Montserrat Bold"/>
              </a:rPr>
              <a:t>Недостатки</a:t>
            </a:r>
            <a:endParaRPr lang="ru-RU" sz="2000" spc="-1" dirty="0">
              <a:solidFill>
                <a:srgbClr val="004892"/>
              </a:solidFill>
              <a:latin typeface="Montserrat Bold"/>
            </a:endParaRPr>
          </a:p>
        </p:txBody>
      </p:sp>
      <p:sp>
        <p:nvSpPr>
          <p:cNvPr id="7" name="CustomShape 4"/>
          <p:cNvSpPr/>
          <p:nvPr/>
        </p:nvSpPr>
        <p:spPr>
          <a:xfrm>
            <a:off x="360000" y="1980000"/>
            <a:ext cx="10080000" cy="32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just">
              <a:lnSpc>
                <a:spcPct val="100000"/>
              </a:lnSpc>
            </a:pPr>
            <a:r>
              <a:rPr lang="ru-RU" sz="2000" spc="-1" dirty="0" smtClean="0">
                <a:solidFill>
                  <a:srgbClr val="262626"/>
                </a:solidFill>
                <a:latin typeface="Montserrat"/>
              </a:rPr>
              <a:t>К недостаткам ПОП относят:</a:t>
            </a:r>
          </a:p>
          <a:p>
            <a:pPr marL="342900" indent="-342900" algn="just">
              <a:lnSpc>
                <a:spcPct val="100000"/>
              </a:lnSpc>
              <a:buFont typeface="Wingdings" panose="05000000000000000000" pitchFamily="2" charset="2"/>
              <a:buChar char="§"/>
            </a:pPr>
            <a:r>
              <a:rPr lang="ru-RU" sz="2000" spc="-1" dirty="0" smtClean="0">
                <a:solidFill>
                  <a:srgbClr val="262626"/>
                </a:solidFill>
                <a:latin typeface="Montserrat"/>
              </a:rPr>
              <a:t>отсутствие </a:t>
            </a:r>
            <a:r>
              <a:rPr lang="ru-RU" sz="2000" spc="-1" dirty="0">
                <a:solidFill>
                  <a:srgbClr val="262626"/>
                </a:solidFill>
                <a:latin typeface="Montserrat"/>
              </a:rPr>
              <a:t>строгой типизации: классы часто рассматриваются как </a:t>
            </a:r>
            <a:r>
              <a:rPr lang="ru-RU" sz="2000" spc="-1" dirty="0" smtClean="0">
                <a:solidFill>
                  <a:srgbClr val="262626"/>
                </a:solidFill>
                <a:latin typeface="Montserrat"/>
              </a:rPr>
              <a:t>типы, </a:t>
            </a:r>
            <a:r>
              <a:rPr lang="ru-RU" sz="2000" spc="-1" dirty="0">
                <a:solidFill>
                  <a:srgbClr val="262626"/>
                </a:solidFill>
                <a:latin typeface="Montserrat"/>
              </a:rPr>
              <a:t>и предполагается, что классы предоставляют </a:t>
            </a:r>
            <a:r>
              <a:rPr lang="ru-RU" sz="2000" spc="-1" dirty="0" smtClean="0">
                <a:solidFill>
                  <a:srgbClr val="262626"/>
                </a:solidFill>
                <a:latin typeface="Montserrat"/>
              </a:rPr>
              <a:t>определенные договоренности </a:t>
            </a:r>
            <a:r>
              <a:rPr lang="ru-RU" sz="2000" spc="-1" dirty="0">
                <a:solidFill>
                  <a:srgbClr val="262626"/>
                </a:solidFill>
                <a:latin typeface="Montserrat"/>
              </a:rPr>
              <a:t>и гарантируют, что экземпляры будут вести себя вполне </a:t>
            </a:r>
            <a:r>
              <a:rPr lang="ru-RU" sz="2000" spc="-1" dirty="0" smtClean="0">
                <a:solidFill>
                  <a:srgbClr val="262626"/>
                </a:solidFill>
                <a:latin typeface="Montserrat"/>
              </a:rPr>
              <a:t>определенным образом; </a:t>
            </a:r>
          </a:p>
          <a:p>
            <a:pPr marL="342900" indent="-342900" algn="just">
              <a:lnSpc>
                <a:spcPct val="100000"/>
              </a:lnSpc>
              <a:buFont typeface="Wingdings" panose="05000000000000000000" pitchFamily="2" charset="2"/>
              <a:buChar char="§"/>
            </a:pPr>
            <a:r>
              <a:rPr lang="ru-RU" sz="2000" spc="-1" dirty="0" smtClean="0">
                <a:solidFill>
                  <a:srgbClr val="262626"/>
                </a:solidFill>
                <a:latin typeface="Montserrat"/>
              </a:rPr>
              <a:t>более сложный </a:t>
            </a:r>
            <a:r>
              <a:rPr lang="ru-RU" sz="2000" spc="-1" dirty="0">
                <a:solidFill>
                  <a:srgbClr val="262626"/>
                </a:solidFill>
                <a:latin typeface="Montserrat"/>
              </a:rPr>
              <a:t>процесс компиляции и интерпретации</a:t>
            </a:r>
            <a:r>
              <a:rPr lang="ru-RU" sz="2000" spc="-1" dirty="0" smtClean="0">
                <a:solidFill>
                  <a:srgbClr val="262626"/>
                </a:solidFill>
                <a:latin typeface="Montserrat"/>
              </a:rPr>
              <a:t>, в виду наличия механизмов делегирования;</a:t>
            </a:r>
          </a:p>
          <a:p>
            <a:pPr marL="342900" indent="-342900" algn="just">
              <a:lnSpc>
                <a:spcPct val="100000"/>
              </a:lnSpc>
              <a:buFont typeface="Wingdings" panose="05000000000000000000" pitchFamily="2" charset="2"/>
              <a:buChar char="§"/>
            </a:pPr>
            <a:r>
              <a:rPr lang="ru-RU" sz="2000" spc="-1" dirty="0" smtClean="0">
                <a:solidFill>
                  <a:srgbClr val="262626"/>
                </a:solidFill>
                <a:latin typeface="Montserrat"/>
              </a:rPr>
              <a:t>отсутствие наработанных практик по использованию ПОП по причине малой распространенности.</a:t>
            </a:r>
            <a:endParaRPr lang="ru-RU" sz="2000" spc="-1" dirty="0">
              <a:solidFill>
                <a:srgbClr val="262626"/>
              </a:solidFill>
              <a:latin typeface="Montserrat"/>
            </a:endParaRPr>
          </a:p>
        </p:txBody>
      </p:sp>
    </p:spTree>
    <p:extLst>
      <p:ext uri="{BB962C8B-B14F-4D97-AF65-F5344CB8AC3E}">
        <p14:creationId xmlns:p14="http://schemas.microsoft.com/office/powerpoint/2010/main" val="2083084176"/>
      </p:ext>
    </p:extLst>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2160000"/>
            <a:ext cx="10080000" cy="90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3600" spc="-1" dirty="0">
                <a:solidFill>
                  <a:srgbClr val="004892"/>
                </a:solidFill>
                <a:latin typeface="Montserrat"/>
              </a:rPr>
              <a:t>Контроль типов</a:t>
            </a:r>
            <a:endParaRPr lang="en-US" sz="3600" b="0" strike="noStrike" spc="-1" dirty="0">
              <a:latin typeface="Arial"/>
            </a:endParaRPr>
          </a:p>
        </p:txBody>
      </p:sp>
      <p:pic>
        <p:nvPicPr>
          <p:cNvPr id="87" name="Рисунок 7"/>
          <p:cNvPicPr/>
          <p:nvPr/>
        </p:nvPicPr>
        <p:blipFill>
          <a:blip r:embed="rId2"/>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dirty="0">
                <a:solidFill>
                  <a:srgbClr val="004892"/>
                </a:solidFill>
                <a:latin typeface="Montserrat"/>
              </a:rPr>
              <a:t>Ульяновский государственный технический университет</a:t>
            </a:r>
            <a:endParaRPr lang="en-US" sz="1400" b="0" strike="noStrike" spc="-1" dirty="0">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Tree>
    <p:extLst>
      <p:ext uri="{BB962C8B-B14F-4D97-AF65-F5344CB8AC3E}">
        <p14:creationId xmlns:p14="http://schemas.microsoft.com/office/powerpoint/2010/main" val="3025919529"/>
      </p:ext>
    </p:extLst>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360000"/>
            <a:ext cx="10080000" cy="72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3600" spc="-1" dirty="0">
                <a:solidFill>
                  <a:srgbClr val="004892"/>
                </a:solidFill>
                <a:latin typeface="Montserrat"/>
              </a:rPr>
              <a:t>Контроль типов</a:t>
            </a:r>
            <a:endParaRPr lang="en-US" sz="3600" spc="-1" dirty="0"/>
          </a:p>
        </p:txBody>
      </p:sp>
      <p:pic>
        <p:nvPicPr>
          <p:cNvPr id="87" name="Рисунок 7"/>
          <p:cNvPicPr/>
          <p:nvPr/>
        </p:nvPicPr>
        <p:blipFill>
          <a:blip r:embed="rId2"/>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a:solidFill>
                  <a:srgbClr val="004892"/>
                </a:solidFill>
                <a:latin typeface="Montserrat"/>
              </a:rPr>
              <a:t>Ульяновский государственный технический университет</a:t>
            </a:r>
            <a:endParaRPr lang="en-US" sz="1400" b="0" strike="noStrike" spc="-1">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
        <p:nvSpPr>
          <p:cNvPr id="90" name="CustomShape 4"/>
          <p:cNvSpPr/>
          <p:nvPr/>
        </p:nvSpPr>
        <p:spPr>
          <a:xfrm>
            <a:off x="360000" y="1260000"/>
            <a:ext cx="10080000" cy="5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2000" spc="-1" dirty="0" smtClean="0">
                <a:solidFill>
                  <a:srgbClr val="004892"/>
                </a:solidFill>
                <a:latin typeface="Montserrat Bold"/>
              </a:rPr>
              <a:t>Тип данных</a:t>
            </a:r>
            <a:endParaRPr lang="ru-RU" sz="2000" spc="-1" dirty="0">
              <a:solidFill>
                <a:srgbClr val="004892"/>
              </a:solidFill>
              <a:latin typeface="Montserrat Bold"/>
            </a:endParaRPr>
          </a:p>
        </p:txBody>
      </p:sp>
      <p:sp>
        <p:nvSpPr>
          <p:cNvPr id="7" name="CustomShape 4"/>
          <p:cNvSpPr/>
          <p:nvPr/>
        </p:nvSpPr>
        <p:spPr>
          <a:xfrm>
            <a:off x="360000" y="1980000"/>
            <a:ext cx="10080000" cy="32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just">
              <a:lnSpc>
                <a:spcPct val="100000"/>
              </a:lnSpc>
            </a:pPr>
            <a:r>
              <a:rPr lang="ru-RU" sz="2000" spc="-1" dirty="0">
                <a:solidFill>
                  <a:srgbClr val="262626"/>
                </a:solidFill>
                <a:latin typeface="Montserrat"/>
              </a:rPr>
              <a:t>Тип данных – </a:t>
            </a:r>
            <a:r>
              <a:rPr lang="ru-RU" sz="2000" spc="-1" dirty="0" smtClean="0">
                <a:solidFill>
                  <a:srgbClr val="262626"/>
                </a:solidFill>
                <a:latin typeface="Montserrat"/>
              </a:rPr>
              <a:t>фундаментальное </a:t>
            </a:r>
            <a:r>
              <a:rPr lang="ru-RU" sz="2000" spc="-1" dirty="0">
                <a:solidFill>
                  <a:srgbClr val="262626"/>
                </a:solidFill>
                <a:latin typeface="Montserrat"/>
              </a:rPr>
              <a:t>понятие теории программирования.</a:t>
            </a:r>
          </a:p>
          <a:p>
            <a:pPr algn="just">
              <a:lnSpc>
                <a:spcPct val="100000"/>
              </a:lnSpc>
            </a:pPr>
            <a:r>
              <a:rPr lang="ru-RU" sz="2000" spc="-1" dirty="0" smtClean="0">
                <a:solidFill>
                  <a:srgbClr val="262626"/>
                </a:solidFill>
                <a:latin typeface="Montserrat"/>
              </a:rPr>
              <a:t>Тип данных определяет:</a:t>
            </a:r>
          </a:p>
          <a:p>
            <a:pPr marL="342900" indent="-342900" algn="just">
              <a:lnSpc>
                <a:spcPct val="100000"/>
              </a:lnSpc>
              <a:buFont typeface="Wingdings" panose="05000000000000000000" pitchFamily="2" charset="2"/>
              <a:buChar char="§"/>
            </a:pPr>
            <a:r>
              <a:rPr lang="ru-RU" sz="2000" spc="-1" dirty="0" smtClean="0">
                <a:solidFill>
                  <a:srgbClr val="262626"/>
                </a:solidFill>
                <a:latin typeface="Montserrat"/>
              </a:rPr>
              <a:t>диапазон возможных значений (множество значений), которые может принимать переменная от этого типа;</a:t>
            </a:r>
          </a:p>
          <a:p>
            <a:pPr marL="342900" indent="-342900" algn="just">
              <a:lnSpc>
                <a:spcPct val="100000"/>
              </a:lnSpc>
              <a:buFont typeface="Wingdings" panose="05000000000000000000" pitchFamily="2" charset="2"/>
              <a:buChar char="§"/>
            </a:pPr>
            <a:r>
              <a:rPr lang="ru-RU" sz="2000" spc="-1" dirty="0" smtClean="0">
                <a:solidFill>
                  <a:srgbClr val="262626"/>
                </a:solidFill>
                <a:latin typeface="Montserrat"/>
              </a:rPr>
              <a:t>способ </a:t>
            </a:r>
            <a:r>
              <a:rPr lang="ru-RU" sz="2000" spc="-1" dirty="0">
                <a:solidFill>
                  <a:srgbClr val="262626"/>
                </a:solidFill>
                <a:latin typeface="Montserrat"/>
              </a:rPr>
              <a:t>хранения в </a:t>
            </a:r>
            <a:r>
              <a:rPr lang="ru-RU" sz="2000" spc="-1" dirty="0" smtClean="0">
                <a:solidFill>
                  <a:srgbClr val="262626"/>
                </a:solidFill>
                <a:latin typeface="Montserrat"/>
              </a:rPr>
              <a:t>памяти (значимые и ссылочные);</a:t>
            </a:r>
          </a:p>
          <a:p>
            <a:pPr marL="342900" indent="-342900" algn="just">
              <a:lnSpc>
                <a:spcPct val="100000"/>
              </a:lnSpc>
              <a:buFont typeface="Wingdings" panose="05000000000000000000" pitchFamily="2" charset="2"/>
              <a:buChar char="§"/>
            </a:pPr>
            <a:r>
              <a:rPr lang="ru-RU" sz="2000" b="1" spc="-1" dirty="0" smtClean="0">
                <a:solidFill>
                  <a:srgbClr val="262626"/>
                </a:solidFill>
                <a:latin typeface="Montserrat"/>
              </a:rPr>
              <a:t>набор допустимых операций над типом, а также поведение переменной от типа при выполнении операции</a:t>
            </a:r>
            <a:r>
              <a:rPr lang="ru-RU" sz="2000" spc="-1" dirty="0" smtClean="0">
                <a:solidFill>
                  <a:srgbClr val="262626"/>
                </a:solidFill>
                <a:latin typeface="Montserrat"/>
              </a:rPr>
              <a:t>.</a:t>
            </a:r>
            <a:endParaRPr lang="ru-RU" sz="2000" spc="-1" dirty="0">
              <a:solidFill>
                <a:srgbClr val="262626"/>
              </a:solidFill>
              <a:latin typeface="Montserrat"/>
            </a:endParaRPr>
          </a:p>
        </p:txBody>
      </p:sp>
    </p:spTree>
    <p:extLst>
      <p:ext uri="{BB962C8B-B14F-4D97-AF65-F5344CB8AC3E}">
        <p14:creationId xmlns:p14="http://schemas.microsoft.com/office/powerpoint/2010/main" val="1880878453"/>
      </p:ext>
    </p:extLst>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360000"/>
            <a:ext cx="10080000" cy="72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3600" spc="-1" dirty="0">
                <a:solidFill>
                  <a:srgbClr val="004892"/>
                </a:solidFill>
                <a:latin typeface="Montserrat"/>
              </a:rPr>
              <a:t>Контроль типов</a:t>
            </a:r>
            <a:endParaRPr lang="en-US" sz="3600" spc="-1" dirty="0"/>
          </a:p>
        </p:txBody>
      </p:sp>
      <p:pic>
        <p:nvPicPr>
          <p:cNvPr id="87" name="Рисунок 7"/>
          <p:cNvPicPr/>
          <p:nvPr/>
        </p:nvPicPr>
        <p:blipFill>
          <a:blip r:embed="rId2"/>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a:solidFill>
                  <a:srgbClr val="004892"/>
                </a:solidFill>
                <a:latin typeface="Montserrat"/>
              </a:rPr>
              <a:t>Ульяновский государственный технический университет</a:t>
            </a:r>
            <a:endParaRPr lang="en-US" sz="1400" b="0" strike="noStrike" spc="-1">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
        <p:nvSpPr>
          <p:cNvPr id="90" name="CustomShape 4"/>
          <p:cNvSpPr/>
          <p:nvPr/>
        </p:nvSpPr>
        <p:spPr>
          <a:xfrm>
            <a:off x="360000" y="1260000"/>
            <a:ext cx="10080000" cy="5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2000" spc="-1" dirty="0" err="1" smtClean="0">
                <a:solidFill>
                  <a:srgbClr val="004892"/>
                </a:solidFill>
                <a:latin typeface="Montserrat Bold"/>
              </a:rPr>
              <a:t>Типобезопасность</a:t>
            </a:r>
            <a:endParaRPr lang="ru-RU" sz="2000" spc="-1" dirty="0">
              <a:solidFill>
                <a:srgbClr val="004892"/>
              </a:solidFill>
              <a:latin typeface="Montserrat Bold"/>
            </a:endParaRPr>
          </a:p>
        </p:txBody>
      </p:sp>
      <p:sp>
        <p:nvSpPr>
          <p:cNvPr id="7" name="CustomShape 4"/>
          <p:cNvSpPr/>
          <p:nvPr/>
        </p:nvSpPr>
        <p:spPr>
          <a:xfrm>
            <a:off x="360000" y="1980000"/>
            <a:ext cx="10080000" cy="32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just">
              <a:lnSpc>
                <a:spcPct val="100000"/>
              </a:lnSpc>
            </a:pPr>
            <a:r>
              <a:rPr lang="ru-RU" sz="2000" spc="-1" dirty="0" err="1">
                <a:solidFill>
                  <a:srgbClr val="262626"/>
                </a:solidFill>
                <a:latin typeface="Montserrat"/>
              </a:rPr>
              <a:t>Типобезопасность</a:t>
            </a:r>
            <a:r>
              <a:rPr lang="ru-RU" sz="2000" spc="-1" dirty="0">
                <a:solidFill>
                  <a:srgbClr val="262626"/>
                </a:solidFill>
                <a:latin typeface="Montserrat"/>
              </a:rPr>
              <a:t> – </a:t>
            </a:r>
            <a:r>
              <a:rPr lang="ru-RU" sz="2000" spc="-1" dirty="0" smtClean="0">
                <a:solidFill>
                  <a:srgbClr val="262626"/>
                </a:solidFill>
                <a:latin typeface="Montserrat"/>
              </a:rPr>
              <a:t>свойство </a:t>
            </a:r>
            <a:r>
              <a:rPr lang="ru-RU" sz="2000" spc="-1" dirty="0">
                <a:solidFill>
                  <a:srgbClr val="262626"/>
                </a:solidFill>
                <a:latin typeface="Montserrat"/>
              </a:rPr>
              <a:t>языка программирования, характеризующее безопасность и </a:t>
            </a:r>
            <a:r>
              <a:rPr lang="ru-RU" sz="2000" spc="-1" dirty="0" smtClean="0">
                <a:solidFill>
                  <a:srgbClr val="262626"/>
                </a:solidFill>
                <a:latin typeface="Montserrat"/>
              </a:rPr>
              <a:t>надежность </a:t>
            </a:r>
            <a:r>
              <a:rPr lang="ru-RU" sz="2000" spc="-1" dirty="0">
                <a:solidFill>
                  <a:srgbClr val="262626"/>
                </a:solidFill>
                <a:latin typeface="Montserrat"/>
              </a:rPr>
              <a:t>в применении его системы типов</a:t>
            </a:r>
            <a:r>
              <a:rPr lang="ru-RU" sz="2000" spc="-1" dirty="0" smtClean="0">
                <a:solidFill>
                  <a:srgbClr val="262626"/>
                </a:solidFill>
                <a:latin typeface="Montserrat"/>
              </a:rPr>
              <a:t>.</a:t>
            </a:r>
          </a:p>
          <a:p>
            <a:pPr algn="just">
              <a:lnSpc>
                <a:spcPct val="100000"/>
              </a:lnSpc>
            </a:pPr>
            <a:r>
              <a:rPr lang="ru-RU" sz="2000" spc="-1" dirty="0">
                <a:solidFill>
                  <a:srgbClr val="262626"/>
                </a:solidFill>
                <a:latin typeface="Montserrat"/>
              </a:rPr>
              <a:t>Система типов называется безопасной </a:t>
            </a:r>
            <a:r>
              <a:rPr lang="ru-RU" sz="2000" spc="-1" dirty="0" smtClean="0">
                <a:solidFill>
                  <a:srgbClr val="262626"/>
                </a:solidFill>
                <a:latin typeface="Montserrat"/>
              </a:rPr>
              <a:t>или надежной, </a:t>
            </a:r>
            <a:r>
              <a:rPr lang="ru-RU" sz="2000" spc="-1" dirty="0">
                <a:solidFill>
                  <a:srgbClr val="262626"/>
                </a:solidFill>
                <a:latin typeface="Montserrat"/>
              </a:rPr>
              <a:t>если в программах, прошедших проверку согласования </a:t>
            </a:r>
            <a:r>
              <a:rPr lang="ru-RU" sz="2000" spc="-1" dirty="0" smtClean="0">
                <a:solidFill>
                  <a:srgbClr val="262626"/>
                </a:solidFill>
                <a:latin typeface="Montserrat"/>
              </a:rPr>
              <a:t>типов, </a:t>
            </a:r>
            <a:r>
              <a:rPr lang="ru-RU" sz="2000" spc="-1" dirty="0">
                <a:solidFill>
                  <a:srgbClr val="262626"/>
                </a:solidFill>
                <a:latin typeface="Montserrat"/>
              </a:rPr>
              <a:t>исключена возможность возникновения ошибок согласования типов </a:t>
            </a:r>
            <a:r>
              <a:rPr lang="ru-RU" sz="2000" b="1" spc="-1" dirty="0">
                <a:solidFill>
                  <a:srgbClr val="262626"/>
                </a:solidFill>
                <a:latin typeface="Montserrat"/>
              </a:rPr>
              <a:t>во время </a:t>
            </a:r>
            <a:r>
              <a:rPr lang="ru-RU" sz="2000" b="1" spc="-1" dirty="0" smtClean="0">
                <a:solidFill>
                  <a:srgbClr val="262626"/>
                </a:solidFill>
                <a:latin typeface="Montserrat"/>
              </a:rPr>
              <a:t>выполнения</a:t>
            </a:r>
            <a:r>
              <a:rPr lang="ru-RU" sz="2000" spc="-1" dirty="0" smtClean="0">
                <a:solidFill>
                  <a:srgbClr val="262626"/>
                </a:solidFill>
                <a:latin typeface="Montserrat"/>
              </a:rPr>
              <a:t>.</a:t>
            </a:r>
          </a:p>
          <a:p>
            <a:pPr algn="just">
              <a:lnSpc>
                <a:spcPct val="100000"/>
              </a:lnSpc>
            </a:pPr>
            <a:r>
              <a:rPr lang="ru-RU" sz="2000" spc="-1" dirty="0" smtClean="0">
                <a:solidFill>
                  <a:srgbClr val="262626"/>
                </a:solidFill>
                <a:latin typeface="Montserrat"/>
              </a:rPr>
              <a:t>Проверка соответствия типу выявляет ошибки в коде, связанные с ситуациями</a:t>
            </a:r>
            <a:r>
              <a:rPr lang="ru-RU" sz="2000" spc="-1" dirty="0">
                <a:solidFill>
                  <a:srgbClr val="262626"/>
                </a:solidFill>
                <a:latin typeface="Montserrat"/>
              </a:rPr>
              <a:t>, когда операция производится с тем типом, с каким она производиться не </a:t>
            </a:r>
            <a:r>
              <a:rPr lang="ru-RU" sz="2000" spc="-1" dirty="0" smtClean="0">
                <a:solidFill>
                  <a:srgbClr val="262626"/>
                </a:solidFill>
                <a:latin typeface="Montserrat"/>
              </a:rPr>
              <a:t>должна.</a:t>
            </a:r>
            <a:endParaRPr lang="ru-RU" sz="2000" spc="-1" dirty="0">
              <a:solidFill>
                <a:srgbClr val="262626"/>
              </a:solidFill>
              <a:latin typeface="Montserrat"/>
            </a:endParaRPr>
          </a:p>
        </p:txBody>
      </p:sp>
    </p:spTree>
    <p:extLst>
      <p:ext uri="{BB962C8B-B14F-4D97-AF65-F5344CB8AC3E}">
        <p14:creationId xmlns:p14="http://schemas.microsoft.com/office/powerpoint/2010/main" val="3562196260"/>
      </p:ext>
    </p:extLst>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360000"/>
            <a:ext cx="10080000" cy="72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3600" spc="-1" dirty="0">
                <a:solidFill>
                  <a:srgbClr val="004892"/>
                </a:solidFill>
                <a:latin typeface="Montserrat"/>
              </a:rPr>
              <a:t>Контроль типов</a:t>
            </a:r>
            <a:endParaRPr lang="en-US" sz="3600" spc="-1" dirty="0"/>
          </a:p>
        </p:txBody>
      </p:sp>
      <p:pic>
        <p:nvPicPr>
          <p:cNvPr id="87" name="Рисунок 7"/>
          <p:cNvPicPr/>
          <p:nvPr/>
        </p:nvPicPr>
        <p:blipFill>
          <a:blip r:embed="rId2"/>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a:solidFill>
                  <a:srgbClr val="004892"/>
                </a:solidFill>
                <a:latin typeface="Montserrat"/>
              </a:rPr>
              <a:t>Ульяновский государственный технический университет</a:t>
            </a:r>
            <a:endParaRPr lang="en-US" sz="1400" b="0" strike="noStrike" spc="-1">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
        <p:nvSpPr>
          <p:cNvPr id="90" name="CustomShape 4"/>
          <p:cNvSpPr/>
          <p:nvPr/>
        </p:nvSpPr>
        <p:spPr>
          <a:xfrm>
            <a:off x="360000" y="1260000"/>
            <a:ext cx="10080000" cy="5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2000" spc="-1" dirty="0" smtClean="0">
                <a:solidFill>
                  <a:srgbClr val="004892"/>
                </a:solidFill>
                <a:latin typeface="Montserrat Bold"/>
              </a:rPr>
              <a:t>Контроль типов</a:t>
            </a:r>
            <a:endParaRPr lang="ru-RU" sz="2000" spc="-1" dirty="0">
              <a:solidFill>
                <a:srgbClr val="004892"/>
              </a:solidFill>
              <a:latin typeface="Montserrat Bold"/>
            </a:endParaRPr>
          </a:p>
        </p:txBody>
      </p:sp>
      <p:sp>
        <p:nvSpPr>
          <p:cNvPr id="7" name="CustomShape 4"/>
          <p:cNvSpPr/>
          <p:nvPr/>
        </p:nvSpPr>
        <p:spPr>
          <a:xfrm>
            <a:off x="360000" y="1980000"/>
            <a:ext cx="10080000" cy="32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just">
              <a:lnSpc>
                <a:spcPct val="100000"/>
              </a:lnSpc>
            </a:pPr>
            <a:r>
              <a:rPr lang="ru-RU" sz="2000" spc="-1" dirty="0">
                <a:solidFill>
                  <a:srgbClr val="262626"/>
                </a:solidFill>
                <a:latin typeface="Montserrat"/>
              </a:rPr>
              <a:t>Процесс проверки и накладывания ограничений типов –</a:t>
            </a:r>
            <a:r>
              <a:rPr lang="ru-RU" sz="2000" spc="-1" dirty="0" smtClean="0">
                <a:solidFill>
                  <a:srgbClr val="262626"/>
                </a:solidFill>
                <a:latin typeface="Montserrat"/>
              </a:rPr>
              <a:t> </a:t>
            </a:r>
            <a:r>
              <a:rPr lang="ru-RU" sz="2000" spc="-1" dirty="0">
                <a:solidFill>
                  <a:srgbClr val="262626"/>
                </a:solidFill>
                <a:latin typeface="Montserrat"/>
              </a:rPr>
              <a:t>контроля типов, может выполняться во время компилирования (статическая проверка) или во время выполнения (динамическая проверка</a:t>
            </a:r>
            <a:r>
              <a:rPr lang="ru-RU" sz="2000" spc="-1" dirty="0" smtClean="0">
                <a:solidFill>
                  <a:srgbClr val="262626"/>
                </a:solidFill>
                <a:latin typeface="Montserrat"/>
              </a:rPr>
              <a:t>).</a:t>
            </a:r>
          </a:p>
          <a:p>
            <a:pPr algn="just">
              <a:lnSpc>
                <a:spcPct val="100000"/>
              </a:lnSpc>
            </a:pPr>
            <a:r>
              <a:rPr lang="ru-RU" sz="2000" spc="-1" dirty="0">
                <a:solidFill>
                  <a:srgbClr val="262626"/>
                </a:solidFill>
                <a:latin typeface="Montserrat"/>
              </a:rPr>
              <a:t>Контроль типов также может быть строгим и слабым.</a:t>
            </a:r>
          </a:p>
          <a:p>
            <a:pPr marL="342900" indent="-342900" algn="just">
              <a:lnSpc>
                <a:spcPct val="100000"/>
              </a:lnSpc>
              <a:buFont typeface="Wingdings" panose="05000000000000000000" pitchFamily="2" charset="2"/>
              <a:buChar char="§"/>
            </a:pPr>
            <a:r>
              <a:rPr lang="ru-RU" sz="2000" spc="-1" dirty="0" smtClean="0">
                <a:solidFill>
                  <a:srgbClr val="262626"/>
                </a:solidFill>
                <a:latin typeface="Montserrat"/>
              </a:rPr>
              <a:t>Строгая </a:t>
            </a:r>
            <a:r>
              <a:rPr lang="ru-RU" sz="2000" spc="-1" dirty="0">
                <a:solidFill>
                  <a:srgbClr val="262626"/>
                </a:solidFill>
                <a:latin typeface="Montserrat"/>
              </a:rPr>
              <a:t>типизация –</a:t>
            </a:r>
            <a:r>
              <a:rPr lang="ru-RU" sz="2000" spc="-1" dirty="0" smtClean="0">
                <a:solidFill>
                  <a:srgbClr val="262626"/>
                </a:solidFill>
                <a:latin typeface="Montserrat"/>
              </a:rPr>
              <a:t> </a:t>
            </a:r>
            <a:r>
              <a:rPr lang="ru-RU" sz="2000" spc="-1" dirty="0">
                <a:solidFill>
                  <a:srgbClr val="262626"/>
                </a:solidFill>
                <a:latin typeface="Montserrat"/>
              </a:rPr>
              <a:t>совместимость типов автоматически контролируется </a:t>
            </a:r>
            <a:r>
              <a:rPr lang="ru-RU" sz="2000" spc="-1" dirty="0" smtClean="0">
                <a:solidFill>
                  <a:srgbClr val="262626"/>
                </a:solidFill>
                <a:latin typeface="Montserrat"/>
              </a:rPr>
              <a:t>транслятором.</a:t>
            </a:r>
          </a:p>
          <a:p>
            <a:pPr marL="342900" indent="-342900" algn="just">
              <a:lnSpc>
                <a:spcPct val="100000"/>
              </a:lnSpc>
              <a:buFont typeface="Wingdings" panose="05000000000000000000" pitchFamily="2" charset="2"/>
              <a:buChar char="§"/>
            </a:pPr>
            <a:r>
              <a:rPr lang="ru-RU" sz="2000" spc="-1" dirty="0" smtClean="0">
                <a:solidFill>
                  <a:srgbClr val="262626"/>
                </a:solidFill>
                <a:latin typeface="Montserrat"/>
              </a:rPr>
              <a:t>Слабая типизация </a:t>
            </a:r>
            <a:r>
              <a:rPr lang="ru-RU" sz="2000" spc="-1" dirty="0">
                <a:solidFill>
                  <a:srgbClr val="262626"/>
                </a:solidFill>
                <a:latin typeface="Montserrat"/>
              </a:rPr>
              <a:t>–</a:t>
            </a:r>
            <a:r>
              <a:rPr lang="ru-RU" sz="2000" spc="-1" dirty="0" smtClean="0">
                <a:solidFill>
                  <a:srgbClr val="262626"/>
                </a:solidFill>
                <a:latin typeface="Montserrat"/>
              </a:rPr>
              <a:t> совместимость типов никак транслятором не контролируется. В языках со слабой типизацией обычно используется подход под названием «утиная типизация» </a:t>
            </a:r>
            <a:r>
              <a:rPr lang="ru-RU" sz="2000" spc="-1" dirty="0">
                <a:solidFill>
                  <a:srgbClr val="262626"/>
                </a:solidFill>
                <a:latin typeface="Montserrat"/>
              </a:rPr>
              <a:t>–</a:t>
            </a:r>
            <a:r>
              <a:rPr lang="ru-RU" sz="2000" spc="-1" dirty="0" smtClean="0">
                <a:solidFill>
                  <a:srgbClr val="262626"/>
                </a:solidFill>
                <a:latin typeface="Montserrat"/>
              </a:rPr>
              <a:t> когда совместимость определяется и реализуется общим интерфейсом доступа к данным типа.</a:t>
            </a:r>
            <a:endParaRPr lang="ru-RU" sz="2000" spc="-1" dirty="0">
              <a:solidFill>
                <a:srgbClr val="262626"/>
              </a:solidFill>
              <a:latin typeface="Montserrat"/>
            </a:endParaRPr>
          </a:p>
        </p:txBody>
      </p:sp>
    </p:spTree>
    <p:extLst>
      <p:ext uri="{BB962C8B-B14F-4D97-AF65-F5344CB8AC3E}">
        <p14:creationId xmlns:p14="http://schemas.microsoft.com/office/powerpoint/2010/main" val="1526050851"/>
      </p:ext>
    </p:extLst>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360000"/>
            <a:ext cx="10080000" cy="72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3600" spc="-1" dirty="0">
                <a:solidFill>
                  <a:srgbClr val="004892"/>
                </a:solidFill>
                <a:latin typeface="Montserrat"/>
              </a:rPr>
              <a:t>Контроль типов</a:t>
            </a:r>
            <a:endParaRPr lang="en-US" sz="3600" spc="-1" dirty="0"/>
          </a:p>
        </p:txBody>
      </p:sp>
      <p:pic>
        <p:nvPicPr>
          <p:cNvPr id="87" name="Рисунок 7"/>
          <p:cNvPicPr/>
          <p:nvPr/>
        </p:nvPicPr>
        <p:blipFill>
          <a:blip r:embed="rId2"/>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a:solidFill>
                  <a:srgbClr val="004892"/>
                </a:solidFill>
                <a:latin typeface="Montserrat"/>
              </a:rPr>
              <a:t>Ульяновский государственный технический университет</a:t>
            </a:r>
            <a:endParaRPr lang="en-US" sz="1400" b="0" strike="noStrike" spc="-1">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
        <p:nvSpPr>
          <p:cNvPr id="90" name="CustomShape 4"/>
          <p:cNvSpPr/>
          <p:nvPr/>
        </p:nvSpPr>
        <p:spPr>
          <a:xfrm>
            <a:off x="360000" y="1260000"/>
            <a:ext cx="10080000" cy="5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2000" spc="-1" dirty="0" smtClean="0">
                <a:solidFill>
                  <a:srgbClr val="004892"/>
                </a:solidFill>
                <a:latin typeface="Montserrat Bold"/>
              </a:rPr>
              <a:t>Строгая типизация</a:t>
            </a:r>
            <a:endParaRPr lang="ru-RU" sz="2000" spc="-1" dirty="0">
              <a:solidFill>
                <a:srgbClr val="004892"/>
              </a:solidFill>
              <a:latin typeface="Montserrat Bold"/>
            </a:endParaRPr>
          </a:p>
        </p:txBody>
      </p:sp>
      <p:sp>
        <p:nvSpPr>
          <p:cNvPr id="7" name="CustomShape 4"/>
          <p:cNvSpPr/>
          <p:nvPr/>
        </p:nvSpPr>
        <p:spPr>
          <a:xfrm>
            <a:off x="360000" y="1980000"/>
            <a:ext cx="10080000" cy="32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just">
              <a:lnSpc>
                <a:spcPct val="100000"/>
              </a:lnSpc>
            </a:pPr>
            <a:r>
              <a:rPr lang="ru-RU" sz="2000" spc="-1" dirty="0">
                <a:solidFill>
                  <a:srgbClr val="262626"/>
                </a:solidFill>
                <a:latin typeface="Montserrat"/>
              </a:rPr>
              <a:t>Строгая типизация подразумевает выполнение следующих обязательных условий:</a:t>
            </a:r>
          </a:p>
          <a:p>
            <a:pPr marL="342900" indent="-342900" algn="just">
              <a:lnSpc>
                <a:spcPct val="100000"/>
              </a:lnSpc>
              <a:buFont typeface="Wingdings" panose="05000000000000000000" pitchFamily="2" charset="2"/>
              <a:buChar char="§"/>
            </a:pPr>
            <a:r>
              <a:rPr lang="ru-RU" sz="2000" spc="-1" dirty="0">
                <a:solidFill>
                  <a:srgbClr val="262626"/>
                </a:solidFill>
                <a:latin typeface="Montserrat"/>
              </a:rPr>
              <a:t>л</a:t>
            </a:r>
            <a:r>
              <a:rPr lang="ru-RU" sz="2000" spc="-1" dirty="0" smtClean="0">
                <a:solidFill>
                  <a:srgbClr val="262626"/>
                </a:solidFill>
                <a:latin typeface="Montserrat"/>
              </a:rPr>
              <a:t>юбой </a:t>
            </a:r>
            <a:r>
              <a:rPr lang="ru-RU" sz="2000" spc="-1" dirty="0">
                <a:solidFill>
                  <a:srgbClr val="262626"/>
                </a:solidFill>
                <a:latin typeface="Montserrat"/>
              </a:rPr>
              <a:t>объект данных (переменная, константа, выражение) в языке всегда имеет строго </a:t>
            </a:r>
            <a:r>
              <a:rPr lang="ru-RU" sz="2000" spc="-1" dirty="0" smtClean="0">
                <a:solidFill>
                  <a:srgbClr val="262626"/>
                </a:solidFill>
                <a:latin typeface="Montserrat"/>
              </a:rPr>
              <a:t>определенный </a:t>
            </a:r>
            <a:r>
              <a:rPr lang="ru-RU" sz="2000" spc="-1" dirty="0">
                <a:solidFill>
                  <a:srgbClr val="262626"/>
                </a:solidFill>
                <a:latin typeface="Montserrat"/>
              </a:rPr>
              <a:t>тип, который фиксируется на момент компиляции программы </a:t>
            </a:r>
            <a:r>
              <a:rPr lang="ru-RU" sz="2000" spc="-1" dirty="0" smtClean="0">
                <a:solidFill>
                  <a:srgbClr val="262626"/>
                </a:solidFill>
                <a:latin typeface="Montserrat"/>
              </a:rPr>
              <a:t>или </a:t>
            </a:r>
            <a:r>
              <a:rPr lang="ru-RU" sz="2000" spc="-1" dirty="0">
                <a:solidFill>
                  <a:srgbClr val="262626"/>
                </a:solidFill>
                <a:latin typeface="Montserrat"/>
              </a:rPr>
              <a:t>определяется во время </a:t>
            </a:r>
            <a:r>
              <a:rPr lang="ru-RU" sz="2000" spc="-1" dirty="0" smtClean="0">
                <a:solidFill>
                  <a:srgbClr val="262626"/>
                </a:solidFill>
                <a:latin typeface="Montserrat"/>
              </a:rPr>
              <a:t>выполнения;</a:t>
            </a:r>
            <a:endParaRPr lang="ru-RU" sz="2000" spc="-1" dirty="0">
              <a:solidFill>
                <a:srgbClr val="262626"/>
              </a:solidFill>
              <a:latin typeface="Montserrat"/>
            </a:endParaRPr>
          </a:p>
          <a:p>
            <a:pPr marL="342900" indent="-342900" algn="just">
              <a:lnSpc>
                <a:spcPct val="100000"/>
              </a:lnSpc>
              <a:buFont typeface="Wingdings" panose="05000000000000000000" pitchFamily="2" charset="2"/>
              <a:buChar char="§"/>
            </a:pPr>
            <a:r>
              <a:rPr lang="ru-RU" sz="2000" spc="-1" dirty="0" smtClean="0">
                <a:solidFill>
                  <a:srgbClr val="262626"/>
                </a:solidFill>
                <a:latin typeface="Montserrat"/>
              </a:rPr>
              <a:t>допускается </a:t>
            </a:r>
            <a:r>
              <a:rPr lang="ru-RU" sz="2000" spc="-1" dirty="0">
                <a:solidFill>
                  <a:srgbClr val="262626"/>
                </a:solidFill>
                <a:latin typeface="Montserrat"/>
              </a:rPr>
              <a:t>присваивание переменной только значения, имеющего строго тот же тип данных, что и переменная, те же ограничения действуют в отношении передачи параметров и возврата результатов </a:t>
            </a:r>
            <a:r>
              <a:rPr lang="ru-RU" sz="2000" spc="-1" dirty="0" smtClean="0">
                <a:solidFill>
                  <a:srgbClr val="262626"/>
                </a:solidFill>
                <a:latin typeface="Montserrat"/>
              </a:rPr>
              <a:t>функций;</a:t>
            </a:r>
            <a:endParaRPr lang="ru-RU" sz="2000" spc="-1" dirty="0">
              <a:solidFill>
                <a:srgbClr val="262626"/>
              </a:solidFill>
              <a:latin typeface="Montserrat"/>
            </a:endParaRPr>
          </a:p>
          <a:p>
            <a:pPr marL="342900" indent="-342900" algn="just">
              <a:lnSpc>
                <a:spcPct val="100000"/>
              </a:lnSpc>
              <a:buFont typeface="Wingdings" panose="05000000000000000000" pitchFamily="2" charset="2"/>
              <a:buChar char="§"/>
            </a:pPr>
            <a:r>
              <a:rPr lang="ru-RU" sz="2000" spc="-1" dirty="0" smtClean="0">
                <a:solidFill>
                  <a:srgbClr val="262626"/>
                </a:solidFill>
                <a:latin typeface="Montserrat"/>
              </a:rPr>
              <a:t>каждая </a:t>
            </a:r>
            <a:r>
              <a:rPr lang="ru-RU" sz="2000" spc="-1" dirty="0">
                <a:solidFill>
                  <a:srgbClr val="262626"/>
                </a:solidFill>
                <a:latin typeface="Montserrat"/>
              </a:rPr>
              <a:t>операция требует параметров строго </a:t>
            </a:r>
            <a:r>
              <a:rPr lang="ru-RU" sz="2000" spc="-1" dirty="0" smtClean="0">
                <a:solidFill>
                  <a:srgbClr val="262626"/>
                </a:solidFill>
                <a:latin typeface="Montserrat"/>
              </a:rPr>
              <a:t>определенных </a:t>
            </a:r>
            <a:r>
              <a:rPr lang="ru-RU" sz="2000" spc="-1" dirty="0" smtClean="0">
                <a:solidFill>
                  <a:srgbClr val="262626"/>
                </a:solidFill>
                <a:latin typeface="Montserrat"/>
              </a:rPr>
              <a:t>типов;</a:t>
            </a:r>
            <a:endParaRPr lang="ru-RU" sz="2000" spc="-1" dirty="0">
              <a:solidFill>
                <a:srgbClr val="262626"/>
              </a:solidFill>
              <a:latin typeface="Montserrat"/>
            </a:endParaRPr>
          </a:p>
          <a:p>
            <a:pPr marL="342900" indent="-342900" algn="just">
              <a:lnSpc>
                <a:spcPct val="100000"/>
              </a:lnSpc>
              <a:buFont typeface="Wingdings" panose="05000000000000000000" pitchFamily="2" charset="2"/>
              <a:buChar char="§"/>
            </a:pPr>
            <a:r>
              <a:rPr lang="ru-RU" sz="2000" spc="-1" dirty="0" smtClean="0">
                <a:solidFill>
                  <a:srgbClr val="262626"/>
                </a:solidFill>
                <a:latin typeface="Montserrat"/>
              </a:rPr>
              <a:t>неявное </a:t>
            </a:r>
            <a:r>
              <a:rPr lang="ru-RU" sz="2000" spc="-1" dirty="0">
                <a:solidFill>
                  <a:srgbClr val="262626"/>
                </a:solidFill>
                <a:latin typeface="Montserrat"/>
              </a:rPr>
              <a:t>преобразование типов не </a:t>
            </a:r>
            <a:r>
              <a:rPr lang="ru-RU" sz="2000" spc="-1" dirty="0" smtClean="0">
                <a:solidFill>
                  <a:srgbClr val="262626"/>
                </a:solidFill>
                <a:latin typeface="Montserrat"/>
              </a:rPr>
              <a:t>допускается.</a:t>
            </a:r>
          </a:p>
          <a:p>
            <a:pPr algn="just">
              <a:lnSpc>
                <a:spcPct val="100000"/>
              </a:lnSpc>
            </a:pPr>
            <a:r>
              <a:rPr lang="ru-RU" sz="2000" spc="-1" dirty="0">
                <a:solidFill>
                  <a:srgbClr val="262626"/>
                </a:solidFill>
                <a:latin typeface="Montserrat"/>
              </a:rPr>
              <a:t>Если в программе необходимо присвоить значение одного типа данных переменной другого типа, это можно сделать, но только </a:t>
            </a:r>
            <a:r>
              <a:rPr lang="ru-RU" sz="2000" spc="-1" dirty="0" smtClean="0">
                <a:solidFill>
                  <a:srgbClr val="262626"/>
                </a:solidFill>
                <a:latin typeface="Montserrat"/>
              </a:rPr>
              <a:t>путем </a:t>
            </a:r>
            <a:r>
              <a:rPr lang="ru-RU" sz="2000" spc="-1" dirty="0">
                <a:solidFill>
                  <a:srgbClr val="262626"/>
                </a:solidFill>
                <a:latin typeface="Montserrat"/>
              </a:rPr>
              <a:t>явного применения специальной операции преобразования </a:t>
            </a:r>
            <a:r>
              <a:rPr lang="ru-RU" sz="2000" spc="-1" dirty="0" smtClean="0">
                <a:solidFill>
                  <a:srgbClr val="262626"/>
                </a:solidFill>
                <a:latin typeface="Montserrat"/>
              </a:rPr>
              <a:t>типа.</a:t>
            </a:r>
            <a:endParaRPr lang="ru-RU" sz="2000" spc="-1" dirty="0">
              <a:solidFill>
                <a:srgbClr val="262626"/>
              </a:solidFill>
              <a:latin typeface="Montserrat"/>
            </a:endParaRPr>
          </a:p>
        </p:txBody>
      </p:sp>
    </p:spTree>
    <p:extLst>
      <p:ext uri="{BB962C8B-B14F-4D97-AF65-F5344CB8AC3E}">
        <p14:creationId xmlns:p14="http://schemas.microsoft.com/office/powerpoint/2010/main" val="2151420929"/>
      </p:ext>
    </p:extLst>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360000"/>
            <a:ext cx="10080000" cy="72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3600" spc="-1" dirty="0">
                <a:solidFill>
                  <a:srgbClr val="004892"/>
                </a:solidFill>
                <a:latin typeface="Montserrat"/>
              </a:rPr>
              <a:t>Контроль типов</a:t>
            </a:r>
            <a:endParaRPr lang="en-US" sz="3600" spc="-1" dirty="0"/>
          </a:p>
        </p:txBody>
      </p:sp>
      <p:pic>
        <p:nvPicPr>
          <p:cNvPr id="87" name="Рисунок 7"/>
          <p:cNvPicPr/>
          <p:nvPr/>
        </p:nvPicPr>
        <p:blipFill>
          <a:blip r:embed="rId2"/>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a:solidFill>
                  <a:srgbClr val="004892"/>
                </a:solidFill>
                <a:latin typeface="Montserrat"/>
              </a:rPr>
              <a:t>Ульяновский государственный технический университет</a:t>
            </a:r>
            <a:endParaRPr lang="en-US" sz="1400" b="0" strike="noStrike" spc="-1">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
        <p:nvSpPr>
          <p:cNvPr id="90" name="CustomShape 4"/>
          <p:cNvSpPr/>
          <p:nvPr/>
        </p:nvSpPr>
        <p:spPr>
          <a:xfrm>
            <a:off x="360000" y="1260000"/>
            <a:ext cx="10080000" cy="5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2000" spc="-1" dirty="0">
                <a:solidFill>
                  <a:srgbClr val="004892"/>
                </a:solidFill>
                <a:latin typeface="Montserrat Bold"/>
              </a:rPr>
              <a:t>Статическая типизация</a:t>
            </a:r>
          </a:p>
        </p:txBody>
      </p:sp>
      <p:sp>
        <p:nvSpPr>
          <p:cNvPr id="7" name="CustomShape 4"/>
          <p:cNvSpPr/>
          <p:nvPr/>
        </p:nvSpPr>
        <p:spPr>
          <a:xfrm>
            <a:off x="360000" y="1980000"/>
            <a:ext cx="10080000" cy="32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just">
              <a:lnSpc>
                <a:spcPct val="100000"/>
              </a:lnSpc>
            </a:pPr>
            <a:r>
              <a:rPr lang="ru-RU" sz="2000" spc="-1" dirty="0" smtClean="0">
                <a:solidFill>
                  <a:srgbClr val="262626"/>
                </a:solidFill>
                <a:latin typeface="Montserrat"/>
              </a:rPr>
              <a:t>Статическая </a:t>
            </a:r>
            <a:r>
              <a:rPr lang="ru-RU" sz="2000" spc="-1" smtClean="0">
                <a:solidFill>
                  <a:srgbClr val="262626"/>
                </a:solidFill>
                <a:latin typeface="Montserrat"/>
              </a:rPr>
              <a:t>типизация </a:t>
            </a:r>
            <a:r>
              <a:rPr lang="ru-RU" sz="2000" spc="-1">
                <a:solidFill>
                  <a:srgbClr val="262626"/>
                </a:solidFill>
                <a:latin typeface="Montserrat"/>
              </a:rPr>
              <a:t>– </a:t>
            </a:r>
            <a:r>
              <a:rPr lang="ru-RU" sz="2000" spc="-1" dirty="0" smtClean="0">
                <a:solidFill>
                  <a:srgbClr val="262626"/>
                </a:solidFill>
                <a:latin typeface="Montserrat"/>
              </a:rPr>
              <a:t>прием</a:t>
            </a:r>
            <a:r>
              <a:rPr lang="ru-RU" sz="2000" spc="-1" dirty="0">
                <a:solidFill>
                  <a:srgbClr val="262626"/>
                </a:solidFill>
                <a:latin typeface="Montserrat"/>
              </a:rPr>
              <a:t>, широко используемый в языках программирования, при котором переменная, параметр подпрограммы, возвращаемое значение функции связывается с типом </a:t>
            </a:r>
            <a:r>
              <a:rPr lang="ru-RU" sz="2000" b="1" spc="-1" dirty="0">
                <a:solidFill>
                  <a:srgbClr val="262626"/>
                </a:solidFill>
                <a:latin typeface="Montserrat"/>
              </a:rPr>
              <a:t>в момент объявления </a:t>
            </a:r>
            <a:r>
              <a:rPr lang="ru-RU" sz="2000" spc="-1" dirty="0">
                <a:solidFill>
                  <a:srgbClr val="262626"/>
                </a:solidFill>
                <a:latin typeface="Montserrat"/>
              </a:rPr>
              <a:t>и тип не может быть </a:t>
            </a:r>
            <a:r>
              <a:rPr lang="ru-RU" sz="2000" spc="-1" dirty="0" smtClean="0">
                <a:solidFill>
                  <a:srgbClr val="262626"/>
                </a:solidFill>
                <a:latin typeface="Montserrat"/>
              </a:rPr>
              <a:t>изменен </a:t>
            </a:r>
            <a:r>
              <a:rPr lang="ru-RU" sz="2000" spc="-1" dirty="0">
                <a:solidFill>
                  <a:srgbClr val="262626"/>
                </a:solidFill>
                <a:latin typeface="Montserrat"/>
              </a:rPr>
              <a:t>позже (переменная или параметр будут принимать, а функция –</a:t>
            </a:r>
            <a:r>
              <a:rPr lang="ru-RU" sz="2000" spc="-1" dirty="0" smtClean="0">
                <a:solidFill>
                  <a:srgbClr val="262626"/>
                </a:solidFill>
                <a:latin typeface="Montserrat"/>
              </a:rPr>
              <a:t> </a:t>
            </a:r>
            <a:r>
              <a:rPr lang="ru-RU" sz="2000" spc="-1" dirty="0">
                <a:solidFill>
                  <a:srgbClr val="262626"/>
                </a:solidFill>
                <a:latin typeface="Montserrat"/>
              </a:rPr>
              <a:t>возвращать значения только этого типа</a:t>
            </a:r>
            <a:r>
              <a:rPr lang="ru-RU" sz="2000" spc="-1" dirty="0" smtClean="0">
                <a:solidFill>
                  <a:srgbClr val="262626"/>
                </a:solidFill>
                <a:latin typeface="Montserrat"/>
              </a:rPr>
              <a:t>).</a:t>
            </a:r>
          </a:p>
          <a:p>
            <a:pPr algn="just">
              <a:lnSpc>
                <a:spcPct val="100000"/>
              </a:lnSpc>
            </a:pPr>
            <a:r>
              <a:rPr lang="ru-RU" sz="2000" spc="-1" dirty="0">
                <a:solidFill>
                  <a:srgbClr val="262626"/>
                </a:solidFill>
                <a:latin typeface="Montserrat"/>
              </a:rPr>
              <a:t>Многие ошибки исключаются уже на стадии компиляции, поэтому статическая типизация хороша для написания </a:t>
            </a:r>
            <a:r>
              <a:rPr lang="ru-RU" sz="2000" b="1" spc="-1" dirty="0">
                <a:solidFill>
                  <a:srgbClr val="262626"/>
                </a:solidFill>
                <a:latin typeface="Montserrat"/>
              </a:rPr>
              <a:t>сложного</a:t>
            </a:r>
            <a:r>
              <a:rPr lang="ru-RU" sz="2000" spc="-1" dirty="0">
                <a:solidFill>
                  <a:srgbClr val="262626"/>
                </a:solidFill>
                <a:latin typeface="Montserrat"/>
              </a:rPr>
              <a:t>, но быстрого кода. </a:t>
            </a:r>
            <a:r>
              <a:rPr lang="ru-RU" sz="2000" spc="-1" dirty="0" smtClean="0">
                <a:solidFill>
                  <a:srgbClr val="262626"/>
                </a:solidFill>
                <a:latin typeface="Montserrat"/>
              </a:rPr>
              <a:t>Чем </a:t>
            </a:r>
            <a:r>
              <a:rPr lang="ru-RU" sz="2000" spc="-1" dirty="0">
                <a:solidFill>
                  <a:srgbClr val="262626"/>
                </a:solidFill>
                <a:latin typeface="Montserrat"/>
              </a:rPr>
              <a:t>больше и сложнее проект, тем большее преимущество </a:t>
            </a:r>
            <a:r>
              <a:rPr lang="ru-RU" sz="2000" spc="-1" dirty="0" smtClean="0">
                <a:solidFill>
                  <a:srgbClr val="262626"/>
                </a:solidFill>
                <a:latin typeface="Montserrat"/>
              </a:rPr>
              <a:t>дает </a:t>
            </a:r>
            <a:r>
              <a:rPr lang="ru-RU" sz="2000" spc="-1" dirty="0">
                <a:solidFill>
                  <a:srgbClr val="262626"/>
                </a:solidFill>
                <a:latin typeface="Montserrat"/>
              </a:rPr>
              <a:t>статическая типизация, и наоборот</a:t>
            </a:r>
            <a:r>
              <a:rPr lang="ru-RU" sz="2000" spc="-1" dirty="0" smtClean="0">
                <a:solidFill>
                  <a:srgbClr val="262626"/>
                </a:solidFill>
                <a:latin typeface="Montserrat"/>
              </a:rPr>
              <a:t>.</a:t>
            </a:r>
          </a:p>
          <a:p>
            <a:pPr algn="just">
              <a:lnSpc>
                <a:spcPct val="100000"/>
              </a:lnSpc>
            </a:pPr>
            <a:r>
              <a:rPr lang="ru-RU" sz="2000" spc="-1" dirty="0">
                <a:solidFill>
                  <a:srgbClr val="262626"/>
                </a:solidFill>
                <a:latin typeface="Montserrat"/>
              </a:rPr>
              <a:t>В то же время, статически типизированные языки с недостаточно проработанной математической базой оказываются довольно многословными: каждый раз надо указывать, какой тип будет иметь переменная.</a:t>
            </a:r>
          </a:p>
        </p:txBody>
      </p:sp>
    </p:spTree>
    <p:extLst>
      <p:ext uri="{BB962C8B-B14F-4D97-AF65-F5344CB8AC3E}">
        <p14:creationId xmlns:p14="http://schemas.microsoft.com/office/powerpoint/2010/main" val="2197058328"/>
      </p:ext>
    </p:extLst>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360000"/>
            <a:ext cx="10080000" cy="72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3600" spc="-1" dirty="0">
                <a:solidFill>
                  <a:srgbClr val="004892"/>
                </a:solidFill>
                <a:latin typeface="Montserrat"/>
              </a:rPr>
              <a:t>Контроль типов</a:t>
            </a:r>
            <a:endParaRPr lang="en-US" sz="3600" spc="-1" dirty="0"/>
          </a:p>
        </p:txBody>
      </p:sp>
      <p:pic>
        <p:nvPicPr>
          <p:cNvPr id="87" name="Рисунок 7"/>
          <p:cNvPicPr/>
          <p:nvPr/>
        </p:nvPicPr>
        <p:blipFill>
          <a:blip r:embed="rId2"/>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a:solidFill>
                  <a:srgbClr val="004892"/>
                </a:solidFill>
                <a:latin typeface="Montserrat"/>
              </a:rPr>
              <a:t>Ульяновский государственный технический университет</a:t>
            </a:r>
            <a:endParaRPr lang="en-US" sz="1400" b="0" strike="noStrike" spc="-1">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
        <p:nvSpPr>
          <p:cNvPr id="90" name="CustomShape 4"/>
          <p:cNvSpPr/>
          <p:nvPr/>
        </p:nvSpPr>
        <p:spPr>
          <a:xfrm>
            <a:off x="360000" y="1260000"/>
            <a:ext cx="10080000" cy="5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2000" spc="-1" dirty="0">
                <a:solidFill>
                  <a:srgbClr val="004892"/>
                </a:solidFill>
                <a:latin typeface="Montserrat Bold"/>
              </a:rPr>
              <a:t>Статическая типизация</a:t>
            </a:r>
          </a:p>
        </p:txBody>
      </p:sp>
      <p:sp>
        <p:nvSpPr>
          <p:cNvPr id="7" name="CustomShape 4"/>
          <p:cNvSpPr/>
          <p:nvPr/>
        </p:nvSpPr>
        <p:spPr>
          <a:xfrm>
            <a:off x="360000" y="1980000"/>
            <a:ext cx="10080000" cy="32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just">
              <a:lnSpc>
                <a:spcPct val="100000"/>
              </a:lnSpc>
            </a:pPr>
            <a:r>
              <a:rPr lang="ru-RU" sz="2000" spc="-1" dirty="0" smtClean="0">
                <a:solidFill>
                  <a:srgbClr val="262626"/>
                </a:solidFill>
                <a:latin typeface="Montserrat"/>
              </a:rPr>
              <a:t>Языки, поддерживающие статическую типизацию:</a:t>
            </a:r>
          </a:p>
          <a:p>
            <a:pPr marL="342900" indent="-342900" algn="just">
              <a:lnSpc>
                <a:spcPct val="100000"/>
              </a:lnSpc>
              <a:buFont typeface="Wingdings" panose="05000000000000000000" pitchFamily="2" charset="2"/>
              <a:buChar char="§"/>
            </a:pPr>
            <a:r>
              <a:rPr lang="en-US" sz="2000" spc="-1" dirty="0" err="1" smtClean="0">
                <a:solidFill>
                  <a:srgbClr val="262626"/>
                </a:solidFill>
                <a:latin typeface="Montserrat"/>
              </a:rPr>
              <a:t>Ада</a:t>
            </a:r>
            <a:endParaRPr lang="ru-RU" sz="2000" spc="-1" dirty="0" smtClean="0">
              <a:solidFill>
                <a:srgbClr val="262626"/>
              </a:solidFill>
              <a:latin typeface="Montserrat"/>
            </a:endParaRPr>
          </a:p>
          <a:p>
            <a:pPr marL="342900" indent="-342900" algn="just">
              <a:lnSpc>
                <a:spcPct val="100000"/>
              </a:lnSpc>
              <a:buFont typeface="Wingdings" panose="05000000000000000000" pitchFamily="2" charset="2"/>
              <a:buChar char="§"/>
            </a:pPr>
            <a:r>
              <a:rPr lang="en-US" sz="2000" spc="-1" dirty="0" smtClean="0">
                <a:solidFill>
                  <a:srgbClr val="262626"/>
                </a:solidFill>
                <a:latin typeface="Montserrat"/>
              </a:rPr>
              <a:t>C</a:t>
            </a:r>
            <a:endParaRPr lang="ru-RU" sz="2000" spc="-1" dirty="0" smtClean="0">
              <a:solidFill>
                <a:srgbClr val="262626"/>
              </a:solidFill>
              <a:latin typeface="Montserrat"/>
            </a:endParaRPr>
          </a:p>
          <a:p>
            <a:pPr marL="342900" indent="-342900" algn="just">
              <a:lnSpc>
                <a:spcPct val="100000"/>
              </a:lnSpc>
              <a:buFont typeface="Wingdings" panose="05000000000000000000" pitchFamily="2" charset="2"/>
              <a:buChar char="§"/>
            </a:pPr>
            <a:r>
              <a:rPr lang="en-US" sz="2000" spc="-1" dirty="0" smtClean="0">
                <a:solidFill>
                  <a:srgbClr val="262626"/>
                </a:solidFill>
                <a:latin typeface="Montserrat"/>
              </a:rPr>
              <a:t>С++</a:t>
            </a:r>
            <a:endParaRPr lang="ru-RU" sz="2000" spc="-1" dirty="0" smtClean="0">
              <a:solidFill>
                <a:srgbClr val="262626"/>
              </a:solidFill>
              <a:latin typeface="Montserrat"/>
            </a:endParaRPr>
          </a:p>
          <a:p>
            <a:pPr marL="342900" indent="-342900" algn="just">
              <a:lnSpc>
                <a:spcPct val="100000"/>
              </a:lnSpc>
              <a:buFont typeface="Wingdings" panose="05000000000000000000" pitchFamily="2" charset="2"/>
              <a:buChar char="§"/>
            </a:pPr>
            <a:r>
              <a:rPr lang="en-US" sz="2000" spc="-1" dirty="0" smtClean="0">
                <a:solidFill>
                  <a:srgbClr val="262626"/>
                </a:solidFill>
                <a:latin typeface="Montserrat"/>
              </a:rPr>
              <a:t>C#</a:t>
            </a:r>
            <a:endParaRPr lang="ru-RU" sz="2000" spc="-1" dirty="0" smtClean="0">
              <a:solidFill>
                <a:srgbClr val="262626"/>
              </a:solidFill>
              <a:latin typeface="Montserrat"/>
            </a:endParaRPr>
          </a:p>
          <a:p>
            <a:pPr marL="342900" indent="-342900" algn="just">
              <a:lnSpc>
                <a:spcPct val="100000"/>
              </a:lnSpc>
              <a:buFont typeface="Wingdings" panose="05000000000000000000" pitchFamily="2" charset="2"/>
              <a:buChar char="§"/>
            </a:pPr>
            <a:r>
              <a:rPr lang="en-US" sz="2000" spc="-1" dirty="0" smtClean="0">
                <a:solidFill>
                  <a:srgbClr val="262626"/>
                </a:solidFill>
                <a:latin typeface="Montserrat"/>
              </a:rPr>
              <a:t>D</a:t>
            </a:r>
            <a:endParaRPr lang="ru-RU" sz="2000" spc="-1" dirty="0" smtClean="0">
              <a:solidFill>
                <a:srgbClr val="262626"/>
              </a:solidFill>
              <a:latin typeface="Montserrat"/>
            </a:endParaRPr>
          </a:p>
          <a:p>
            <a:pPr marL="342900" indent="-342900" algn="just">
              <a:lnSpc>
                <a:spcPct val="100000"/>
              </a:lnSpc>
              <a:buFont typeface="Wingdings" panose="05000000000000000000" pitchFamily="2" charset="2"/>
              <a:buChar char="§"/>
            </a:pPr>
            <a:r>
              <a:rPr lang="en-US" sz="2000" spc="-1" dirty="0" smtClean="0">
                <a:solidFill>
                  <a:srgbClr val="262626"/>
                </a:solidFill>
                <a:latin typeface="Montserrat"/>
              </a:rPr>
              <a:t>Java</a:t>
            </a:r>
            <a:endParaRPr lang="ru-RU" sz="2000" spc="-1" dirty="0" smtClean="0">
              <a:solidFill>
                <a:srgbClr val="262626"/>
              </a:solidFill>
              <a:latin typeface="Montserrat"/>
            </a:endParaRPr>
          </a:p>
          <a:p>
            <a:pPr marL="342900" indent="-342900" algn="just">
              <a:lnSpc>
                <a:spcPct val="100000"/>
              </a:lnSpc>
              <a:buFont typeface="Wingdings" panose="05000000000000000000" pitchFamily="2" charset="2"/>
              <a:buChar char="§"/>
            </a:pPr>
            <a:r>
              <a:rPr lang="en-US" sz="2000" spc="-1" dirty="0" smtClean="0">
                <a:solidFill>
                  <a:srgbClr val="262626"/>
                </a:solidFill>
                <a:latin typeface="Montserrat"/>
              </a:rPr>
              <a:t>ML</a:t>
            </a:r>
            <a:endParaRPr lang="ru-RU" sz="2000" spc="-1" dirty="0" smtClean="0">
              <a:solidFill>
                <a:srgbClr val="262626"/>
              </a:solidFill>
              <a:latin typeface="Montserrat"/>
            </a:endParaRPr>
          </a:p>
          <a:p>
            <a:pPr marL="342900" indent="-342900" algn="just">
              <a:lnSpc>
                <a:spcPct val="100000"/>
              </a:lnSpc>
              <a:buFont typeface="Wingdings" panose="05000000000000000000" pitchFamily="2" charset="2"/>
              <a:buChar char="§"/>
            </a:pPr>
            <a:r>
              <a:rPr lang="en-US" sz="2000" spc="-1" dirty="0" err="1" smtClean="0">
                <a:solidFill>
                  <a:srgbClr val="262626"/>
                </a:solidFill>
                <a:latin typeface="Montserrat"/>
              </a:rPr>
              <a:t>Паскаль</a:t>
            </a:r>
            <a:endParaRPr lang="ru-RU" sz="2000" spc="-1" dirty="0">
              <a:solidFill>
                <a:srgbClr val="262626"/>
              </a:solidFill>
              <a:latin typeface="Montserrat"/>
            </a:endParaRPr>
          </a:p>
          <a:p>
            <a:pPr marL="342900" indent="-342900" algn="just">
              <a:lnSpc>
                <a:spcPct val="100000"/>
              </a:lnSpc>
              <a:buFont typeface="Wingdings" panose="05000000000000000000" pitchFamily="2" charset="2"/>
              <a:buChar char="§"/>
            </a:pPr>
            <a:r>
              <a:rPr lang="en-US" sz="2000" spc="-1" dirty="0" smtClean="0">
                <a:solidFill>
                  <a:srgbClr val="262626"/>
                </a:solidFill>
                <a:latin typeface="Montserrat"/>
              </a:rPr>
              <a:t>Solidity</a:t>
            </a:r>
            <a:endParaRPr lang="ru-RU" sz="2000" spc="-1" dirty="0" smtClean="0">
              <a:solidFill>
                <a:srgbClr val="262626"/>
              </a:solidFill>
              <a:latin typeface="Montserrat"/>
            </a:endParaRPr>
          </a:p>
          <a:p>
            <a:pPr marL="342900" indent="-342900" algn="just">
              <a:lnSpc>
                <a:spcPct val="100000"/>
              </a:lnSpc>
              <a:buFont typeface="Wingdings" panose="05000000000000000000" pitchFamily="2" charset="2"/>
              <a:buChar char="§"/>
            </a:pPr>
            <a:r>
              <a:rPr lang="en-US" sz="2000" spc="-1" dirty="0" smtClean="0">
                <a:solidFill>
                  <a:srgbClr val="262626"/>
                </a:solidFill>
                <a:latin typeface="Montserrat"/>
              </a:rPr>
              <a:t>Go</a:t>
            </a:r>
            <a:endParaRPr lang="ru-RU" sz="2000" spc="-1" dirty="0" smtClean="0">
              <a:solidFill>
                <a:srgbClr val="262626"/>
              </a:solidFill>
              <a:latin typeface="Montserrat"/>
            </a:endParaRPr>
          </a:p>
          <a:p>
            <a:pPr marL="342900" indent="-342900" algn="just">
              <a:lnSpc>
                <a:spcPct val="100000"/>
              </a:lnSpc>
              <a:buFont typeface="Wingdings" panose="05000000000000000000" pitchFamily="2" charset="2"/>
              <a:buChar char="§"/>
            </a:pPr>
            <a:r>
              <a:rPr lang="en-US" sz="2000" spc="-1" dirty="0" smtClean="0">
                <a:solidFill>
                  <a:srgbClr val="262626"/>
                </a:solidFill>
                <a:latin typeface="Montserrat"/>
              </a:rPr>
              <a:t>Fortran</a:t>
            </a:r>
            <a:endParaRPr lang="ru-RU" sz="2000" spc="-1" dirty="0">
              <a:solidFill>
                <a:srgbClr val="262626"/>
              </a:solidFill>
              <a:latin typeface="Montserrat"/>
            </a:endParaRPr>
          </a:p>
        </p:txBody>
      </p:sp>
    </p:spTree>
    <p:extLst>
      <p:ext uri="{BB962C8B-B14F-4D97-AF65-F5344CB8AC3E}">
        <p14:creationId xmlns:p14="http://schemas.microsoft.com/office/powerpoint/2010/main" val="1067347845"/>
      </p:ext>
    </p:extLst>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360000"/>
            <a:ext cx="10080000" cy="72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3600" spc="-1" dirty="0">
                <a:solidFill>
                  <a:srgbClr val="004892"/>
                </a:solidFill>
                <a:latin typeface="Montserrat"/>
              </a:rPr>
              <a:t>Контроль типов</a:t>
            </a:r>
            <a:endParaRPr lang="en-US" sz="3600" spc="-1" dirty="0"/>
          </a:p>
        </p:txBody>
      </p:sp>
      <p:pic>
        <p:nvPicPr>
          <p:cNvPr id="87" name="Рисунок 7"/>
          <p:cNvPicPr/>
          <p:nvPr/>
        </p:nvPicPr>
        <p:blipFill>
          <a:blip r:embed="rId2"/>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a:solidFill>
                  <a:srgbClr val="004892"/>
                </a:solidFill>
                <a:latin typeface="Montserrat"/>
              </a:rPr>
              <a:t>Ульяновский государственный технический университет</a:t>
            </a:r>
            <a:endParaRPr lang="en-US" sz="1400" b="0" strike="noStrike" spc="-1">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
        <p:nvSpPr>
          <p:cNvPr id="90" name="CustomShape 4"/>
          <p:cNvSpPr/>
          <p:nvPr/>
        </p:nvSpPr>
        <p:spPr>
          <a:xfrm>
            <a:off x="360000" y="1260000"/>
            <a:ext cx="10080000" cy="5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2000" spc="-1" dirty="0">
                <a:solidFill>
                  <a:srgbClr val="004892"/>
                </a:solidFill>
                <a:latin typeface="Montserrat Bold"/>
              </a:rPr>
              <a:t>Динамическая типизация</a:t>
            </a:r>
          </a:p>
        </p:txBody>
      </p:sp>
      <p:sp>
        <p:nvSpPr>
          <p:cNvPr id="7" name="CustomShape 4"/>
          <p:cNvSpPr/>
          <p:nvPr/>
        </p:nvSpPr>
        <p:spPr>
          <a:xfrm>
            <a:off x="360000" y="1980000"/>
            <a:ext cx="10080000" cy="32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just">
              <a:lnSpc>
                <a:spcPct val="100000"/>
              </a:lnSpc>
            </a:pPr>
            <a:r>
              <a:rPr lang="ru-RU" sz="2000" spc="-1" dirty="0" smtClean="0">
                <a:solidFill>
                  <a:srgbClr val="262626"/>
                </a:solidFill>
                <a:latin typeface="Montserrat"/>
              </a:rPr>
              <a:t>Динамическая типизация </a:t>
            </a:r>
            <a:r>
              <a:rPr lang="ru-RU" sz="2000" spc="-1" dirty="0">
                <a:solidFill>
                  <a:srgbClr val="262626"/>
                </a:solidFill>
                <a:latin typeface="Montserrat"/>
              </a:rPr>
              <a:t>–</a:t>
            </a:r>
            <a:r>
              <a:rPr lang="ru-RU" sz="2000" spc="-1" dirty="0" smtClean="0">
                <a:solidFill>
                  <a:srgbClr val="262626"/>
                </a:solidFill>
                <a:latin typeface="Montserrat"/>
              </a:rPr>
              <a:t> прием</a:t>
            </a:r>
            <a:r>
              <a:rPr lang="ru-RU" sz="2000" spc="-1" dirty="0">
                <a:solidFill>
                  <a:srgbClr val="262626"/>
                </a:solidFill>
                <a:latin typeface="Montserrat"/>
              </a:rPr>
              <a:t>, используемый в языках программирования и языках спецификации, при котором переменная связывается с типом </a:t>
            </a:r>
            <a:r>
              <a:rPr lang="ru-RU" sz="2000" b="1" spc="-1" dirty="0">
                <a:solidFill>
                  <a:srgbClr val="262626"/>
                </a:solidFill>
                <a:latin typeface="Montserrat"/>
              </a:rPr>
              <a:t>в момент </a:t>
            </a:r>
            <a:r>
              <a:rPr lang="ru-RU" sz="2000" spc="-1" dirty="0">
                <a:solidFill>
                  <a:srgbClr val="262626"/>
                </a:solidFill>
                <a:latin typeface="Montserrat"/>
              </a:rPr>
              <a:t>присваивания значения, а не в момент объявления переменной. Таким образом, в различных участках программы одна и та же переменная может принимать значения разных типов</a:t>
            </a:r>
            <a:r>
              <a:rPr lang="ru-RU" sz="2000" spc="-1" dirty="0" smtClean="0">
                <a:solidFill>
                  <a:srgbClr val="262626"/>
                </a:solidFill>
                <a:latin typeface="Montserrat"/>
              </a:rPr>
              <a:t>.</a:t>
            </a:r>
          </a:p>
          <a:p>
            <a:pPr algn="just">
              <a:lnSpc>
                <a:spcPct val="100000"/>
              </a:lnSpc>
            </a:pPr>
            <a:r>
              <a:rPr lang="ru-RU" sz="2000" spc="-1" dirty="0">
                <a:solidFill>
                  <a:srgbClr val="262626"/>
                </a:solidFill>
                <a:latin typeface="Montserrat"/>
              </a:rPr>
              <a:t>Динамическая типизация </a:t>
            </a:r>
            <a:r>
              <a:rPr lang="ru-RU" sz="2000" b="1" spc="-1" dirty="0">
                <a:solidFill>
                  <a:srgbClr val="262626"/>
                </a:solidFill>
                <a:latin typeface="Montserrat"/>
              </a:rPr>
              <a:t>упрощает</a:t>
            </a:r>
            <a:r>
              <a:rPr lang="ru-RU" sz="2000" spc="-1" dirty="0">
                <a:solidFill>
                  <a:srgbClr val="262626"/>
                </a:solidFill>
                <a:latin typeface="Montserrat"/>
              </a:rPr>
              <a:t> написание программ для работы с </a:t>
            </a:r>
            <a:r>
              <a:rPr lang="ru-RU" sz="2000" b="1" spc="-1" dirty="0">
                <a:solidFill>
                  <a:srgbClr val="262626"/>
                </a:solidFill>
                <a:latin typeface="Montserrat"/>
              </a:rPr>
              <a:t>меняющимся окружением</a:t>
            </a:r>
            <a:r>
              <a:rPr lang="ru-RU" sz="2000" spc="-1" dirty="0">
                <a:solidFill>
                  <a:srgbClr val="262626"/>
                </a:solidFill>
                <a:latin typeface="Montserrat"/>
              </a:rPr>
              <a:t>, при работе с данными переменных </a:t>
            </a:r>
            <a:r>
              <a:rPr lang="ru-RU" sz="2000" spc="-1" dirty="0" smtClean="0">
                <a:solidFill>
                  <a:srgbClr val="262626"/>
                </a:solidFill>
                <a:latin typeface="Montserrat"/>
              </a:rPr>
              <a:t>типов. При </a:t>
            </a:r>
            <a:r>
              <a:rPr lang="ru-RU" sz="2000" spc="-1" dirty="0">
                <a:solidFill>
                  <a:srgbClr val="262626"/>
                </a:solidFill>
                <a:latin typeface="Montserrat"/>
              </a:rPr>
              <a:t>этом отсутствие информации о типе на этапе компиляции </a:t>
            </a:r>
            <a:r>
              <a:rPr lang="ru-RU" sz="2000" b="1" spc="-1" dirty="0">
                <a:solidFill>
                  <a:srgbClr val="262626"/>
                </a:solidFill>
                <a:latin typeface="Montserrat"/>
              </a:rPr>
              <a:t>повышает</a:t>
            </a:r>
            <a:r>
              <a:rPr lang="ru-RU" sz="2000" spc="-1" dirty="0">
                <a:solidFill>
                  <a:srgbClr val="262626"/>
                </a:solidFill>
                <a:latin typeface="Montserrat"/>
              </a:rPr>
              <a:t> вероятность ошибок в исполняемых модулях.</a:t>
            </a:r>
          </a:p>
        </p:txBody>
      </p:sp>
    </p:spTree>
    <p:extLst>
      <p:ext uri="{BB962C8B-B14F-4D97-AF65-F5344CB8AC3E}">
        <p14:creationId xmlns:p14="http://schemas.microsoft.com/office/powerpoint/2010/main" val="3439813414"/>
      </p:ext>
    </p:extLst>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360000"/>
            <a:ext cx="10080000" cy="72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3600" spc="-1" dirty="0">
                <a:solidFill>
                  <a:srgbClr val="004892"/>
                </a:solidFill>
                <a:latin typeface="Montserrat"/>
              </a:rPr>
              <a:t>Контроль типов</a:t>
            </a:r>
            <a:endParaRPr lang="en-US" sz="3600" spc="-1" dirty="0"/>
          </a:p>
        </p:txBody>
      </p:sp>
      <p:pic>
        <p:nvPicPr>
          <p:cNvPr id="87" name="Рисунок 7"/>
          <p:cNvPicPr/>
          <p:nvPr/>
        </p:nvPicPr>
        <p:blipFill>
          <a:blip r:embed="rId2"/>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a:solidFill>
                  <a:srgbClr val="004892"/>
                </a:solidFill>
                <a:latin typeface="Montserrat"/>
              </a:rPr>
              <a:t>Ульяновский государственный технический университет</a:t>
            </a:r>
            <a:endParaRPr lang="en-US" sz="1400" b="0" strike="noStrike" spc="-1">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
        <p:nvSpPr>
          <p:cNvPr id="90" name="CustomShape 4"/>
          <p:cNvSpPr/>
          <p:nvPr/>
        </p:nvSpPr>
        <p:spPr>
          <a:xfrm>
            <a:off x="360000" y="1260000"/>
            <a:ext cx="10080000" cy="5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2000" spc="-1" dirty="0">
                <a:solidFill>
                  <a:srgbClr val="004892"/>
                </a:solidFill>
                <a:latin typeface="Montserrat Bold"/>
              </a:rPr>
              <a:t>Динамическая типизация</a:t>
            </a:r>
          </a:p>
        </p:txBody>
      </p:sp>
      <p:sp>
        <p:nvSpPr>
          <p:cNvPr id="7" name="CustomShape 4"/>
          <p:cNvSpPr/>
          <p:nvPr/>
        </p:nvSpPr>
        <p:spPr>
          <a:xfrm>
            <a:off x="360000" y="1980000"/>
            <a:ext cx="10080000" cy="32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just">
              <a:lnSpc>
                <a:spcPct val="100000"/>
              </a:lnSpc>
            </a:pPr>
            <a:r>
              <a:rPr lang="ru-RU" sz="2000" spc="-1" dirty="0" smtClean="0">
                <a:solidFill>
                  <a:srgbClr val="262626"/>
                </a:solidFill>
                <a:latin typeface="Montserrat"/>
              </a:rPr>
              <a:t>Языки, поддерживающие динамическую типизацию:</a:t>
            </a:r>
          </a:p>
          <a:p>
            <a:pPr marL="342900" indent="-342900" algn="just">
              <a:lnSpc>
                <a:spcPct val="100000"/>
              </a:lnSpc>
              <a:buFont typeface="Wingdings" panose="05000000000000000000" pitchFamily="2" charset="2"/>
              <a:buChar char="§"/>
            </a:pPr>
            <a:r>
              <a:rPr lang="en-US" sz="2000" spc="-1" dirty="0" smtClean="0">
                <a:solidFill>
                  <a:srgbClr val="262626"/>
                </a:solidFill>
                <a:latin typeface="Montserrat"/>
              </a:rPr>
              <a:t>Smalltalk</a:t>
            </a:r>
            <a:endParaRPr lang="ru-RU" sz="2000" spc="-1" dirty="0" smtClean="0">
              <a:solidFill>
                <a:srgbClr val="262626"/>
              </a:solidFill>
              <a:latin typeface="Montserrat"/>
            </a:endParaRPr>
          </a:p>
          <a:p>
            <a:pPr marL="342900" indent="-342900" algn="just">
              <a:lnSpc>
                <a:spcPct val="100000"/>
              </a:lnSpc>
              <a:buFont typeface="Wingdings" panose="05000000000000000000" pitchFamily="2" charset="2"/>
              <a:buChar char="§"/>
            </a:pPr>
            <a:r>
              <a:rPr lang="en-US" sz="2000" spc="-1" dirty="0" smtClean="0">
                <a:solidFill>
                  <a:srgbClr val="262626"/>
                </a:solidFill>
                <a:latin typeface="Montserrat"/>
              </a:rPr>
              <a:t>Python</a:t>
            </a:r>
            <a:endParaRPr lang="ru-RU" sz="2000" spc="-1" dirty="0" smtClean="0">
              <a:solidFill>
                <a:srgbClr val="262626"/>
              </a:solidFill>
              <a:latin typeface="Montserrat"/>
            </a:endParaRPr>
          </a:p>
          <a:p>
            <a:pPr marL="342900" indent="-342900" algn="just">
              <a:lnSpc>
                <a:spcPct val="100000"/>
              </a:lnSpc>
              <a:buFont typeface="Wingdings" panose="05000000000000000000" pitchFamily="2" charset="2"/>
              <a:buChar char="§"/>
            </a:pPr>
            <a:r>
              <a:rPr lang="en-US" sz="2000" spc="-1" dirty="0" smtClean="0">
                <a:solidFill>
                  <a:srgbClr val="262626"/>
                </a:solidFill>
                <a:latin typeface="Montserrat"/>
              </a:rPr>
              <a:t>Objective-C</a:t>
            </a:r>
            <a:endParaRPr lang="ru-RU" sz="2000" spc="-1" dirty="0" smtClean="0">
              <a:solidFill>
                <a:srgbClr val="262626"/>
              </a:solidFill>
              <a:latin typeface="Montserrat"/>
            </a:endParaRPr>
          </a:p>
          <a:p>
            <a:pPr marL="342900" indent="-342900" algn="just">
              <a:lnSpc>
                <a:spcPct val="100000"/>
              </a:lnSpc>
              <a:buFont typeface="Wingdings" panose="05000000000000000000" pitchFamily="2" charset="2"/>
              <a:buChar char="§"/>
            </a:pPr>
            <a:r>
              <a:rPr lang="en-US" sz="2000" spc="-1" dirty="0" smtClean="0">
                <a:solidFill>
                  <a:srgbClr val="262626"/>
                </a:solidFill>
                <a:latin typeface="Montserrat"/>
              </a:rPr>
              <a:t>Ruby</a:t>
            </a:r>
            <a:endParaRPr lang="ru-RU" sz="2000" spc="-1" dirty="0" smtClean="0">
              <a:solidFill>
                <a:srgbClr val="262626"/>
              </a:solidFill>
              <a:latin typeface="Montserrat"/>
            </a:endParaRPr>
          </a:p>
          <a:p>
            <a:pPr marL="342900" indent="-342900" algn="just">
              <a:lnSpc>
                <a:spcPct val="100000"/>
              </a:lnSpc>
              <a:buFont typeface="Wingdings" panose="05000000000000000000" pitchFamily="2" charset="2"/>
              <a:buChar char="§"/>
            </a:pPr>
            <a:r>
              <a:rPr lang="en-US" sz="2000" spc="-1" dirty="0" smtClean="0">
                <a:solidFill>
                  <a:srgbClr val="262626"/>
                </a:solidFill>
                <a:latin typeface="Montserrat"/>
              </a:rPr>
              <a:t>PHP</a:t>
            </a:r>
            <a:endParaRPr lang="ru-RU" sz="2000" spc="-1" dirty="0" smtClean="0">
              <a:solidFill>
                <a:srgbClr val="262626"/>
              </a:solidFill>
              <a:latin typeface="Montserrat"/>
            </a:endParaRPr>
          </a:p>
          <a:p>
            <a:pPr marL="342900" indent="-342900" algn="just">
              <a:lnSpc>
                <a:spcPct val="100000"/>
              </a:lnSpc>
              <a:buFont typeface="Wingdings" panose="05000000000000000000" pitchFamily="2" charset="2"/>
              <a:buChar char="§"/>
            </a:pPr>
            <a:r>
              <a:rPr lang="en-US" sz="2000" spc="-1" dirty="0" smtClean="0">
                <a:solidFill>
                  <a:srgbClr val="262626"/>
                </a:solidFill>
                <a:latin typeface="Montserrat"/>
              </a:rPr>
              <a:t>Perl</a:t>
            </a:r>
            <a:endParaRPr lang="ru-RU" sz="2000" spc="-1" dirty="0" smtClean="0">
              <a:solidFill>
                <a:srgbClr val="262626"/>
              </a:solidFill>
              <a:latin typeface="Montserrat"/>
            </a:endParaRPr>
          </a:p>
          <a:p>
            <a:pPr marL="342900" indent="-342900" algn="just">
              <a:lnSpc>
                <a:spcPct val="100000"/>
              </a:lnSpc>
              <a:buFont typeface="Wingdings" panose="05000000000000000000" pitchFamily="2" charset="2"/>
              <a:buChar char="§"/>
            </a:pPr>
            <a:r>
              <a:rPr lang="en-US" sz="2000" spc="-1" dirty="0" smtClean="0">
                <a:solidFill>
                  <a:srgbClr val="262626"/>
                </a:solidFill>
                <a:latin typeface="Montserrat"/>
              </a:rPr>
              <a:t>JavaScript</a:t>
            </a:r>
            <a:endParaRPr lang="ru-RU" sz="2000" spc="-1" dirty="0" smtClean="0">
              <a:solidFill>
                <a:srgbClr val="262626"/>
              </a:solidFill>
              <a:latin typeface="Montserrat"/>
            </a:endParaRPr>
          </a:p>
          <a:p>
            <a:pPr marL="342900" indent="-342900" algn="just">
              <a:lnSpc>
                <a:spcPct val="100000"/>
              </a:lnSpc>
              <a:buFont typeface="Wingdings" panose="05000000000000000000" pitchFamily="2" charset="2"/>
              <a:buChar char="§"/>
            </a:pPr>
            <a:r>
              <a:rPr lang="ru-RU" sz="2000" spc="-1" dirty="0" smtClean="0">
                <a:solidFill>
                  <a:srgbClr val="262626"/>
                </a:solidFill>
                <a:latin typeface="Montserrat"/>
              </a:rPr>
              <a:t>Лисп</a:t>
            </a:r>
            <a:endParaRPr lang="ru-RU" sz="2000" spc="-1" dirty="0">
              <a:solidFill>
                <a:srgbClr val="262626"/>
              </a:solidFill>
              <a:latin typeface="Montserrat"/>
            </a:endParaRPr>
          </a:p>
        </p:txBody>
      </p:sp>
    </p:spTree>
    <p:extLst>
      <p:ext uri="{BB962C8B-B14F-4D97-AF65-F5344CB8AC3E}">
        <p14:creationId xmlns:p14="http://schemas.microsoft.com/office/powerpoint/2010/main" val="523066374"/>
      </p:ext>
    </p:extLst>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360000"/>
            <a:ext cx="10080000" cy="72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3600" spc="-1" dirty="0">
                <a:solidFill>
                  <a:srgbClr val="004892"/>
                </a:solidFill>
                <a:latin typeface="Montserrat"/>
              </a:rPr>
              <a:t>Контроль типов</a:t>
            </a:r>
            <a:endParaRPr lang="en-US" sz="3600" spc="-1" dirty="0"/>
          </a:p>
        </p:txBody>
      </p:sp>
      <p:pic>
        <p:nvPicPr>
          <p:cNvPr id="87" name="Рисунок 7"/>
          <p:cNvPicPr/>
          <p:nvPr/>
        </p:nvPicPr>
        <p:blipFill>
          <a:blip r:embed="rId2"/>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a:solidFill>
                  <a:srgbClr val="004892"/>
                </a:solidFill>
                <a:latin typeface="Montserrat"/>
              </a:rPr>
              <a:t>Ульяновский государственный технический университет</a:t>
            </a:r>
            <a:endParaRPr lang="en-US" sz="1400" b="0" strike="noStrike" spc="-1">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
        <p:nvSpPr>
          <p:cNvPr id="90" name="CustomShape 4"/>
          <p:cNvSpPr/>
          <p:nvPr/>
        </p:nvSpPr>
        <p:spPr>
          <a:xfrm>
            <a:off x="360000" y="1260000"/>
            <a:ext cx="10080000" cy="5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2000" spc="-1" dirty="0" smtClean="0">
                <a:solidFill>
                  <a:srgbClr val="004892"/>
                </a:solidFill>
                <a:latin typeface="Montserrat Bold"/>
              </a:rPr>
              <a:t>Статическая </a:t>
            </a:r>
            <a:r>
              <a:rPr lang="en-US" sz="2000" spc="-1" dirty="0" smtClean="0">
                <a:solidFill>
                  <a:srgbClr val="004892"/>
                </a:solidFill>
                <a:latin typeface="Montserrat Bold"/>
              </a:rPr>
              <a:t>vs.</a:t>
            </a:r>
            <a:r>
              <a:rPr lang="ru-RU" sz="2000" spc="-1" dirty="0" smtClean="0">
                <a:solidFill>
                  <a:srgbClr val="004892"/>
                </a:solidFill>
                <a:latin typeface="Montserrat Bold"/>
              </a:rPr>
              <a:t> </a:t>
            </a:r>
            <a:r>
              <a:rPr lang="ru-RU" sz="2000" spc="-1" dirty="0">
                <a:solidFill>
                  <a:srgbClr val="004892"/>
                </a:solidFill>
                <a:latin typeface="Montserrat Bold"/>
              </a:rPr>
              <a:t>динамическая </a:t>
            </a:r>
            <a:r>
              <a:rPr lang="ru-RU" sz="2000" spc="-1" dirty="0" smtClean="0">
                <a:solidFill>
                  <a:srgbClr val="004892"/>
                </a:solidFill>
                <a:latin typeface="Montserrat Bold"/>
              </a:rPr>
              <a:t>типизации</a:t>
            </a:r>
            <a:endParaRPr lang="ru-RU" sz="2000" spc="-1" dirty="0">
              <a:solidFill>
                <a:srgbClr val="004892"/>
              </a:solidFill>
              <a:latin typeface="Montserrat Bold"/>
            </a:endParaRPr>
          </a:p>
        </p:txBody>
      </p:sp>
      <p:sp>
        <p:nvSpPr>
          <p:cNvPr id="7" name="CustomShape 4"/>
          <p:cNvSpPr/>
          <p:nvPr/>
        </p:nvSpPr>
        <p:spPr>
          <a:xfrm>
            <a:off x="360000" y="1980000"/>
            <a:ext cx="10080000" cy="32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just">
              <a:lnSpc>
                <a:spcPct val="100000"/>
              </a:lnSpc>
            </a:pPr>
            <a:r>
              <a:rPr lang="ru-RU" sz="2000" spc="-1" dirty="0">
                <a:solidFill>
                  <a:srgbClr val="262626"/>
                </a:solidFill>
                <a:latin typeface="Montserrat"/>
              </a:rPr>
              <a:t>Статические и динамические языки построены на фундаментально разных идеях о корректности программ. В динамическом языке "a" + 1 это корректная программа: код будет запущен и появится ошибка в среде исполнения. Однако, в большинстве статически типизированных языков выражение "a" + 1 –</a:t>
            </a:r>
            <a:r>
              <a:rPr lang="ru-RU" sz="2000" spc="-1" dirty="0" smtClean="0">
                <a:solidFill>
                  <a:srgbClr val="262626"/>
                </a:solidFill>
                <a:latin typeface="Montserrat"/>
              </a:rPr>
              <a:t> </a:t>
            </a:r>
            <a:r>
              <a:rPr lang="ru-RU" sz="2000" spc="-1" dirty="0">
                <a:solidFill>
                  <a:srgbClr val="262626"/>
                </a:solidFill>
                <a:latin typeface="Montserrat"/>
              </a:rPr>
              <a:t>это не программа: она не будет скомпилирована и не будет запущена. Статические языки предотвращают такие ошибки, но, конечно, степень предотвращения зависит от мощности системы типов.</a:t>
            </a:r>
          </a:p>
        </p:txBody>
      </p:sp>
    </p:spTree>
    <p:extLst>
      <p:ext uri="{BB962C8B-B14F-4D97-AF65-F5344CB8AC3E}">
        <p14:creationId xmlns:p14="http://schemas.microsoft.com/office/powerpoint/2010/main" val="3337586913"/>
      </p:ext>
    </p:extLst>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360000"/>
            <a:ext cx="10080000" cy="72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3600" spc="-1" dirty="0">
                <a:solidFill>
                  <a:srgbClr val="004892"/>
                </a:solidFill>
                <a:latin typeface="Montserrat"/>
              </a:rPr>
              <a:t>Контроль типов</a:t>
            </a:r>
            <a:endParaRPr lang="en-US" sz="3600" spc="-1" dirty="0"/>
          </a:p>
        </p:txBody>
      </p:sp>
      <p:pic>
        <p:nvPicPr>
          <p:cNvPr id="87" name="Рисунок 7"/>
          <p:cNvPicPr/>
          <p:nvPr/>
        </p:nvPicPr>
        <p:blipFill>
          <a:blip r:embed="rId2"/>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a:solidFill>
                  <a:srgbClr val="004892"/>
                </a:solidFill>
                <a:latin typeface="Montserrat"/>
              </a:rPr>
              <a:t>Ульяновский государственный технический университет</a:t>
            </a:r>
            <a:endParaRPr lang="en-US" sz="1400" b="0" strike="noStrike" spc="-1">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
        <p:nvSpPr>
          <p:cNvPr id="90" name="CustomShape 4"/>
          <p:cNvSpPr/>
          <p:nvPr/>
        </p:nvSpPr>
        <p:spPr>
          <a:xfrm>
            <a:off x="360000" y="1260000"/>
            <a:ext cx="10080000" cy="5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2000" spc="-1" dirty="0" smtClean="0">
                <a:solidFill>
                  <a:srgbClr val="004892"/>
                </a:solidFill>
                <a:latin typeface="Montserrat Bold"/>
              </a:rPr>
              <a:t>Сильная/строгая </a:t>
            </a:r>
            <a:r>
              <a:rPr lang="en-US" sz="2000" spc="-1" dirty="0" smtClean="0">
                <a:solidFill>
                  <a:srgbClr val="004892"/>
                </a:solidFill>
                <a:latin typeface="Montserrat Bold"/>
              </a:rPr>
              <a:t>vs.</a:t>
            </a:r>
            <a:r>
              <a:rPr lang="ru-RU" sz="2000" spc="-1" dirty="0" smtClean="0">
                <a:solidFill>
                  <a:srgbClr val="004892"/>
                </a:solidFill>
                <a:latin typeface="Montserrat Bold"/>
              </a:rPr>
              <a:t> слабая типизации</a:t>
            </a:r>
            <a:endParaRPr lang="ru-RU" sz="2000" spc="-1" dirty="0">
              <a:solidFill>
                <a:srgbClr val="004892"/>
              </a:solidFill>
              <a:latin typeface="Montserrat Bold"/>
            </a:endParaRPr>
          </a:p>
        </p:txBody>
      </p:sp>
      <p:sp>
        <p:nvSpPr>
          <p:cNvPr id="7" name="CustomShape 4"/>
          <p:cNvSpPr/>
          <p:nvPr/>
        </p:nvSpPr>
        <p:spPr>
          <a:xfrm>
            <a:off x="360000" y="1980000"/>
            <a:ext cx="10080000" cy="32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just">
              <a:lnSpc>
                <a:spcPct val="100000"/>
              </a:lnSpc>
            </a:pPr>
            <a:r>
              <a:rPr lang="ru-RU" sz="2000" spc="-1" dirty="0">
                <a:solidFill>
                  <a:srgbClr val="262626"/>
                </a:solidFill>
                <a:latin typeface="Montserrat"/>
              </a:rPr>
              <a:t>Понятия "сильный" и "слабый" </a:t>
            </a:r>
            <a:r>
              <a:rPr lang="ru-RU" sz="2000" spc="-1" dirty="0" smtClean="0">
                <a:solidFill>
                  <a:srgbClr val="262626"/>
                </a:solidFill>
                <a:latin typeface="Montserrat"/>
              </a:rPr>
              <a:t>– слабо формализованы. </a:t>
            </a:r>
            <a:r>
              <a:rPr lang="ru-RU" sz="2000" spc="-1" dirty="0">
                <a:solidFill>
                  <a:srgbClr val="262626"/>
                </a:solidFill>
                <a:latin typeface="Montserrat"/>
              </a:rPr>
              <a:t>Вот некоторые примеры их использования</a:t>
            </a:r>
            <a:r>
              <a:rPr lang="ru-RU" sz="2000" spc="-1" dirty="0" smtClean="0">
                <a:solidFill>
                  <a:srgbClr val="262626"/>
                </a:solidFill>
                <a:latin typeface="Montserrat"/>
              </a:rPr>
              <a:t>:</a:t>
            </a:r>
            <a:endParaRPr lang="ru-RU" sz="2000" spc="-1" dirty="0">
              <a:solidFill>
                <a:srgbClr val="262626"/>
              </a:solidFill>
              <a:latin typeface="Montserrat"/>
            </a:endParaRPr>
          </a:p>
          <a:p>
            <a:pPr marL="342900" indent="-342900" algn="just">
              <a:lnSpc>
                <a:spcPct val="100000"/>
              </a:lnSpc>
              <a:buFont typeface="Wingdings" panose="05000000000000000000" pitchFamily="2" charset="2"/>
              <a:buChar char="§"/>
            </a:pPr>
            <a:r>
              <a:rPr lang="ru-RU" sz="2000" spc="-1" dirty="0" smtClean="0">
                <a:solidFill>
                  <a:srgbClr val="262626"/>
                </a:solidFill>
                <a:latin typeface="Montserrat"/>
              </a:rPr>
              <a:t>под термином «сильная типизация» могут понимать статическу</a:t>
            </a:r>
            <a:r>
              <a:rPr lang="ru-RU" sz="2000" spc="-1" dirty="0">
                <a:solidFill>
                  <a:srgbClr val="262626"/>
                </a:solidFill>
                <a:latin typeface="Montserrat"/>
              </a:rPr>
              <a:t>ю</a:t>
            </a:r>
            <a:r>
              <a:rPr lang="ru-RU" sz="2000" spc="-1" dirty="0" smtClean="0">
                <a:solidFill>
                  <a:srgbClr val="262626"/>
                </a:solidFill>
                <a:latin typeface="Montserrat"/>
              </a:rPr>
              <a:t> типизацию;</a:t>
            </a:r>
            <a:endParaRPr lang="ru-RU" sz="2000" spc="-1" dirty="0">
              <a:solidFill>
                <a:srgbClr val="262626"/>
              </a:solidFill>
              <a:latin typeface="Montserrat"/>
            </a:endParaRPr>
          </a:p>
          <a:p>
            <a:pPr marL="342900" indent="-342900" algn="just">
              <a:lnSpc>
                <a:spcPct val="100000"/>
              </a:lnSpc>
              <a:buFont typeface="Wingdings" panose="05000000000000000000" pitchFamily="2" charset="2"/>
              <a:buChar char="§"/>
            </a:pPr>
            <a:r>
              <a:rPr lang="ru-RU" sz="2000" spc="-1" dirty="0" smtClean="0">
                <a:solidFill>
                  <a:srgbClr val="262626"/>
                </a:solidFill>
                <a:latin typeface="Montserrat"/>
              </a:rPr>
              <a:t>могут </a:t>
            </a:r>
            <a:r>
              <a:rPr lang="ru-RU" sz="2000" spc="-1" dirty="0">
                <a:solidFill>
                  <a:srgbClr val="262626"/>
                </a:solidFill>
                <a:latin typeface="Montserrat"/>
              </a:rPr>
              <a:t>понимать </a:t>
            </a:r>
            <a:r>
              <a:rPr lang="ru-RU" sz="2000" spc="-1" dirty="0" smtClean="0">
                <a:solidFill>
                  <a:srgbClr val="262626"/>
                </a:solidFill>
                <a:latin typeface="Montserrat"/>
              </a:rPr>
              <a:t>«не </a:t>
            </a:r>
            <a:r>
              <a:rPr lang="ru-RU" sz="2000" spc="-1" dirty="0">
                <a:solidFill>
                  <a:srgbClr val="262626"/>
                </a:solidFill>
                <a:latin typeface="Montserrat"/>
              </a:rPr>
              <a:t>делает неявное преобразование </a:t>
            </a:r>
            <a:r>
              <a:rPr lang="ru-RU" sz="2000" spc="-1" dirty="0" smtClean="0">
                <a:solidFill>
                  <a:srgbClr val="262626"/>
                </a:solidFill>
                <a:latin typeface="Montserrat"/>
              </a:rPr>
              <a:t>типов» (в реальности</a:t>
            </a:r>
            <a:r>
              <a:rPr lang="ru-RU" sz="2000" spc="-1" dirty="0">
                <a:solidFill>
                  <a:srgbClr val="262626"/>
                </a:solidFill>
                <a:latin typeface="Montserrat"/>
              </a:rPr>
              <a:t>, </a:t>
            </a:r>
            <a:r>
              <a:rPr lang="ru-RU" sz="2000" spc="-1" dirty="0" smtClean="0">
                <a:solidFill>
                  <a:srgbClr val="262626"/>
                </a:solidFill>
                <a:latin typeface="Montserrat"/>
              </a:rPr>
              <a:t>слово «сильный» используется </a:t>
            </a:r>
            <a:r>
              <a:rPr lang="ru-RU" sz="2000" spc="-1" dirty="0">
                <a:solidFill>
                  <a:srgbClr val="262626"/>
                </a:solidFill>
                <a:latin typeface="Montserrat"/>
              </a:rPr>
              <a:t>для определения границы между приемлемым и неприемлемым </a:t>
            </a:r>
            <a:r>
              <a:rPr lang="ru-RU" sz="2000" spc="-1" dirty="0" smtClean="0">
                <a:solidFill>
                  <a:srgbClr val="262626"/>
                </a:solidFill>
                <a:latin typeface="Montserrat"/>
              </a:rPr>
              <a:t>преобразованием);</a:t>
            </a:r>
          </a:p>
          <a:p>
            <a:pPr marL="342900" indent="-342900" algn="just">
              <a:lnSpc>
                <a:spcPct val="100000"/>
              </a:lnSpc>
              <a:buFont typeface="Wingdings" panose="05000000000000000000" pitchFamily="2" charset="2"/>
              <a:buChar char="§"/>
            </a:pPr>
            <a:r>
              <a:rPr lang="ru-RU" sz="2000" spc="-1" dirty="0" smtClean="0">
                <a:solidFill>
                  <a:srgbClr val="262626"/>
                </a:solidFill>
                <a:latin typeface="Montserrat"/>
              </a:rPr>
              <a:t>могут </a:t>
            </a:r>
            <a:r>
              <a:rPr lang="ru-RU" sz="2000" spc="-1" dirty="0">
                <a:solidFill>
                  <a:srgbClr val="262626"/>
                </a:solidFill>
                <a:latin typeface="Montserrat"/>
              </a:rPr>
              <a:t>понимать </a:t>
            </a:r>
            <a:r>
              <a:rPr lang="ru-RU" sz="2000" spc="-1" dirty="0" smtClean="0">
                <a:solidFill>
                  <a:srgbClr val="262626"/>
                </a:solidFill>
                <a:latin typeface="Montserrat"/>
              </a:rPr>
              <a:t>невозможность обойти </a:t>
            </a:r>
            <a:r>
              <a:rPr lang="ru-RU" sz="2000" spc="-1" dirty="0">
                <a:solidFill>
                  <a:srgbClr val="262626"/>
                </a:solidFill>
                <a:latin typeface="Montserrat"/>
              </a:rPr>
              <a:t>строгие правила типизации в </a:t>
            </a:r>
            <a:r>
              <a:rPr lang="ru-RU" sz="2000" spc="-1" dirty="0" smtClean="0">
                <a:solidFill>
                  <a:srgbClr val="262626"/>
                </a:solidFill>
                <a:latin typeface="Montserrat"/>
              </a:rPr>
              <a:t>языке;</a:t>
            </a:r>
          </a:p>
          <a:p>
            <a:pPr marL="342900" indent="-342900" algn="just">
              <a:lnSpc>
                <a:spcPct val="100000"/>
              </a:lnSpc>
              <a:buFont typeface="Wingdings" panose="05000000000000000000" pitchFamily="2" charset="2"/>
              <a:buChar char="§"/>
            </a:pPr>
            <a:r>
              <a:rPr lang="ru-RU" sz="2000" spc="-1" dirty="0">
                <a:solidFill>
                  <a:srgbClr val="262626"/>
                </a:solidFill>
                <a:latin typeface="Montserrat"/>
              </a:rPr>
              <a:t>могут понимать </a:t>
            </a:r>
            <a:r>
              <a:rPr lang="ru-RU" sz="2000" spc="-1" dirty="0" smtClean="0">
                <a:solidFill>
                  <a:srgbClr val="262626"/>
                </a:solidFill>
                <a:latin typeface="Montserrat"/>
              </a:rPr>
              <a:t>безопасный </a:t>
            </a:r>
            <a:r>
              <a:rPr lang="ru-RU" sz="2000" spc="-1" dirty="0">
                <a:solidFill>
                  <a:srgbClr val="262626"/>
                </a:solidFill>
                <a:latin typeface="Montserrat"/>
              </a:rPr>
              <a:t>для памяти (</a:t>
            </a:r>
            <a:r>
              <a:rPr lang="ru-RU" sz="2000" spc="-1" dirty="0" err="1">
                <a:solidFill>
                  <a:srgbClr val="262626"/>
                </a:solidFill>
                <a:latin typeface="Montserrat"/>
              </a:rPr>
              <a:t>memory-safe</a:t>
            </a:r>
            <a:r>
              <a:rPr lang="ru-RU" sz="2000" spc="-1" dirty="0" smtClean="0">
                <a:solidFill>
                  <a:srgbClr val="262626"/>
                </a:solidFill>
                <a:latin typeface="Montserrat"/>
              </a:rPr>
              <a:t>) (язык Си </a:t>
            </a:r>
            <a:r>
              <a:rPr lang="ru-RU" sz="2000" spc="-1" dirty="0">
                <a:solidFill>
                  <a:srgbClr val="262626"/>
                </a:solidFill>
                <a:latin typeface="Montserrat"/>
              </a:rPr>
              <a:t>–</a:t>
            </a:r>
            <a:r>
              <a:rPr lang="ru-RU" sz="2000" spc="-1" dirty="0" smtClean="0">
                <a:solidFill>
                  <a:srgbClr val="262626"/>
                </a:solidFill>
                <a:latin typeface="Montserrat"/>
              </a:rPr>
              <a:t> </a:t>
            </a:r>
            <a:r>
              <a:rPr lang="ru-RU" sz="2000" spc="-1" dirty="0">
                <a:solidFill>
                  <a:srgbClr val="262626"/>
                </a:solidFill>
                <a:latin typeface="Montserrat"/>
              </a:rPr>
              <a:t>это пример небезопасного для памяти </a:t>
            </a:r>
            <a:r>
              <a:rPr lang="ru-RU" sz="2000" spc="-1" dirty="0" smtClean="0">
                <a:solidFill>
                  <a:srgbClr val="262626"/>
                </a:solidFill>
                <a:latin typeface="Montserrat"/>
              </a:rPr>
              <a:t>языка, </a:t>
            </a:r>
            <a:r>
              <a:rPr lang="ru-RU" sz="2000" spc="-1" dirty="0">
                <a:solidFill>
                  <a:srgbClr val="262626"/>
                </a:solidFill>
                <a:latin typeface="Montserrat"/>
              </a:rPr>
              <a:t>е</a:t>
            </a:r>
            <a:r>
              <a:rPr lang="ru-RU" sz="2000" spc="-1" dirty="0" smtClean="0">
                <a:solidFill>
                  <a:srgbClr val="262626"/>
                </a:solidFill>
                <a:latin typeface="Montserrat"/>
              </a:rPr>
              <a:t>сли </a:t>
            </a:r>
            <a:r>
              <a:rPr lang="ru-RU" sz="2000" spc="-1" dirty="0" err="1">
                <a:solidFill>
                  <a:srgbClr val="262626"/>
                </a:solidFill>
                <a:latin typeface="Montserrat"/>
              </a:rPr>
              <a:t>xs</a:t>
            </a:r>
            <a:r>
              <a:rPr lang="ru-RU" sz="2000" spc="-1" dirty="0">
                <a:solidFill>
                  <a:srgbClr val="262626"/>
                </a:solidFill>
                <a:latin typeface="Montserrat"/>
              </a:rPr>
              <a:t> – </a:t>
            </a:r>
            <a:r>
              <a:rPr lang="ru-RU" sz="2000" spc="-1" dirty="0" smtClean="0">
                <a:solidFill>
                  <a:srgbClr val="262626"/>
                </a:solidFill>
                <a:latin typeface="Montserrat"/>
              </a:rPr>
              <a:t>это </a:t>
            </a:r>
            <a:r>
              <a:rPr lang="ru-RU" sz="2000" spc="-1" dirty="0">
                <a:solidFill>
                  <a:srgbClr val="262626"/>
                </a:solidFill>
                <a:latin typeface="Montserrat"/>
              </a:rPr>
              <a:t>массив четырех чисел, то Си с радостью выполнит код </a:t>
            </a:r>
            <a:r>
              <a:rPr lang="ru-RU" sz="2000" spc="-1" dirty="0" err="1">
                <a:solidFill>
                  <a:srgbClr val="262626"/>
                </a:solidFill>
                <a:latin typeface="Montserrat"/>
              </a:rPr>
              <a:t>xs</a:t>
            </a:r>
            <a:r>
              <a:rPr lang="ru-RU" sz="2000" spc="-1" dirty="0">
                <a:solidFill>
                  <a:srgbClr val="262626"/>
                </a:solidFill>
                <a:latin typeface="Montserrat"/>
              </a:rPr>
              <a:t>[5] или </a:t>
            </a:r>
            <a:r>
              <a:rPr lang="ru-RU" sz="2000" spc="-1" dirty="0" err="1">
                <a:solidFill>
                  <a:srgbClr val="262626"/>
                </a:solidFill>
                <a:latin typeface="Montserrat"/>
              </a:rPr>
              <a:t>xs</a:t>
            </a:r>
            <a:r>
              <a:rPr lang="ru-RU" sz="2000" spc="-1" dirty="0">
                <a:solidFill>
                  <a:srgbClr val="262626"/>
                </a:solidFill>
                <a:latin typeface="Montserrat"/>
              </a:rPr>
              <a:t>[1000], возвращая какое-то значение из памяти, которая находится сразу за </a:t>
            </a:r>
            <a:r>
              <a:rPr lang="ru-RU" sz="2000" spc="-1" dirty="0" err="1" smtClean="0">
                <a:solidFill>
                  <a:srgbClr val="262626"/>
                </a:solidFill>
                <a:latin typeface="Montserrat"/>
              </a:rPr>
              <a:t>xs</a:t>
            </a:r>
            <a:r>
              <a:rPr lang="ru-RU" sz="2000" spc="-1" dirty="0" smtClean="0">
                <a:solidFill>
                  <a:srgbClr val="262626"/>
                </a:solidFill>
                <a:latin typeface="Montserrat"/>
              </a:rPr>
              <a:t>).</a:t>
            </a:r>
            <a:endParaRPr lang="ru-RU" sz="2000" spc="-1" dirty="0">
              <a:solidFill>
                <a:srgbClr val="262626"/>
              </a:solidFill>
              <a:latin typeface="Montserrat"/>
            </a:endParaRPr>
          </a:p>
        </p:txBody>
      </p:sp>
    </p:spTree>
    <p:extLst>
      <p:ext uri="{BB962C8B-B14F-4D97-AF65-F5344CB8AC3E}">
        <p14:creationId xmlns:p14="http://schemas.microsoft.com/office/powerpoint/2010/main" val="1111576598"/>
      </p:ext>
    </p:extLst>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360000"/>
            <a:ext cx="10080000" cy="72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3600" spc="-1" dirty="0">
                <a:solidFill>
                  <a:srgbClr val="004892"/>
                </a:solidFill>
                <a:latin typeface="Montserrat"/>
              </a:rPr>
              <a:t>Контроль типов</a:t>
            </a:r>
            <a:endParaRPr lang="en-US" sz="3600" spc="-1" dirty="0"/>
          </a:p>
        </p:txBody>
      </p:sp>
      <p:pic>
        <p:nvPicPr>
          <p:cNvPr id="87" name="Рисунок 7"/>
          <p:cNvPicPr/>
          <p:nvPr/>
        </p:nvPicPr>
        <p:blipFill>
          <a:blip r:embed="rId2"/>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a:solidFill>
                  <a:srgbClr val="004892"/>
                </a:solidFill>
                <a:latin typeface="Montserrat"/>
              </a:rPr>
              <a:t>Ульяновский государственный технический университет</a:t>
            </a:r>
            <a:endParaRPr lang="en-US" sz="1400" b="0" strike="noStrike" spc="-1">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
        <p:nvSpPr>
          <p:cNvPr id="90" name="CustomShape 4"/>
          <p:cNvSpPr/>
          <p:nvPr/>
        </p:nvSpPr>
        <p:spPr>
          <a:xfrm>
            <a:off x="360000" y="1260000"/>
            <a:ext cx="10080000" cy="5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2000" spc="-1" dirty="0">
                <a:solidFill>
                  <a:srgbClr val="004892"/>
                </a:solidFill>
                <a:latin typeface="Montserrat Bold"/>
              </a:rPr>
              <a:t>Сильная/строгая </a:t>
            </a:r>
            <a:r>
              <a:rPr lang="en-US" sz="2000" spc="-1" dirty="0">
                <a:solidFill>
                  <a:srgbClr val="004892"/>
                </a:solidFill>
                <a:latin typeface="Montserrat Bold"/>
              </a:rPr>
              <a:t>vs.</a:t>
            </a:r>
            <a:r>
              <a:rPr lang="ru-RU" sz="2000" spc="-1" dirty="0">
                <a:solidFill>
                  <a:srgbClr val="004892"/>
                </a:solidFill>
                <a:latin typeface="Montserrat Bold"/>
              </a:rPr>
              <a:t> слабая типизации</a:t>
            </a:r>
          </a:p>
        </p:txBody>
      </p:sp>
      <p:sp>
        <p:nvSpPr>
          <p:cNvPr id="7" name="CustomShape 4"/>
          <p:cNvSpPr/>
          <p:nvPr/>
        </p:nvSpPr>
        <p:spPr>
          <a:xfrm>
            <a:off x="360000" y="1980000"/>
            <a:ext cx="10080000" cy="32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just">
              <a:lnSpc>
                <a:spcPct val="100000"/>
              </a:lnSpc>
            </a:pPr>
            <a:r>
              <a:rPr lang="ru-RU" sz="2000" spc="-1" dirty="0">
                <a:solidFill>
                  <a:srgbClr val="262626"/>
                </a:solidFill>
                <a:latin typeface="Montserrat"/>
              </a:rPr>
              <a:t>В большинстве случаев термины </a:t>
            </a:r>
            <a:r>
              <a:rPr lang="ru-RU" sz="2000" spc="-1" dirty="0" smtClean="0">
                <a:solidFill>
                  <a:srgbClr val="262626"/>
                </a:solidFill>
                <a:latin typeface="Montserrat"/>
              </a:rPr>
              <a:t>«сильный» и «слабый» </a:t>
            </a:r>
            <a:r>
              <a:rPr lang="ru-RU" sz="2000" spc="-1" dirty="0">
                <a:solidFill>
                  <a:srgbClr val="262626"/>
                </a:solidFill>
                <a:latin typeface="Montserrat"/>
              </a:rPr>
              <a:t>в интернете являются неясными и плохо определенными мнениями конкретных людей. Они используются, чтобы назвать язык </a:t>
            </a:r>
            <a:r>
              <a:rPr lang="ru-RU" sz="2000" spc="-1" dirty="0" smtClean="0">
                <a:solidFill>
                  <a:srgbClr val="262626"/>
                </a:solidFill>
                <a:latin typeface="Montserrat"/>
              </a:rPr>
              <a:t>«плохим» </a:t>
            </a:r>
            <a:r>
              <a:rPr lang="ru-RU" sz="2000" spc="-1" dirty="0">
                <a:solidFill>
                  <a:srgbClr val="262626"/>
                </a:solidFill>
                <a:latin typeface="Montserrat"/>
              </a:rPr>
              <a:t>или </a:t>
            </a:r>
            <a:r>
              <a:rPr lang="ru-RU" sz="2000" spc="-1" dirty="0" smtClean="0">
                <a:solidFill>
                  <a:srgbClr val="262626"/>
                </a:solidFill>
                <a:latin typeface="Montserrat"/>
              </a:rPr>
              <a:t>«хорошим», </a:t>
            </a:r>
            <a:r>
              <a:rPr lang="ru-RU" sz="2000" spc="-1" dirty="0">
                <a:solidFill>
                  <a:srgbClr val="262626"/>
                </a:solidFill>
                <a:latin typeface="Montserrat"/>
              </a:rPr>
              <a:t>и это мнение оборачивается в технический жаргон</a:t>
            </a:r>
            <a:r>
              <a:rPr lang="ru-RU" sz="2000" spc="-1" dirty="0" smtClean="0">
                <a:solidFill>
                  <a:srgbClr val="262626"/>
                </a:solidFill>
                <a:latin typeface="Montserrat"/>
              </a:rPr>
              <a:t>.</a:t>
            </a:r>
          </a:p>
          <a:p>
            <a:pPr algn="just">
              <a:lnSpc>
                <a:spcPct val="100000"/>
              </a:lnSpc>
            </a:pPr>
            <a:r>
              <a:rPr lang="ru-RU" sz="2000" spc="-1" dirty="0">
                <a:solidFill>
                  <a:srgbClr val="262626"/>
                </a:solidFill>
                <a:latin typeface="Montserrat"/>
              </a:rPr>
              <a:t>Зачастую термины </a:t>
            </a:r>
            <a:r>
              <a:rPr lang="ru-RU" sz="2000" spc="-1" dirty="0" smtClean="0">
                <a:solidFill>
                  <a:srgbClr val="262626"/>
                </a:solidFill>
                <a:latin typeface="Montserrat"/>
              </a:rPr>
              <a:t>«сильный» </a:t>
            </a:r>
            <a:r>
              <a:rPr lang="ru-RU" sz="2000" spc="-1" dirty="0">
                <a:solidFill>
                  <a:srgbClr val="262626"/>
                </a:solidFill>
                <a:latin typeface="Montserrat"/>
              </a:rPr>
              <a:t>и </a:t>
            </a:r>
            <a:r>
              <a:rPr lang="ru-RU" sz="2000" spc="-1" dirty="0" smtClean="0">
                <a:solidFill>
                  <a:srgbClr val="262626"/>
                </a:solidFill>
                <a:latin typeface="Montserrat"/>
              </a:rPr>
              <a:t>«слабый» </a:t>
            </a:r>
            <a:r>
              <a:rPr lang="ru-RU" sz="2000" spc="-1" dirty="0">
                <a:solidFill>
                  <a:srgbClr val="262626"/>
                </a:solidFill>
                <a:latin typeface="Montserrat"/>
              </a:rPr>
              <a:t>относятся к неопределенной комбинации разных </a:t>
            </a:r>
            <a:r>
              <a:rPr lang="ru-RU" sz="2000" spc="-1" dirty="0" smtClean="0">
                <a:solidFill>
                  <a:srgbClr val="262626"/>
                </a:solidFill>
                <a:latin typeface="Montserrat"/>
              </a:rPr>
              <a:t>случаев (часть из которых рассмотрены в предыдущем слайде). </a:t>
            </a:r>
            <a:r>
              <a:rPr lang="ru-RU" sz="2000" spc="-1" dirty="0">
                <a:solidFill>
                  <a:srgbClr val="262626"/>
                </a:solidFill>
                <a:latin typeface="Montserrat"/>
              </a:rPr>
              <a:t>Весь этот беспорядок делает слова </a:t>
            </a:r>
            <a:r>
              <a:rPr lang="ru-RU" sz="2000" spc="-1" dirty="0" smtClean="0">
                <a:solidFill>
                  <a:srgbClr val="262626"/>
                </a:solidFill>
                <a:latin typeface="Montserrat"/>
              </a:rPr>
              <a:t>«сильный» </a:t>
            </a:r>
            <a:r>
              <a:rPr lang="ru-RU" sz="2000" spc="-1" dirty="0">
                <a:solidFill>
                  <a:srgbClr val="262626"/>
                </a:solidFill>
                <a:latin typeface="Montserrat"/>
              </a:rPr>
              <a:t>и </a:t>
            </a:r>
            <a:r>
              <a:rPr lang="ru-RU" sz="2000" spc="-1" dirty="0" smtClean="0">
                <a:solidFill>
                  <a:srgbClr val="262626"/>
                </a:solidFill>
                <a:latin typeface="Montserrat"/>
              </a:rPr>
              <a:t>«слабый» </a:t>
            </a:r>
            <a:r>
              <a:rPr lang="ru-RU" sz="2000" spc="-1" dirty="0">
                <a:solidFill>
                  <a:srgbClr val="262626"/>
                </a:solidFill>
                <a:latin typeface="Montserrat"/>
              </a:rPr>
              <a:t>практически бессмысленными.</a:t>
            </a:r>
          </a:p>
        </p:txBody>
      </p:sp>
    </p:spTree>
    <p:extLst>
      <p:ext uri="{BB962C8B-B14F-4D97-AF65-F5344CB8AC3E}">
        <p14:creationId xmlns:p14="http://schemas.microsoft.com/office/powerpoint/2010/main" val="2781305647"/>
      </p:ext>
    </p:extLst>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TextShape 1"/>
          <p:cNvSpPr txBox="1"/>
          <p:nvPr/>
        </p:nvSpPr>
        <p:spPr>
          <a:xfrm>
            <a:off x="581040" y="800280"/>
            <a:ext cx="8048160" cy="2297160"/>
          </a:xfrm>
          <a:prstGeom prst="rect">
            <a:avLst/>
          </a:prstGeom>
          <a:noFill/>
          <a:ln>
            <a:noFill/>
          </a:ln>
        </p:spPr>
        <p:txBody>
          <a:bodyPr>
            <a:noAutofit/>
          </a:bodyPr>
          <a:lstStyle/>
          <a:p>
            <a:pPr>
              <a:lnSpc>
                <a:spcPct val="100000"/>
              </a:lnSpc>
            </a:pPr>
            <a:r>
              <a:rPr lang="ru-RU" sz="4800" b="0" strike="noStrike" spc="-1">
                <a:solidFill>
                  <a:srgbClr val="004892"/>
                </a:solidFill>
                <a:latin typeface="Montserrat Bold"/>
              </a:rPr>
              <a:t>Спасибо за внимание!</a:t>
            </a:r>
            <a:endParaRPr lang="en-US" sz="4800" b="0" strike="noStrike" spc="-1">
              <a:solidFill>
                <a:srgbClr val="000000"/>
              </a:solidFill>
              <a:latin typeface="Geometria light"/>
            </a:endParaRPr>
          </a:p>
        </p:txBody>
      </p:sp>
      <p:sp>
        <p:nvSpPr>
          <p:cNvPr id="103" name="CustomShape 2"/>
          <p:cNvSpPr/>
          <p:nvPr/>
        </p:nvSpPr>
        <p:spPr>
          <a:xfrm>
            <a:off x="0" y="6862680"/>
            <a:ext cx="10691280" cy="45864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en-US" sz="1600" b="0" strike="noStrike" spc="-1" dirty="0" smtClean="0">
                <a:solidFill>
                  <a:srgbClr val="173277"/>
                </a:solidFill>
                <a:latin typeface="Montserrat"/>
              </a:rPr>
              <a:t>2022</a:t>
            </a:r>
            <a:endParaRPr lang="en-US" sz="1600" b="0" strike="noStrike" spc="-1" dirty="0">
              <a:latin typeface="Arial"/>
            </a:endParaRPr>
          </a:p>
        </p:txBody>
      </p:sp>
      <p:pic>
        <p:nvPicPr>
          <p:cNvPr id="104" name="Рисунок 2"/>
          <p:cNvPicPr/>
          <p:nvPr/>
        </p:nvPicPr>
        <p:blipFill>
          <a:blip r:embed="rId2"/>
          <a:stretch/>
        </p:blipFill>
        <p:spPr>
          <a:xfrm>
            <a:off x="4115160" y="5178600"/>
            <a:ext cx="2232360" cy="1426680"/>
          </a:xfrm>
          <a:prstGeom prst="rect">
            <a:avLst/>
          </a:prstGeom>
          <a:ln>
            <a:noFill/>
          </a:ln>
        </p:spPr>
      </p:pic>
      <p:sp>
        <p:nvSpPr>
          <p:cNvPr id="105" name="CustomShape 3"/>
          <p:cNvSpPr/>
          <p:nvPr/>
        </p:nvSpPr>
        <p:spPr>
          <a:xfrm>
            <a:off x="581040" y="1833480"/>
            <a:ext cx="8048160" cy="229716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2000" b="0" strike="noStrike" spc="-1" dirty="0">
                <a:solidFill>
                  <a:srgbClr val="004892"/>
                </a:solidFill>
                <a:latin typeface="Montserrat"/>
              </a:rPr>
              <a:t>Рады видеть Вас на наших мероприятиях!</a:t>
            </a:r>
            <a:endParaRPr lang="en-US" sz="2000" b="0" strike="noStrike" spc="-1" dirty="0">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a:noFill/>
        </a:ln>
      </a:spPr>
      <a:bodyPr>
        <a:noAutofit/>
      </a:bodyPr>
      <a:lstStyle>
        <a:defPPr>
          <a:lnSpc>
            <a:spcPct val="100000"/>
          </a:lnSpc>
          <a:defRPr sz="1400" b="0" strike="noStrike" spc="-1">
            <a:solidFill>
              <a:srgbClr val="004892"/>
            </a:solidFill>
            <a:latin typeface="Montserrat"/>
          </a:defRPr>
        </a:defPPr>
      </a:lstStyle>
      <a:style>
        <a:lnRef idx="0">
          <a:scrgbClr r="0" g="0" b="0"/>
        </a:lnRef>
        <a:fillRef idx="0">
          <a:scrgbClr r="0" g="0" b="0"/>
        </a:fillRef>
        <a:effectRef idx="0">
          <a:scrgbClr r="0" g="0" b="0"/>
        </a:effectRef>
        <a:fontRef idx="minor"/>
      </a:style>
    </a:sp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4044</TotalTime>
  <Words>1571</Words>
  <Application>Microsoft Office PowerPoint</Application>
  <PresentationFormat>Custom</PresentationFormat>
  <Paragraphs>182</Paragraphs>
  <Slides>25</Slides>
  <Notes>2</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25</vt:i4>
      </vt:variant>
    </vt:vector>
  </HeadingPairs>
  <TitlesOfParts>
    <vt:vector size="36" baseType="lpstr">
      <vt:lpstr>Arial</vt:lpstr>
      <vt:lpstr>Calibri</vt:lpstr>
      <vt:lpstr>DejaVu Sans</vt:lpstr>
      <vt:lpstr>Geometria  bold</vt:lpstr>
      <vt:lpstr>Geometria light</vt:lpstr>
      <vt:lpstr>Montserrat</vt:lpstr>
      <vt:lpstr>Montserrat Bold</vt:lpstr>
      <vt:lpstr>Symbol</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Результаты приемной  кампании - 2019</dc:title>
  <dc:subject/>
  <dc:creator>afsafasfasfa afafaf</dc:creator>
  <dc:description/>
  <cp:lastModifiedBy>Evgenii Egov</cp:lastModifiedBy>
  <cp:revision>405</cp:revision>
  <dcterms:created xsi:type="dcterms:W3CDTF">2019-09-16T12:04:13Z</dcterms:created>
  <dcterms:modified xsi:type="dcterms:W3CDTF">2022-10-04T08:58:53Z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HiddenSlides">
    <vt:i4>0</vt:i4>
  </property>
  <property fmtid="{D5CDD505-2E9C-101B-9397-08002B2CF9AE}" pid="4" name="HyperlinksChanged">
    <vt:bool>false</vt:bool>
  </property>
  <property fmtid="{D5CDD505-2E9C-101B-9397-08002B2CF9AE}" pid="5" name="LinksUpToDate">
    <vt:bool>false</vt:bool>
  </property>
  <property fmtid="{D5CDD505-2E9C-101B-9397-08002B2CF9AE}" pid="6" name="MMClips">
    <vt:i4>0</vt:i4>
  </property>
  <property fmtid="{D5CDD505-2E9C-101B-9397-08002B2CF9AE}" pid="7" name="Notes">
    <vt:i4>0</vt:i4>
  </property>
  <property fmtid="{D5CDD505-2E9C-101B-9397-08002B2CF9AE}" pid="8" name="PresentationFormat">
    <vt:lpwstr>Произвольный</vt:lpwstr>
  </property>
  <property fmtid="{D5CDD505-2E9C-101B-9397-08002B2CF9AE}" pid="9" name="ScaleCrop">
    <vt:bool>false</vt:bool>
  </property>
  <property fmtid="{D5CDD505-2E9C-101B-9397-08002B2CF9AE}" pid="10" name="ShareDoc">
    <vt:bool>false</vt:bool>
  </property>
  <property fmtid="{D5CDD505-2E9C-101B-9397-08002B2CF9AE}" pid="11" name="Slides">
    <vt:i4>5</vt:i4>
  </property>
</Properties>
</file>