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7"/>
  </p:notesMasterIdLst>
  <p:sldIdLst>
    <p:sldId id="256" r:id="rId2"/>
    <p:sldId id="269" r:id="rId3"/>
    <p:sldId id="271" r:id="rId4"/>
    <p:sldId id="318" r:id="rId5"/>
    <p:sldId id="319" r:id="rId6"/>
    <p:sldId id="321" r:id="rId7"/>
    <p:sldId id="322" r:id="rId8"/>
    <p:sldId id="323" r:id="rId9"/>
    <p:sldId id="320" r:id="rId10"/>
    <p:sldId id="324" r:id="rId11"/>
    <p:sldId id="326" r:id="rId12"/>
    <p:sldId id="325" r:id="rId13"/>
    <p:sldId id="327" r:id="rId14"/>
    <p:sldId id="328" r:id="rId15"/>
    <p:sldId id="329" r:id="rId16"/>
    <p:sldId id="330" r:id="rId17"/>
    <p:sldId id="331" r:id="rId18"/>
    <p:sldId id="317" r:id="rId19"/>
    <p:sldId id="332" r:id="rId20"/>
    <p:sldId id="345" r:id="rId21"/>
    <p:sldId id="342" r:id="rId22"/>
    <p:sldId id="343" r:id="rId23"/>
    <p:sldId id="344" r:id="rId24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41" r:id="rId33"/>
    <p:sldId id="346" r:id="rId34"/>
    <p:sldId id="347" r:id="rId35"/>
    <p:sldId id="348" r:id="rId36"/>
    <p:sldId id="349" r:id="rId37"/>
    <p:sldId id="350" r:id="rId38"/>
    <p:sldId id="351" r:id="rId39"/>
    <p:sldId id="352" r:id="rId40"/>
    <p:sldId id="353" r:id="rId41"/>
    <p:sldId id="354" r:id="rId42"/>
    <p:sldId id="355" r:id="rId43"/>
    <p:sldId id="356" r:id="rId44"/>
    <p:sldId id="362" r:id="rId45"/>
    <p:sldId id="357" r:id="rId46"/>
    <p:sldId id="358" r:id="rId47"/>
    <p:sldId id="359" r:id="rId48"/>
    <p:sldId id="360" r:id="rId49"/>
    <p:sldId id="361" r:id="rId50"/>
    <p:sldId id="363" r:id="rId51"/>
    <p:sldId id="364" r:id="rId52"/>
    <p:sldId id="365" r:id="rId53"/>
    <p:sldId id="366" r:id="rId54"/>
    <p:sldId id="367" r:id="rId55"/>
    <p:sldId id="368" r:id="rId56"/>
    <p:sldId id="369" r:id="rId57"/>
    <p:sldId id="371" r:id="rId58"/>
    <p:sldId id="370" r:id="rId59"/>
    <p:sldId id="372" r:id="rId60"/>
    <p:sldId id="373" r:id="rId61"/>
    <p:sldId id="374" r:id="rId62"/>
    <p:sldId id="375" r:id="rId63"/>
    <p:sldId id="376" r:id="rId64"/>
    <p:sldId id="377" r:id="rId65"/>
    <p:sldId id="378" r:id="rId66"/>
    <p:sldId id="379" r:id="rId67"/>
    <p:sldId id="380" r:id="rId68"/>
    <p:sldId id="381" r:id="rId69"/>
    <p:sldId id="382" r:id="rId70"/>
    <p:sldId id="383" r:id="rId71"/>
    <p:sldId id="384" r:id="rId72"/>
    <p:sldId id="385" r:id="rId73"/>
    <p:sldId id="386" r:id="rId74"/>
    <p:sldId id="387" r:id="rId75"/>
    <p:sldId id="260" r:id="rId76"/>
  </p:sldIdLst>
  <p:sldSz cx="10691813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5D9F7A72-7903-4791-9B02-03B0CC4EBD96}">
          <p14:sldIdLst>
            <p14:sldId id="256"/>
          </p14:sldIdLst>
        </p14:section>
        <p14:section name="Сервис-ориентированная архитектура" id="{E08CC9DD-223C-4625-B723-68B607D9346D}">
          <p14:sldIdLst>
            <p14:sldId id="269"/>
            <p14:sldId id="271"/>
            <p14:sldId id="318"/>
            <p14:sldId id="319"/>
            <p14:sldId id="321"/>
            <p14:sldId id="322"/>
            <p14:sldId id="323"/>
            <p14:sldId id="320"/>
            <p14:sldId id="324"/>
            <p14:sldId id="326"/>
            <p14:sldId id="325"/>
            <p14:sldId id="327"/>
          </p14:sldIdLst>
        </p14:section>
        <p14:section name="Масштабируемость" id="{1A8318D3-59D9-4C3F-8BF2-A1E4C930F106}">
          <p14:sldIdLst>
            <p14:sldId id="328"/>
            <p14:sldId id="329"/>
            <p14:sldId id="330"/>
            <p14:sldId id="331"/>
            <p14:sldId id="317"/>
            <p14:sldId id="332"/>
            <p14:sldId id="345"/>
            <p14:sldId id="342"/>
            <p14:sldId id="343"/>
            <p14:sldId id="344"/>
          </p14:sldIdLst>
        </p14:section>
        <p14:section name="Очередь сообщений" id="{C8CF2A18-CE63-40EA-B9D1-44527819955D}">
          <p14:sldIdLst>
            <p14:sldId id="333"/>
            <p14:sldId id="334"/>
            <p14:sldId id="335"/>
            <p14:sldId id="336"/>
            <p14:sldId id="337"/>
            <p14:sldId id="338"/>
            <p14:sldId id="339"/>
          </p14:sldIdLst>
        </p14:section>
        <p14:section name="RabbitMQ" id="{D1F29127-CA12-4E43-8DE7-077E02FA2FEA}">
          <p14:sldIdLst>
            <p14:sldId id="340"/>
            <p14:sldId id="341"/>
            <p14:sldId id="346"/>
            <p14:sldId id="347"/>
            <p14:sldId id="348"/>
            <p14:sldId id="349"/>
            <p14:sldId id="350"/>
            <p14:sldId id="351"/>
            <p14:sldId id="352"/>
          </p14:sldIdLst>
        </p14:section>
        <p14:section name="Сервисная шина предприятия" id="{CE442F6D-3D3E-452F-98E2-98503943CA99}">
          <p14:sldIdLst>
            <p14:sldId id="353"/>
            <p14:sldId id="354"/>
            <p14:sldId id="355"/>
            <p14:sldId id="356"/>
            <p14:sldId id="362"/>
            <p14:sldId id="357"/>
            <p14:sldId id="358"/>
            <p14:sldId id="359"/>
          </p14:sldIdLst>
        </p14:section>
        <p14:section name="Микросервисы" id="{CD0510B8-E3F2-4533-ADFD-944218189F83}">
          <p14:sldIdLst>
            <p14:sldId id="360"/>
            <p14:sldId id="361"/>
            <p14:sldId id="363"/>
            <p14:sldId id="364"/>
            <p14:sldId id="365"/>
            <p14:sldId id="366"/>
            <p14:sldId id="367"/>
            <p14:sldId id="368"/>
            <p14:sldId id="369"/>
            <p14:sldId id="371"/>
            <p14:sldId id="370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</p14:sldIdLst>
        </p14:section>
        <p14:section name="DevOps" id="{3194C01B-1DB0-4B5A-9D56-35FD0CCE20D9}">
          <p14:sldIdLst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</p14:sldIdLst>
        </p14:section>
        <p14:section name="Завершение" id="{57706748-57AD-45AB-9FB3-1B9A00E91AB5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4660"/>
  </p:normalViewPr>
  <p:slideViewPr>
    <p:cSldViewPr snapToGrid="0">
      <p:cViewPr varScale="1">
        <p:scale>
          <a:sx n="99" d="100"/>
          <a:sy n="99" d="100"/>
        </p:scale>
        <p:origin x="14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9156D-793D-4199-AAB2-E661653C6D60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28725" y="1336675"/>
            <a:ext cx="51022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D884F-4143-43AF-878B-33CC48EE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5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1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577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92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86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80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07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D884F-4143-43AF-878B-33CC48EE52D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11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01720" y="1237320"/>
            <a:ext cx="9087840" cy="121996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78756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041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34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78756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041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6619" b="0" strike="noStrike" spc="-1">
                <a:solidFill>
                  <a:srgbClr val="000000"/>
                </a:solidFill>
                <a:latin typeface="Geometria  bold"/>
              </a:rPr>
              <a:t>Образец заголовка</a:t>
            </a:r>
            <a:endParaRPr lang="en-US" sz="6619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73512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7095A16-4C3A-49BC-BA45-ED63D8DC7979}" type="datetime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20.10.2022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541680" y="7006680"/>
            <a:ext cx="360828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755100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C19D91D-1076-4D88-80F8-03FFDA14860F}" type="slidenum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‹#›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90" b="0" strike="noStrike" spc="-1">
                <a:solidFill>
                  <a:srgbClr val="000000"/>
                </a:solidFill>
                <a:latin typeface="Geometria light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10" b="0" strike="noStrike" spc="-1">
                <a:solidFill>
                  <a:srgbClr val="000000"/>
                </a:solidFill>
                <a:latin typeface="Geometria light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360000" y="719999"/>
            <a:ext cx="10080000" cy="9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800" spc="-1" dirty="0">
                <a:solidFill>
                  <a:srgbClr val="004892"/>
                </a:solidFill>
                <a:latin typeface="Montserrat Bold"/>
              </a:rPr>
              <a:t>Лекция </a:t>
            </a:r>
            <a:r>
              <a:rPr lang="en-US" sz="4800" spc="-1" dirty="0" smtClean="0">
                <a:solidFill>
                  <a:srgbClr val="004892"/>
                </a:solidFill>
                <a:latin typeface="Montserrat Bold"/>
              </a:rPr>
              <a:t>04</a:t>
            </a:r>
            <a:endParaRPr lang="en-US" sz="4800" b="0" strike="noStrike" spc="-1" dirty="0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173277"/>
                </a:solidFill>
                <a:latin typeface="Montserrat"/>
              </a:rPr>
              <a:t>2022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84" name="Рисунок 2"/>
          <p:cNvPicPr/>
          <p:nvPr/>
        </p:nvPicPr>
        <p:blipFill>
          <a:blip r:embed="rId3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85" name="CustomShape 3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Сервис-ориентированная </a:t>
            </a: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архитектура</a:t>
            </a:r>
            <a:endParaRPr lang="en-US" sz="2000" spc="-1" dirty="0" smtClean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Масштабируемость</a:t>
            </a:r>
            <a:endParaRPr lang="en-US" sz="2000" spc="-1" dirty="0" smtClean="0">
              <a:solidFill>
                <a:srgbClr val="004892"/>
              </a:solidFill>
              <a:latin typeface="Montserrat"/>
            </a:endParaRPr>
          </a:p>
          <a:p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Очередь сообщений</a:t>
            </a:r>
            <a:endParaRPr lang="en-US" sz="2000" spc="-1" dirty="0"/>
          </a:p>
          <a:p>
            <a:pPr>
              <a:lnSpc>
                <a:spcPct val="100000"/>
              </a:lnSpc>
            </a:pPr>
            <a:r>
              <a:rPr lang="en-US" sz="2000" spc="-1" dirty="0" err="1" smtClean="0">
                <a:solidFill>
                  <a:srgbClr val="004892"/>
                </a:solidFill>
                <a:latin typeface="Montserrat"/>
              </a:rPr>
              <a:t>RabbitMQ</a:t>
            </a:r>
            <a:endParaRPr lang="en-US" sz="2000" spc="-1" dirty="0" smtClean="0">
              <a:solidFill>
                <a:srgbClr val="004892"/>
              </a:solidFill>
              <a:latin typeface="Montserrat"/>
            </a:endParaRPr>
          </a:p>
          <a:p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Сервисная шина предприятия</a:t>
            </a:r>
            <a:endParaRPr lang="en-US" sz="2000" spc="-1" dirty="0"/>
          </a:p>
          <a:p>
            <a:pPr>
              <a:lnSpc>
                <a:spcPct val="100000"/>
              </a:lnSpc>
            </a:pPr>
            <a:r>
              <a:rPr lang="ru-RU" sz="2000" spc="-1" dirty="0" err="1" smtClean="0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en-US" sz="2000" spc="-1" dirty="0" smtClean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DevOps</a:t>
            </a:r>
            <a:endParaRPr lang="ru-RU" sz="2000" spc="-1" dirty="0" smtClean="0">
              <a:solidFill>
                <a:srgbClr val="004892"/>
              </a:solidFill>
              <a:latin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Сервис-ориентированная архитектура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7942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Сервис-ориентированная архитектура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Сервис-ориентированная архитектура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Сервис-ориентированная архитектура – модульный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подход к разработке программного обеспечения, базирующийся на обеспечении удаленного по стандартизированным протоколам использования </a:t>
            </a:r>
            <a:r>
              <a:rPr lang="ru-RU" sz="2000" b="1" spc="-1" dirty="0" smtClean="0">
                <a:solidFill>
                  <a:srgbClr val="262626"/>
                </a:solidFill>
                <a:latin typeface="Montserrat"/>
              </a:rPr>
              <a:t>распределенных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слабо </a:t>
            </a:r>
            <a:r>
              <a:rPr lang="ru-RU" sz="2000" b="1" spc="-1" dirty="0" smtClean="0">
                <a:solidFill>
                  <a:srgbClr val="262626"/>
                </a:solidFill>
                <a:latin typeface="Montserrat"/>
              </a:rPr>
              <a:t>связанных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легко заменяемых компонентов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(сервисов) со стандартизированными интерфейсами.</a:t>
            </a:r>
          </a:p>
        </p:txBody>
      </p:sp>
    </p:spTree>
    <p:extLst>
      <p:ext uri="{BB962C8B-B14F-4D97-AF65-F5344CB8AC3E}">
        <p14:creationId xmlns:p14="http://schemas.microsoft.com/office/powerpoint/2010/main" val="405954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Сервис-ориентированная архитектура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Сервис-ориентированная архитектура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Программные комплексы, разработанные в соответствии с СОА, обычно реализуются как набор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веб-служб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взаимодействующих по протоколу CORBA,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SOAP или REST.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Интерфейсы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компонентов в сервис-ориентированной архитектуре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инкапсулируют (скрывают)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детали реализации (операционную систему, платформу, язык программирования) от остальных компонентов, таким образом обеспечивая комбинирование и многократное использование компонентов для построения сложных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распределенных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программных комплексов, обеспечивая независимость от используемых платформ и инструментов разработки, способствуя масштабируемости и управляемости создаваемых систем.</a:t>
            </a:r>
          </a:p>
        </p:txBody>
      </p:sp>
    </p:spTree>
    <p:extLst>
      <p:ext uri="{BB962C8B-B14F-4D97-AF65-F5344CB8AC3E}">
        <p14:creationId xmlns:p14="http://schemas.microsoft.com/office/powerpoint/2010/main" val="2799861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Сервис-ориентированная архитектура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Сервис-ориентированная архитектура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Главное, что отличает СОА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это использование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независимых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сервисов, выполняющих точно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определенные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задачи, вызываемых стандартным способом через точно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определенные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интерфейсы, при отсутствии у сервисов знаний о вызывающих их приложениях, а у приложений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способов, которыми сервисы выполняют свою задачу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СОА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также может рассматриваться как стиль архитектуры информационных систем, который позволяет создавать приложения, построенные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путем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комбинации слабосвязанных взаимодействующих сервисов. Эти сервисы взаимодействуют на основе строго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определенного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платформенно- и языково-независимого интерфейса (например, WSDL). Определение интерфейса скрывает языковую реализацию сервиса.</a:t>
            </a:r>
          </a:p>
        </p:txBody>
      </p:sp>
    </p:spTree>
    <p:extLst>
      <p:ext uri="{BB962C8B-B14F-4D97-AF65-F5344CB8AC3E}">
        <p14:creationId xmlns:p14="http://schemas.microsoft.com/office/powerpoint/2010/main" val="314479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Сервис-ориентированная архитектура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Монолитная </a:t>
            </a: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архитектура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Чаще всего СОА противопоставляют монолитной архитектуре.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Монолитная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архитектура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это традиционная модель программного обеспечения, которая представляет собой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единый модуль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работающий автономно и независимо от других приложений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Монолитная архитектура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это отдельная большая вычислительная сеть с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единой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базой кода, в которой объединены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все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бизнес-задачи. Чтобы внести изменения в такое приложение, необходимо обновить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весь стек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через базу кода, а также создать и развернуть обновленную версию интерфейса, находящегося на стороне службы. Это ограничивает работу с обновлениями и требует много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271088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Сервис-ориентированная архитектура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Монолитная архитектура. 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 преимуществам монолитной архитектуры можно отнести следующие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особенности: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Простое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развертывание. Использование одного исполняемого файла или каталога упрощает развертывание.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Разработка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Приложение легче разрабатывать, когда оно создано с использованием одной базы кода.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Производительность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В централизованной базе кода 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репозитории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один интерфейс API часто может выполнять ту функцию, которую при работе с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сервисами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выполняют многочисленные API.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Упрощенное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тестирование. Монолитное приложение представляет собой единый централизованный модуль, поэтому сквозное тестирование можно проводить быстрее, чем при использовании распределенного приложения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Удобная отладка. Весь код находится в одном месте, благодаря чему становится легче выполнять запросы и находить проблемы.</a:t>
            </a:r>
          </a:p>
        </p:txBody>
      </p:sp>
    </p:spTree>
    <p:extLst>
      <p:ext uri="{BB962C8B-B14F-4D97-AF65-F5344CB8AC3E}">
        <p14:creationId xmlns:p14="http://schemas.microsoft.com/office/powerpoint/2010/main" val="3253479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Сервис-ориентированная архитектура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Монолитная архитектура. 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 недостаткам монолитной архитектуры можно отнести следующие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особенности: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Снижение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скорости разработки. Большое монолитное приложение усложняет и замедляет разработку.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Масштабируемость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Невозможно масштабировать отдельные компоненты.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Надежность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Ошибка в одном модуле может повлиять на доступность всего приложения.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Препятствия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для внедрения технологий. Любые изменения в инфраструктуре или языке разработки влияют на приложение целиком, что зачастую приводит к увеличению стоимости и временных затрат.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Недостаточная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гибкость. Возможности монолитных приложений ограничены используемыми технологиями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Развертывание. При внесении небольшого изменения потребуется повторное развертывание всего монолитного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225190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Сервис-ориентированная архитектура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Сервис-ориентированная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архитектура. 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 преимуществам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СОА можно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отнести следующие особенности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Гибкое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масштабирование. Когда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сервис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достигает предельной нагрузки, можно быстро выполнить развертывание новых экземпляров данной службы в сопутствующем кластере и снизить нагрузку.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Легкость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обслуживания и тестирования. Команды могут экспериментировать с новыми функциями и возвращаться к предыдущей версии, если что-то не работает. Это упрощает обновление кода и ускоряет выпуск новых функций на рынок. Кроме того, в отдельных службах легко находить и исправлять ошибки и баги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Независимое развертывание.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Сервисы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представляют собой отдельные модули, поэтому с ними можно легко и быстро выполнять независимое развертывание отдельных функций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353121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Сервис-ориентированная архитектура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Сервис-ориентированная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архитектура. 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 преимуществам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СОА можно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отнести следующие особенности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Гибкость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технологий. При использовании архитектуры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сервисов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команды могут выбирать инструменты с учетом своих предпочтений.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Высокая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надежность. Развертывая изменения для конкретной службы, можно не бояться, что приложение выйдет из строя целиком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166116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Сервис-ориентированная архитектура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Сервис-ориентированная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архитектура. 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 недостаткам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СОА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можно отнести следующие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особенности: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Разрастание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процесса разработки.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Сервисы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усложняют работу по сравнению с монолитной архитектурой, поскольку в различных местах возникает все больше служб, созданных несколькими командами. Если разрастание не контролируется должным образом, оно приводит к замедлению разработки и снижению операционной эффективности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Экспоненциальный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рост расходов на инфраструктуру. У каждого нового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сервиса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может быть своя стоимость комплекта тестов, инструкций по развертыванию, инфраструктуры хостинга, инструментов мониторинга и т. д.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Дополнительные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организационные расходы. Командам требуется дополнительный уровень коммуникации и сотрудничества, чтобы координировать работу над обновлениями и интерфейсами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8218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Сервис-ориентированная архитектура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Сервис-ориентированная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архитектура. 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 недостаткам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СОА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можно отнести следующие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особенности: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Проблемы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 отладке. У каждого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сервиса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свой набор журналов, что усложняет отладку. Кроме того, дополнительные затруднения могут возникать в том случае, когда один бизнес-процесс выполняется на нескольких машинах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Отсутствие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стандартизации. Без общей платформы может возникнуть ситуация, в которой расширяется список языков, стандартов ведения журналов и средств мониторинга.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Отсутствие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ясности в вопросах владения. По мере появления новых служб увеличивается и количество работающих над ними команд. Со временем становится сложнее определить, какие службы команда может использовать и к кому следует обращаться за поддержкой.</a:t>
            </a:r>
          </a:p>
        </p:txBody>
      </p:sp>
    </p:spTree>
    <p:extLst>
      <p:ext uri="{BB962C8B-B14F-4D97-AF65-F5344CB8AC3E}">
        <p14:creationId xmlns:p14="http://schemas.microsoft.com/office/powerpoint/2010/main" val="3528628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Сервис-ориентированная архитектура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Сервис-ориентированная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архитектура. 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 недостаткам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СОА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можно отнести следующие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особенности: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Сложности при внесении изменений в код. Так как сервисы ничего не знают о других сервисах и общаются через специальные запросы, то изменение параметров запросов одного сервиса влечет за собой сбой в работе других сервисов, и потребность в их переработке.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Сложности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рефакторинге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кода. В монолитной системе всегда можно понять, используется тот или иной класс/метод или его можно удалять. В СОА нужно просмотреть все сервисы, чтобы убедится, что тот или иной метод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сервиса или целый сервис уже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нигде не используется и его можно удалять.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Проблемы при тестировании. Требуется тестировать не только отдельные сервисы, но и взаимодействие между сервисами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84239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Масштабируемость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609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Масштабируемость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Масштабируемость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Масштабируемость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–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электронике и информатике означает способность системы, сети или процесса справляться с увеличением рабочей нагрузки (увеличивать свою производительность) при добавлении ресурсов (обычно аппаратных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).</a:t>
            </a:r>
            <a:endParaRPr lang="en-US" sz="2000" spc="-1" dirty="0" smtClean="0">
              <a:solidFill>
                <a:srgbClr val="262626"/>
              </a:solidFill>
              <a:latin typeface="Montserrat"/>
            </a:endParaRP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Различают вертикальное масштабирование и горизонтальное масштабирование.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93536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Масштабируемость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Вертикальное масштабирование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Вертикальное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масштабирование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увеличение производительности каждого компонента системы с целью повышения общей производительности. Масштабируемость в этом контексте означает возможность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заменять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в существующей вычислительной системе компоненты более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мощными и быстрыми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 мере роста требований и развития технологий. Это самый простой способ масштабирования, так как не требует никаких изменений в прикладных программах, работающих на таких системах.</a:t>
            </a:r>
          </a:p>
        </p:txBody>
      </p:sp>
    </p:spTree>
    <p:extLst>
      <p:ext uri="{BB962C8B-B14F-4D97-AF65-F5344CB8AC3E}">
        <p14:creationId xmlns:p14="http://schemas.microsoft.com/office/powerpoint/2010/main" val="1016144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Масштабируемость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Горизонтальное масштабирование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Горизонтальное масштабирование 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–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разбиение системы на более мелкие структурные компоненты и разнесение их по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отдельным физическим машинам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(или их группам), и (или)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увеличение количества серверов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параллельно выполняющих одну и ту же функцию. Масштабируемость в этом контексте означает возможность добавлять к системе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новые узлы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серверы для увеличения общей производительности. Этот способ масштабирования может требовать внесения изменений в программы, чтобы программы могли в полной мере пользоваться возросшим количеством ресурсов.</a:t>
            </a:r>
          </a:p>
        </p:txBody>
      </p:sp>
    </p:spTree>
    <p:extLst>
      <p:ext uri="{BB962C8B-B14F-4D97-AF65-F5344CB8AC3E}">
        <p14:creationId xmlns:p14="http://schemas.microsoft.com/office/powerpoint/2010/main" val="4201577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Масштабируемость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Горизонтальное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масштабирование. Монолит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956467" y="2063776"/>
            <a:ext cx="2999120" cy="1857080"/>
            <a:chOff x="677334" y="1640264"/>
            <a:chExt cx="8041064" cy="4138367"/>
          </a:xfrm>
        </p:grpSpPr>
        <p:sp>
          <p:nvSpPr>
            <p:cNvPr id="8" name="Rounded Rectangle 7"/>
            <p:cNvSpPr/>
            <p:nvPr/>
          </p:nvSpPr>
          <p:spPr>
            <a:xfrm>
              <a:off x="677334" y="1640264"/>
              <a:ext cx="8041064" cy="413836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244338" y="2083323"/>
              <a:ext cx="2469823" cy="1027522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951402" y="2093797"/>
              <a:ext cx="2469823" cy="1027522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150882" y="3422453"/>
              <a:ext cx="2469823" cy="1027522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434640" y="3422453"/>
              <a:ext cx="2469823" cy="1027522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Magnetic Disk 12"/>
            <p:cNvSpPr/>
            <p:nvPr/>
          </p:nvSpPr>
          <p:spPr>
            <a:xfrm>
              <a:off x="2856322" y="4777164"/>
              <a:ext cx="2780907" cy="768023"/>
            </a:xfrm>
            <a:prstGeom prst="flowChartMagneticDisk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96243" y="2056117"/>
            <a:ext cx="2999120" cy="1857080"/>
            <a:chOff x="677334" y="1640264"/>
            <a:chExt cx="8041064" cy="4138367"/>
          </a:xfrm>
        </p:grpSpPr>
        <p:sp>
          <p:nvSpPr>
            <p:cNvPr id="15" name="Rounded Rectangle 14"/>
            <p:cNvSpPr/>
            <p:nvPr/>
          </p:nvSpPr>
          <p:spPr>
            <a:xfrm>
              <a:off x="677334" y="1640264"/>
              <a:ext cx="8041064" cy="413836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244338" y="2083323"/>
              <a:ext cx="2469823" cy="1027522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951402" y="2093797"/>
              <a:ext cx="2469823" cy="1027522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150882" y="3422453"/>
              <a:ext cx="2469823" cy="1027522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434640" y="3422453"/>
              <a:ext cx="2469823" cy="1027522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lowchart: Magnetic Disk 19"/>
            <p:cNvSpPr/>
            <p:nvPr/>
          </p:nvSpPr>
          <p:spPr>
            <a:xfrm>
              <a:off x="2856322" y="4777164"/>
              <a:ext cx="2780907" cy="768023"/>
            </a:xfrm>
            <a:prstGeom prst="flowChartMagneticDisk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540009" y="4393796"/>
            <a:ext cx="2999120" cy="1857080"/>
            <a:chOff x="677334" y="1640264"/>
            <a:chExt cx="8041064" cy="4138367"/>
          </a:xfrm>
        </p:grpSpPr>
        <p:sp>
          <p:nvSpPr>
            <p:cNvPr id="22" name="Rounded Rectangle 21"/>
            <p:cNvSpPr/>
            <p:nvPr/>
          </p:nvSpPr>
          <p:spPr>
            <a:xfrm>
              <a:off x="677334" y="1640264"/>
              <a:ext cx="8041064" cy="413836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244338" y="2083323"/>
              <a:ext cx="2469823" cy="1027522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951402" y="2093797"/>
              <a:ext cx="2469823" cy="1027522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150882" y="3422453"/>
              <a:ext cx="2469823" cy="1027522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434640" y="3422453"/>
              <a:ext cx="2469823" cy="1027522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lowchart: Magnetic Disk 26"/>
            <p:cNvSpPr/>
            <p:nvPr/>
          </p:nvSpPr>
          <p:spPr>
            <a:xfrm>
              <a:off x="2856322" y="4777164"/>
              <a:ext cx="2780907" cy="768023"/>
            </a:xfrm>
            <a:prstGeom prst="flowChartMagneticDisk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367288" y="4397851"/>
            <a:ext cx="2999120" cy="1857080"/>
            <a:chOff x="677334" y="1640264"/>
            <a:chExt cx="8041064" cy="4138367"/>
          </a:xfrm>
        </p:grpSpPr>
        <p:sp>
          <p:nvSpPr>
            <p:cNvPr id="29" name="Rounded Rectangle 28"/>
            <p:cNvSpPr/>
            <p:nvPr/>
          </p:nvSpPr>
          <p:spPr>
            <a:xfrm>
              <a:off x="677334" y="1640264"/>
              <a:ext cx="8041064" cy="413836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244338" y="2083323"/>
              <a:ext cx="2469823" cy="1027522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3951402" y="2093797"/>
              <a:ext cx="2469823" cy="1027522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2150882" y="3422453"/>
              <a:ext cx="2469823" cy="1027522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434640" y="3422453"/>
              <a:ext cx="2469823" cy="1027522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lowchart: Magnetic Disk 33"/>
            <p:cNvSpPr/>
            <p:nvPr/>
          </p:nvSpPr>
          <p:spPr>
            <a:xfrm>
              <a:off x="2856322" y="4777164"/>
              <a:ext cx="2780907" cy="768023"/>
            </a:xfrm>
            <a:prstGeom prst="flowChartMagneticDisk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010790" y="1856062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>
                <a:latin typeface="Montserrat"/>
              </a:rPr>
              <a:t>10 000</a:t>
            </a:r>
            <a:endParaRPr lang="en-US" sz="2000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255660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Масштабируемость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Горизонтальное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масштабирование. Сервисы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364788" y="2687146"/>
            <a:ext cx="590987" cy="691589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44"/>
          <p:cNvSpPr/>
          <p:nvPr/>
        </p:nvSpPr>
        <p:spPr>
          <a:xfrm>
            <a:off x="3090874" y="3927240"/>
            <a:ext cx="864901" cy="691589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1067945" y="2687147"/>
            <a:ext cx="1720225" cy="1030452"/>
            <a:chOff x="1079458" y="2067742"/>
            <a:chExt cx="1720225" cy="1030452"/>
          </a:xfrm>
        </p:grpSpPr>
        <p:sp>
          <p:nvSpPr>
            <p:cNvPr id="42" name="Rounded Rectangle 41"/>
            <p:cNvSpPr/>
            <p:nvPr/>
          </p:nvSpPr>
          <p:spPr>
            <a:xfrm>
              <a:off x="1079458" y="2067742"/>
              <a:ext cx="1567008" cy="691589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lowchart: Magnetic Disk 45"/>
            <p:cNvSpPr/>
            <p:nvPr/>
          </p:nvSpPr>
          <p:spPr>
            <a:xfrm>
              <a:off x="1598660" y="2581265"/>
              <a:ext cx="1201023" cy="516929"/>
            </a:xfrm>
            <a:prstGeom prst="flowChartMagneticDisk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2446183" y="2346272"/>
            <a:ext cx="8875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Montserrat"/>
              </a:rPr>
              <a:t>1 000</a:t>
            </a:r>
            <a:endParaRPr lang="en-US" sz="2000" dirty="0">
              <a:latin typeface="Montserra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067945" y="3927241"/>
            <a:ext cx="1451969" cy="1005517"/>
            <a:chOff x="1377885" y="3586048"/>
            <a:chExt cx="1451969" cy="1005517"/>
          </a:xfrm>
        </p:grpSpPr>
        <p:sp>
          <p:nvSpPr>
            <p:cNvPr id="44" name="Rounded Rectangle 43"/>
            <p:cNvSpPr/>
            <p:nvPr/>
          </p:nvSpPr>
          <p:spPr>
            <a:xfrm>
              <a:off x="1377885" y="3586048"/>
              <a:ext cx="1135196" cy="691589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lowchart: Magnetic Disk 47"/>
            <p:cNvSpPr/>
            <p:nvPr/>
          </p:nvSpPr>
          <p:spPr>
            <a:xfrm>
              <a:off x="1628831" y="4074636"/>
              <a:ext cx="1201023" cy="516929"/>
            </a:xfrm>
            <a:prstGeom prst="flowChartMagneticDisk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6398736" y="2002489"/>
            <a:ext cx="1720225" cy="1030452"/>
            <a:chOff x="1079458" y="2067742"/>
            <a:chExt cx="1720225" cy="1030452"/>
          </a:xfrm>
        </p:grpSpPr>
        <p:sp>
          <p:nvSpPr>
            <p:cNvPr id="52" name="Rounded Rectangle 51"/>
            <p:cNvSpPr/>
            <p:nvPr/>
          </p:nvSpPr>
          <p:spPr>
            <a:xfrm>
              <a:off x="1079458" y="2067742"/>
              <a:ext cx="1567008" cy="691589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lowchart: Magnetic Disk 52"/>
            <p:cNvSpPr/>
            <p:nvPr/>
          </p:nvSpPr>
          <p:spPr>
            <a:xfrm>
              <a:off x="1598660" y="2581265"/>
              <a:ext cx="1201023" cy="516929"/>
            </a:xfrm>
            <a:prstGeom prst="flowChartMagneticDisk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6398736" y="3404425"/>
            <a:ext cx="1720225" cy="1030452"/>
            <a:chOff x="1079458" y="2067742"/>
            <a:chExt cx="1720225" cy="1030452"/>
          </a:xfrm>
        </p:grpSpPr>
        <p:sp>
          <p:nvSpPr>
            <p:cNvPr id="55" name="Rounded Rectangle 54"/>
            <p:cNvSpPr/>
            <p:nvPr/>
          </p:nvSpPr>
          <p:spPr>
            <a:xfrm>
              <a:off x="1079458" y="2067742"/>
              <a:ext cx="1567008" cy="691589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lowchart: Magnetic Disk 55"/>
            <p:cNvSpPr/>
            <p:nvPr/>
          </p:nvSpPr>
          <p:spPr>
            <a:xfrm>
              <a:off x="1598660" y="2581265"/>
              <a:ext cx="1201023" cy="516929"/>
            </a:xfrm>
            <a:prstGeom prst="flowChartMagneticDisk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398736" y="4811506"/>
            <a:ext cx="1720225" cy="1030452"/>
            <a:chOff x="1079458" y="2067742"/>
            <a:chExt cx="1720225" cy="1030452"/>
          </a:xfrm>
        </p:grpSpPr>
        <p:sp>
          <p:nvSpPr>
            <p:cNvPr id="58" name="Rounded Rectangle 57"/>
            <p:cNvSpPr/>
            <p:nvPr/>
          </p:nvSpPr>
          <p:spPr>
            <a:xfrm>
              <a:off x="1079458" y="2067742"/>
              <a:ext cx="1567008" cy="691589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lowchart: Magnetic Disk 58"/>
            <p:cNvSpPr/>
            <p:nvPr/>
          </p:nvSpPr>
          <p:spPr>
            <a:xfrm>
              <a:off x="1598660" y="2581265"/>
              <a:ext cx="1201023" cy="516929"/>
            </a:xfrm>
            <a:prstGeom prst="flowChartMagneticDisk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1235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Масштабируемость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Горизонтальное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масштабирование. Варианты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Горизонтальное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масштабирование серверов осуществляется на двух уровнях: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Разбиение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системы на более мелкие структурные компоненты по функциям и разнесение их по отдельным серверам.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Масштабирование в рамках функции: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увеличение количества серверов, параллельно выполняющих одну и ту же функцию;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использование современных технологий. Например, при масштабировании сервера баз данных (БД) используется </a:t>
            </a:r>
            <a:r>
              <a:rPr lang="ru-RU" sz="2000" i="1" spc="-1" dirty="0">
                <a:solidFill>
                  <a:srgbClr val="262626"/>
                </a:solidFill>
                <a:latin typeface="Montserrat"/>
              </a:rPr>
              <a:t>репликация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</a:t>
            </a:r>
            <a:r>
              <a:rPr lang="ru-RU" sz="2000" i="1" spc="-1" dirty="0" err="1">
                <a:solidFill>
                  <a:srgbClr val="262626"/>
                </a:solidFill>
                <a:latin typeface="Montserrat"/>
              </a:rPr>
              <a:t>партицирование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</a:t>
            </a:r>
            <a:r>
              <a:rPr lang="ru-RU" sz="2000" i="1" spc="-1" dirty="0" err="1">
                <a:solidFill>
                  <a:srgbClr val="262626"/>
                </a:solidFill>
                <a:latin typeface="Montserrat"/>
              </a:rPr>
              <a:t>шардирование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168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Масштабируемость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Когда выполнять масштабирование?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Когда следует задуматься о масштабировании? Рассмотрим, какие этапы должны быть пройдены, прежде чем наступает очередь этого процесса.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Развертывание приложения на сервере. Проведение тестов для определения максимальной загрузки/пропускной способности.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Оптимизация приложения. Работа с БД, кеширование и т.п.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Мониторинг загруженности, определение потребностей (нехватка, оперативной или постоянной памяти, больше число запросов и т.п.).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Масштабирование.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73053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Масштабируемость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Горизонтальное </a:t>
            </a:r>
            <a:r>
              <a:rPr lang="ru-RU" sz="2000" spc="-1" dirty="0" smtClean="0">
                <a:solidFill>
                  <a:srgbClr val="004892"/>
                </a:solidFill>
                <a:latin typeface="Montserrat Bold"/>
              </a:rPr>
              <a:t>масштабирование. Типичная схема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1026" name="Picture 2" descr="https://habrastorage.org/getpro/habr/post_images/063/882/032/063882032865cc5b186ab9108f518c1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262" y="2217432"/>
            <a:ext cx="5572125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34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Масштабируемость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 Bold"/>
              </a:rPr>
              <a:t>Типичная схема</a:t>
            </a: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Задача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балансировщика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–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распределить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запросы на отдельные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сервера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принять от них ответы и отдать клиенту.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Идея в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том, что 3 сервера могут обработать (в идеале) в 3 раза больше запросов, исключая какие-то накладные расходы на сеть и на саму работу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балансировщика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Также распределение позволяет повысить надежность. Если один сервер «отваливается», то есть еще 2, которые могут обработать запрос.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Однако подобная схема вводит дополнительную сложность: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необходимо отслеживать состояние серверов, что они отвечают на запросы;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требуется решить вопрос синхронизации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619502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smtClean="0">
                <a:solidFill>
                  <a:srgbClr val="004892"/>
                </a:solidFill>
                <a:latin typeface="Montserrat"/>
              </a:rPr>
              <a:t>Очередь сообщений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091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Очередь сообщений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Очередь сообщений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Очередь сообщений улучшает масштабируемость и усиливает изолированность приложений.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Приложениям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не нужно знать, где находятся другие приложения, сколько их и даже что они собой представляют. Однако все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они должны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использовать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один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язык обмена сообщениями, т. е. заранее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определенный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текстовый формат представления данных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Очередь сообщений использует в качестве компонента инфраструктуры программный брокер сообщений 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RabbitMQ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Beanstalkd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Kafka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т. д.). Для реализации связи между приложениями можно по-разному настроить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очередь.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4581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Очередь сообщений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Очередь сообщений. Запрос/Ответ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Клиент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шлет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 очередь сообщение, включая ссылку на «разговор» («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conversation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»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reference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). Сообщение приходит на специальный узел, который отвечает отправителю другим сообщением, где содержится ссылка на тот же разговор, так что получатель знает, на какой разговор ссылается сообщение, и может продолжать действовать. Это очень полезно для бизнес-процессов средней и большой продолжительности (цепочек событий,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sagas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70058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Очередь сообщений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Очередь сообщений. Публикация/Подписка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спискам. Очередь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поддерживает списки опубликованных тем подписок 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topics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 и их подписчиков. Когда очередь получает сообщение для какой-то темы, то помещает его в соответствующий список. Сообщение сопоставляется с темой по типу сообщения или по заранее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определенному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набору критериев, включая и содержимое сообщения.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На основе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вещания. Когда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очередь получает сообщение, она транслирует его всем узлам, прослушивающим очередь. Узлы должны сами фильтровать данные и обрабатывать только интересующие сообщения.</a:t>
            </a:r>
          </a:p>
        </p:txBody>
      </p:sp>
    </p:spTree>
    <p:extLst>
      <p:ext uri="{BB962C8B-B14F-4D97-AF65-F5344CB8AC3E}">
        <p14:creationId xmlns:p14="http://schemas.microsoft.com/office/powerpoint/2010/main" val="163363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Очередь сообщений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Очередь сообщений. </a:t>
            </a: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Взаимодействие с клиентом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Существует 2 варианта взаимодействия (сценария) клиента (сервиса) с очередью сообщения: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pull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-сценарии клиент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опрашивает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очередь с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определенной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частотой. Клиент управляет своей нагрузкой, но при этом может возникнуть задержка: сообщение уже лежит в очереди, а клиент его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еще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не обрабатывает, потому что не пришло время следующего опроса очереди.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push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-сценарии очередь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сразу же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отдает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клиентам сообщения по мере поступления. Задержки нет, но клиенты не управляют своей нагрузкой.</a:t>
            </a:r>
          </a:p>
        </p:txBody>
      </p:sp>
    </p:spTree>
    <p:extLst>
      <p:ext uri="{BB962C8B-B14F-4D97-AF65-F5344CB8AC3E}">
        <p14:creationId xmlns:p14="http://schemas.microsoft.com/office/powerpoint/2010/main" val="3622360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Очередь сообщений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Очередь сообщений. </a:t>
            </a: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Достоинства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Независимость набора технологий,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развертывания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 масштабируемости сервисов.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Стандартный, простой 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над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е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жный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канал связи (передача текста по HTTP через порт 80).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Оптимизированный обмен сообщениями.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Стабильная спецификация обмена сообщениями.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Изолированность контекстов домена 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Domain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contexts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Простота подключения и отключения сервисов.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Асинхронность обмена сообщениями помогает управлять нагрузкой на систему.</a:t>
            </a:r>
          </a:p>
        </p:txBody>
      </p:sp>
    </p:spTree>
    <p:extLst>
      <p:ext uri="{BB962C8B-B14F-4D97-AF65-F5344CB8AC3E}">
        <p14:creationId xmlns:p14="http://schemas.microsoft.com/office/powerpoint/2010/main" val="2144303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Очередь сообщений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Очередь сообщений. </a:t>
            </a: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Разные веб-сервисы тяжело интегрировать из-за различий в языках передачи сообщений. Например, два веб-сервиса, использующих разные JSON-представления одной и той же концепции.</a:t>
            </a:r>
          </a:p>
        </p:txBody>
      </p:sp>
    </p:spTree>
    <p:extLst>
      <p:ext uri="{BB962C8B-B14F-4D97-AF65-F5344CB8AC3E}">
        <p14:creationId xmlns:p14="http://schemas.microsoft.com/office/powerpoint/2010/main" val="26078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 err="1">
                <a:solidFill>
                  <a:srgbClr val="004892"/>
                </a:solidFill>
                <a:latin typeface="Montserrat"/>
              </a:rPr>
              <a:t>RabbitMQ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5293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 err="1">
                <a:solidFill>
                  <a:srgbClr val="004892"/>
                </a:solidFill>
                <a:latin typeface="Montserrat"/>
              </a:rPr>
              <a:t>RabbitMQ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spc="-1" dirty="0" err="1">
                <a:solidFill>
                  <a:srgbClr val="004892"/>
                </a:solidFill>
                <a:latin typeface="Montserrat"/>
              </a:rPr>
              <a:t>RabbitMQ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RabbitMQ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– это брокер сообщений с открытым исходным кодом. Он маршрутизирует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собщения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по всем базовым принципам протокола AMQP описанным в спецификации. Отправитель передает сообщение брокеру а тот доставляет его получателю.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RabbitMQ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реализует и дополняет протокол AMQP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446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 err="1">
                <a:solidFill>
                  <a:srgbClr val="004892"/>
                </a:solidFill>
                <a:latin typeface="Montserrat"/>
              </a:rPr>
              <a:t>RabbitMQ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AMQP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AMQP 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Advanced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Message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Queuing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Protocol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открытый протокол для передачи сообщений между компонентами системы. Основная идея состоит в том, что отдельные подсистемы (или независимые приложения) могут обмениваться произвольным образом сообщениями через AMQP-брокер, который осуществляет маршрутизацию, возможно гарантирует доставку, распределение потоков данных, подписку на нужные типы сообщений.</a:t>
            </a:r>
          </a:p>
        </p:txBody>
      </p:sp>
    </p:spTree>
    <p:extLst>
      <p:ext uri="{BB962C8B-B14F-4D97-AF65-F5344CB8AC3E}">
        <p14:creationId xmlns:p14="http://schemas.microsoft.com/office/powerpoint/2010/main" val="525400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 err="1">
                <a:solidFill>
                  <a:srgbClr val="004892"/>
                </a:solidFill>
                <a:latin typeface="Montserrat"/>
              </a:rPr>
              <a:t>RabbitMQ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AMQP</a:t>
            </a: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. Понятия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Протокол AMQP вводит три понятия: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exchange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обменник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или точка обмена)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нее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отправляются сообщения.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Обменник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распределяет сообщение в одну или несколько очередей. Он маршрутизирует сообщения в очередь на основе созданных связей 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binding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 между ним 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очередью.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queue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(очередь)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структура данных на диске или в оперативной памяти, которая хранит ссылки на сообщения и отдает копии сообщений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consumers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(потребителям). Одна очередь может использоваться несколькими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потребителями.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binding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(привязка)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правило, которое сообщает точке обмена в какую из очередей эти сообщения должны попадать.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Обменник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очередь могут быть связаны несколькими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привязками.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43136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 err="1">
                <a:solidFill>
                  <a:srgbClr val="004892"/>
                </a:solidFill>
                <a:latin typeface="Montserrat"/>
              </a:rPr>
              <a:t>RabbitMQ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spc="-1" dirty="0" err="1">
                <a:solidFill>
                  <a:srgbClr val="004892"/>
                </a:solidFill>
                <a:latin typeface="Montserrat"/>
              </a:rPr>
              <a:t>RabbitMQ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Основная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идея модели обмена сообщениями в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RabbitMQ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заключается в том, что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producer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(издатель) не отправляет сообщения непосредственно в очередь. На самом деле и довольно часто издатель даже не знает, будет ли сообщение вообще доставлено в какую-либо очередь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Вместо этого издатель может отправлять сообщения только на </a:t>
            </a:r>
            <a:r>
              <a:rPr lang="ru-RU" sz="2000" i="1" spc="-1" dirty="0">
                <a:solidFill>
                  <a:srgbClr val="262626"/>
                </a:solidFill>
                <a:latin typeface="Montserrat"/>
              </a:rPr>
              <a:t>обмен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С одной стороны, </a:t>
            </a:r>
            <a:r>
              <a:rPr lang="ru-RU" sz="2000" i="1" spc="-1" dirty="0">
                <a:solidFill>
                  <a:srgbClr val="262626"/>
                </a:solidFill>
                <a:latin typeface="Montserrat"/>
              </a:rPr>
              <a:t>обмен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получает сообщения от издателей, а с другой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отправляет их в очереди. </a:t>
            </a:r>
            <a:r>
              <a:rPr lang="ru-RU" sz="2000" i="1" spc="-1" dirty="0">
                <a:solidFill>
                  <a:srgbClr val="262626"/>
                </a:solidFill>
                <a:latin typeface="Montserrat"/>
              </a:rPr>
              <a:t>Обмен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должен точно знать, что делать с полученным сообщением. Должно ли оно быть добавлено в определенную очередь? Должно ли оно быть добавлено в несколько очередей? Или сообщение нужно игнорировать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858370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 err="1">
                <a:solidFill>
                  <a:srgbClr val="004892"/>
                </a:solidFill>
                <a:latin typeface="Montserrat"/>
              </a:rPr>
              <a:t>RabbitMQ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spc="-1" dirty="0" err="1">
                <a:solidFill>
                  <a:srgbClr val="004892"/>
                </a:solidFill>
                <a:latin typeface="Montserrat"/>
              </a:rPr>
              <a:t>RabbitMQ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050" name="Picture 2" descr="Image from: http://bit.ly/2U3PyJz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425" y="1530000"/>
            <a:ext cx="7609718" cy="4644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39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 err="1">
                <a:solidFill>
                  <a:srgbClr val="004892"/>
                </a:solidFill>
                <a:latin typeface="Montserrat"/>
              </a:rPr>
              <a:t>RabbitMQ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spc="-1" dirty="0" err="1" smtClean="0">
                <a:solidFill>
                  <a:srgbClr val="004892"/>
                </a:solidFill>
                <a:latin typeface="Montserrat"/>
              </a:rPr>
              <a:t>RabbitMQ</a:t>
            </a: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. Порядок работы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Кратко работу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RabbitMQ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можно описать следующим образом: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Издатель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отправляет сообщение определенному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обменнику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Обменник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получив сообщение, маршрутизирует его в одну или несколько очередей в соответствии с правилами привязки между ним 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очередью.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Очередь хранит ссылку на это сообщение. Само сообщение хранится в оперативной памяти или на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диске.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Как только потребитель готов получить сообщение из очереди, сервер создает копию сообщения по ссылке 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отправляет.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Потребитель получает сообщение и отправляет брокеру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подтверждение.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Брокер, получив подтверждение, удаляет копию сообщения из очереди. Затем удаляет из оперативной памяти и с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диска.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833122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 err="1">
                <a:solidFill>
                  <a:srgbClr val="004892"/>
                </a:solidFill>
                <a:latin typeface="Montserrat"/>
              </a:rPr>
              <a:t>RabbitMQ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spc="-1" dirty="0" err="1" smtClean="0">
                <a:solidFill>
                  <a:srgbClr val="004892"/>
                </a:solidFill>
                <a:latin typeface="Montserrat"/>
              </a:rPr>
              <a:t>RabbitMQ</a:t>
            </a: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. Пример. Отправитель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532" y="2387506"/>
            <a:ext cx="4016085" cy="12735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2170" y="1188033"/>
            <a:ext cx="5970613" cy="52705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1435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 err="1">
                <a:solidFill>
                  <a:srgbClr val="004892"/>
                </a:solidFill>
                <a:latin typeface="Montserrat"/>
              </a:rPr>
              <a:t>RabbitMQ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spc="-1" dirty="0" err="1" smtClean="0">
                <a:solidFill>
                  <a:srgbClr val="004892"/>
                </a:solidFill>
                <a:latin typeface="Montserrat"/>
              </a:rPr>
              <a:t>RabbitMQ</a:t>
            </a: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. Пример. Получатель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3660" y="1112462"/>
            <a:ext cx="6157885" cy="54215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71897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Сервисная шина предприятия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751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Сервисная шина предприятия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Сервисная шина предприятия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Сервисная шина предприятия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(ESB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связующее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программное обеспечение, обеспечивающее централизованный и унифицированный событийно-ориентированный обмен сообщениями между различными информационными системами на принципах сервис-ориентированной архитектуры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Основной принцип сервисной шины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концентрация обмена сообщениями между различными системами через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единую точку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в которой, при необходимости, обеспечивается </a:t>
            </a:r>
            <a:r>
              <a:rPr lang="ru-RU" sz="2000" i="1" spc="-1" dirty="0">
                <a:solidFill>
                  <a:srgbClr val="262626"/>
                </a:solidFill>
                <a:latin typeface="Montserrat"/>
              </a:rPr>
              <a:t>транзакционный контроль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</a:t>
            </a:r>
            <a:r>
              <a:rPr lang="ru-RU" sz="2000" i="1" spc="-1" dirty="0">
                <a:solidFill>
                  <a:srgbClr val="262626"/>
                </a:solidFill>
                <a:latin typeface="Montserrat"/>
              </a:rPr>
              <a:t>преобразование данных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</a:t>
            </a:r>
            <a:r>
              <a:rPr lang="ru-RU" sz="2000" i="1" spc="-1" dirty="0">
                <a:solidFill>
                  <a:srgbClr val="262626"/>
                </a:solidFill>
                <a:latin typeface="Montserrat"/>
              </a:rPr>
              <a:t>сохранность сообщений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Все настройки обработки и передачи сообщений предполагаются также сконцентрированными в единой точке, и формируются в терминах служб, таким образом, при замене какой-либо информационной системы,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подключенной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 шине, нет необходимости в перенастройке остальных систем.</a:t>
            </a:r>
            <a:endParaRPr lang="ru-RU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65445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Сервисная шина предприятия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Сервисная шина предприятия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ESB возникла во времена, когда в компаниях были отдельные приложения. Например, одно для работы с финансами, другое для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учета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персонала, третье для управления складом, и т. д., и их нужно было как-то связывать друг с другом, как-то интегрировать. Но все эти приложения создавались без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учета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интеграции, не было стандартного языка для взаимодействия приложений (как и сегодня). Поэтому разработчики приложений предусматривали конечные точки для отправки 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приема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данных в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определенном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формате. Компании-клиенты потом интегрировали приложения, налаживая между ними каналы связи и преобразуя сообщения с одного языка приложения в другой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ESB стал следующей ступенью в естественной эволюции простой очереди сообщений.</a:t>
            </a:r>
            <a:endParaRPr lang="ru-RU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0022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Сервисная шина предприятия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Сервисная шина предприятия. Главные обязанности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Главные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обязанностям ESB относят: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Отслеживание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маршрутизирование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обмена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сообщениями между сервисами.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Преобразование сообщений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между общающимися сервисными компонентами.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Управление развертыванием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версионированием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сервисов.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Управление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использованием избыточных сервисов.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Предоставление стандартных сервисов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обработки событий, преобразования и сопоставления данных, сервисов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очередей сообщений и событий, сервисов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обеспечения безопасности или обработки исключений, сервисов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преобразования протоколов и обеспечения необходимого качества связи.</a:t>
            </a:r>
          </a:p>
        </p:txBody>
      </p:sp>
    </p:spTree>
    <p:extLst>
      <p:ext uri="{BB962C8B-B14F-4D97-AF65-F5344CB8AC3E}">
        <p14:creationId xmlns:p14="http://schemas.microsoft.com/office/powerpoint/2010/main" val="4127053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Сервисная шина предприятия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Сервисная шина предприятия. </a:t>
            </a: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Состав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ESB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включает в себя несколько компонентов: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б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рокер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сообщений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обеспечивает управление очередностью сообщений и выступает посредником между приложением-источником и приложением-приемником;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омплект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адаптеров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программных компонентов, которые служат для связи приложений с ESB и преобразуют один интерфейс в другой. Чем больше различных адаптеров заложено в интеграционную шину, тем шире ее функционал;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микросверсивная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архитектура – современные ESB-решения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реализованы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на принципах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микросервисной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архитектуры. В соответствии с ними весь функционал системы распределяется между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микросервисами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каждый из которых может работать независимо от других;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средства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для контроля и мониторинга.</a:t>
            </a:r>
          </a:p>
        </p:txBody>
      </p:sp>
    </p:spTree>
    <p:extLst>
      <p:ext uri="{BB962C8B-B14F-4D97-AF65-F5344CB8AC3E}">
        <p14:creationId xmlns:p14="http://schemas.microsoft.com/office/powerpoint/2010/main" val="2704735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Сервисная шина предприятия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Сервисная шина предприятия. </a:t>
            </a: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Принцип работы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 этой архитектуре используется модульное приложение 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composite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application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), обычно ориентированное на пользователей, которое общается с веб-сервисами для выполнения каких-то операций. В свою очередь, эти веб-сервисы тоже могут общаться с другими веб-сервисами, впоследствии возвращая приложению какие-то данные. Но ни приложение, ни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бэкенд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-сервисы ничего друг о друге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не знают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включая расположение и протоколы связи. Они знают лишь, с каким сервисом хотят связаться и где находится сервисная шина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Клиент (сервис или модульное приложение) отправляет запрос на сервисную шину, которая преобразует сообщение в формат, поддерживаемый в точке назначения, и перенаправляет туда запрос.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Все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взаимодействие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идет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через сервисную шину, так что если она падает, то с ней падают и все остальные системы. То есть ESB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ключевой посредник, очень сложный компонент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191719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Сервисная шина предприятия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Сервисная шина предприятия. </a:t>
            </a: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Достоинства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Независимость набора технологий,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развертывания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 масштабируемости сервисов.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Стандартный, простой 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надежный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канал связи (передача текста по HTTP через порт 80).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Оптимизированный обмен сообщениями.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Стабильная спецификация обмена сообщениями.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Изолированность контекстов домена 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Domain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contexts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Простота подключения и отключения сервисов.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Асинхронность обмена сообщениями помогает управлять нагрузкой на систему.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Единая точка для управления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версионированием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преобразованием.</a:t>
            </a:r>
          </a:p>
        </p:txBody>
      </p:sp>
    </p:spTree>
    <p:extLst>
      <p:ext uri="{BB962C8B-B14F-4D97-AF65-F5344CB8AC3E}">
        <p14:creationId xmlns:p14="http://schemas.microsoft.com/office/powerpoint/2010/main" val="320109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4892"/>
                </a:solidFill>
                <a:latin typeface="Montserrat"/>
              </a:rPr>
              <a:t>Сервисная шина предприятия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Сервисная шина предприятия. </a:t>
            </a: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Ниже скорость связи, особенно между уже совместимыми сервисами.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Централизованная логика: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Единая точка отказа, способная обрушить системы связи всей компании.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Большая сложность конфигурирования и поддержки.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Со временем можно прийти к хранению в ESB бизнес-правил.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Шина так сложна, что для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ее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управления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потребуется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целая команда.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Высокая зависимость сервисов от ESB.</a:t>
            </a:r>
          </a:p>
        </p:txBody>
      </p:sp>
    </p:spTree>
    <p:extLst>
      <p:ext uri="{BB962C8B-B14F-4D97-AF65-F5344CB8AC3E}">
        <p14:creationId xmlns:p14="http://schemas.microsoft.com/office/powerpoint/2010/main" val="2978770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13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Микросервисная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архитектура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вариант сервис-ориентированной архитектуры программного обеспечения, направленный на взаимодействие насколько это возможно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небольших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слабо связанных и легко изменяемых модулей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микросервисов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Микросервисная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архитектура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представляет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собой метод организации архитектуры, основанный на ряде независимо развертываемых служб. У этих служб есть собственная бизнес-логика и база данных с конкретной целью. Обновление, тестирование, развертывание и масштабирование выполняются внутри каждой службы.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разбивают крупные задачи, характерные для конкретного бизнеса, на несколько независимых баз кода.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не снижают сложность, но они делают любую сложность видимой и более управляемой, разделяя задачи на более мелкие процессы, которые функционируют независимо друг от друга и вносят вклад в общее целое.</a:t>
            </a:r>
            <a:endParaRPr lang="ru-RU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106602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Особенности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микросервсов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небольшие размеры;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независимость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от других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микросервисов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построение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вокруг бизнес-потребности и использование ограниченного контекста (</a:t>
            </a:r>
            <a:r>
              <a:rPr lang="ru-RU" sz="2000" i="1" spc="-1" dirty="0" err="1">
                <a:solidFill>
                  <a:srgbClr val="262626"/>
                </a:solidFill>
                <a:latin typeface="Montserrat"/>
              </a:rPr>
              <a:t>Bounded</a:t>
            </a:r>
            <a:r>
              <a:rPr lang="ru-RU" sz="2000" i="1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i="1" spc="-1" dirty="0" err="1">
                <a:solidFill>
                  <a:srgbClr val="262626"/>
                </a:solidFill>
                <a:latin typeface="Montserrat"/>
              </a:rPr>
              <a:t>Context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);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межсервисное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взаимодействие через сетевые протоколы на основе паттерна </a:t>
            </a:r>
            <a:r>
              <a:rPr lang="ru-RU" sz="2000" i="1" spc="-1" dirty="0" err="1">
                <a:solidFill>
                  <a:srgbClr val="262626"/>
                </a:solidFill>
                <a:latin typeface="Montserrat"/>
              </a:rPr>
              <a:t>Smart</a:t>
            </a:r>
            <a:r>
              <a:rPr lang="ru-RU" sz="2000" i="1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i="1" spc="-1" dirty="0" err="1">
                <a:solidFill>
                  <a:srgbClr val="262626"/>
                </a:solidFill>
                <a:latin typeface="Montserrat"/>
              </a:rPr>
              <a:t>endpoints</a:t>
            </a:r>
            <a:r>
              <a:rPr lang="ru-RU" sz="2000" i="1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i="1" spc="-1" dirty="0" err="1">
                <a:solidFill>
                  <a:srgbClr val="262626"/>
                </a:solidFill>
                <a:latin typeface="Montserrat"/>
              </a:rPr>
              <a:t>and</a:t>
            </a:r>
            <a:r>
              <a:rPr lang="ru-RU" sz="2000" i="1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i="1" spc="-1" dirty="0" err="1">
                <a:solidFill>
                  <a:srgbClr val="262626"/>
                </a:solidFill>
                <a:latin typeface="Montserrat"/>
              </a:rPr>
              <a:t>dumb</a:t>
            </a:r>
            <a:r>
              <a:rPr lang="ru-RU" sz="2000" i="1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i="1" spc="-1" dirty="0" err="1" smtClean="0">
                <a:solidFill>
                  <a:srgbClr val="262626"/>
                </a:solidFill>
                <a:latin typeface="Montserrat"/>
              </a:rPr>
              <a:t>pipes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;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использование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подхода </a:t>
            </a:r>
            <a:r>
              <a:rPr lang="ru-RU" sz="2000" i="1" spc="-1" dirty="0" err="1">
                <a:solidFill>
                  <a:srgbClr val="262626"/>
                </a:solidFill>
                <a:latin typeface="Montserrat"/>
              </a:rPr>
              <a:t>Design</a:t>
            </a:r>
            <a:r>
              <a:rPr lang="ru-RU" sz="2000" i="1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i="1" spc="-1" dirty="0" err="1">
                <a:solidFill>
                  <a:srgbClr val="262626"/>
                </a:solidFill>
                <a:latin typeface="Montserrat"/>
              </a:rPr>
              <a:t>for</a:t>
            </a:r>
            <a:r>
              <a:rPr lang="ru-RU" sz="2000" i="1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i="1" spc="-1" dirty="0" err="1">
                <a:solidFill>
                  <a:srgbClr val="262626"/>
                </a:solidFill>
                <a:latin typeface="Montserrat"/>
              </a:rPr>
              <a:t>failure</a:t>
            </a:r>
            <a:r>
              <a:rPr lang="ru-RU" sz="2000" i="1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проектировании;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ецентрализация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данных;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процессы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разработки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микросервиса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его поддержки требуют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автоматизации;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итерационное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развитие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микросервиса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ru-RU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195155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err="1" smtClean="0">
                <a:solidFill>
                  <a:srgbClr val="004892"/>
                </a:solidFill>
                <a:latin typeface="Montserrat"/>
              </a:rPr>
              <a:t>Микросервисы</a:t>
            </a: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. Небольшие размеры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Один сервис может развивать одна команда не более чем из дюжины человек.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Команда из полудюжины человек может развивать полдюжины сервисов.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Контекст (не только бизнеса, но и разработки) одного сервиса помещается в голове одного человека.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Один сервис может быть полностью переписан одной командой за одну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Agile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-итерацию.</a:t>
            </a:r>
          </a:p>
        </p:txBody>
      </p:sp>
    </p:spTree>
    <p:extLst>
      <p:ext uri="{BB962C8B-B14F-4D97-AF65-F5344CB8AC3E}">
        <p14:creationId xmlns:p14="http://schemas.microsoft.com/office/powerpoint/2010/main" val="297909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err="1" smtClean="0">
                <a:solidFill>
                  <a:srgbClr val="004892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. </a:t>
            </a: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Независимость от других </a:t>
            </a:r>
            <a:r>
              <a:rPr lang="ru-RU" sz="2000" spc="-1" dirty="0" err="1" smtClean="0">
                <a:solidFill>
                  <a:srgbClr val="004892"/>
                </a:solidFill>
                <a:latin typeface="Montserrat"/>
              </a:rPr>
              <a:t>микросервисов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 построении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микросервисов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придерживаются принципов двух паттернов: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High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Cohesion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классы должны содержать связанную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бизнес-логику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Паттерн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Low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Coupling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: необходимо распределить ответственности между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классами (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микросервисами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)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так, чтобы обеспечить минимальную связанность. Чем меньше связей между классами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тем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лучше.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Микросервис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должен по минимуму общаться с другими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микросервисами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, но при этом решать сугубо одну задачу бизнес-логики.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571912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err="1" smtClean="0">
                <a:solidFill>
                  <a:srgbClr val="004892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. </a:t>
            </a: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Бизнес-потребность и ограниченный контекст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Основной принцип определения зоны ответственности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микросервиса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сформировать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ее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вокруг некоторой бизнес-потребности. И чем она компактнее, чем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формализованней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ее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взаимоотношения с другими областями, тем проще создать новый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микросервис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Ограниченный контекст должен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быть независимым доменом, если система правильно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разработана. В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действительности, когда все не выполняется правильно,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ограниченный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контекст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больше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чем домен. На крупных предприятиях некоторые разработчики создают объекты (модели), которые пытаются захватить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все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поведение, связанное с каким-то термином. Например, </a:t>
            </a:r>
            <a:r>
              <a:rPr lang="ru-RU" sz="2000" i="1" spc="-1" dirty="0" smtClean="0">
                <a:solidFill>
                  <a:srgbClr val="262626"/>
                </a:solidFill>
                <a:latin typeface="Montserrat"/>
              </a:rPr>
              <a:t>продукт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 магазине. Этот термин очень широк. </a:t>
            </a:r>
            <a:r>
              <a:rPr lang="ru-RU" sz="2000" i="1" spc="-1" dirty="0" smtClean="0">
                <a:solidFill>
                  <a:srgbClr val="262626"/>
                </a:solidFill>
                <a:latin typeface="Montserrat"/>
              </a:rPr>
              <a:t>Продукт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из интернет-магазина и </a:t>
            </a:r>
            <a:r>
              <a:rPr lang="ru-RU" sz="2000" i="1" spc="-1" dirty="0">
                <a:solidFill>
                  <a:srgbClr val="262626"/>
                </a:solidFill>
                <a:latin typeface="Montserrat"/>
              </a:rPr>
              <a:t>Продукт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из системы инвентаризации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это не одно и то же, хотя они могут казаться таким. В этом случае </a:t>
            </a:r>
            <a:r>
              <a:rPr lang="ru-RU" sz="2000" i="1" spc="-1" dirty="0">
                <a:solidFill>
                  <a:srgbClr val="262626"/>
                </a:solidFill>
                <a:latin typeface="Montserrat"/>
              </a:rPr>
              <a:t>Продукт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из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интернет-магазина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должен быть ограниченным контекстом, а </a:t>
            </a:r>
            <a:r>
              <a:rPr lang="ru-RU" sz="2000" i="1" spc="-1" dirty="0">
                <a:solidFill>
                  <a:srgbClr val="262626"/>
                </a:solidFill>
                <a:latin typeface="Montserrat"/>
              </a:rPr>
              <a:t>Продукт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из системы инвентаризации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должен быть другим.</a:t>
            </a:r>
          </a:p>
        </p:txBody>
      </p:sp>
    </p:spTree>
    <p:extLst>
      <p:ext uri="{BB962C8B-B14F-4D97-AF65-F5344CB8AC3E}">
        <p14:creationId xmlns:p14="http://schemas.microsoft.com/office/powerpoint/2010/main" val="4034162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err="1" smtClean="0">
                <a:solidFill>
                  <a:srgbClr val="004892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. </a:t>
            </a: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Smart endpoints and dumb pipes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 мере того как инженерные организации переходят от создания монолитной архитектуры к построению архитектуры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микросервисов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они часто сталкиваются с проблемой понимания того, как обеспечить связь между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микросервисами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монолите различные компоненты находятся в одном процессе, на расстоянии одного вызова функции. Но в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микросервисной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среде компоненты разделены жесткими границами. На самом деле, настоящая среда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микросервисов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часто имеет различные компоненты, распределенные по кластеру экземпляров.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даже не обязательно размещаются на одном компьютере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Лучший способ решить эту проблему взаимодействия между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микросервисами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следовать принципу «умные конечные точки и тупые каналы»</a:t>
            </a:r>
          </a:p>
        </p:txBody>
      </p:sp>
    </p:spTree>
    <p:extLst>
      <p:ext uri="{BB962C8B-B14F-4D97-AF65-F5344CB8AC3E}">
        <p14:creationId xmlns:p14="http://schemas.microsoft.com/office/powerpoint/2010/main" val="3830024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err="1" smtClean="0">
                <a:solidFill>
                  <a:srgbClr val="004892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. </a:t>
            </a: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Smart endpoints and dumb pipes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Существует две основные формы связи между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микросервисами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которые необходимо решить для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Запрос / ответ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одна служба явно вызывает другую службу, отправляя запрос на сохранение в ней данных или извлечение из нее данных. Например, когда новый пользователь создает учетную запись, пользовательская служба делает запрос в службу выставления счетов, чтобы передать адрес для выставления счетов из профиля пользователя, чтобы эта служба выставления счетов могла его сохранить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990980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err="1" smtClean="0">
                <a:solidFill>
                  <a:srgbClr val="004892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. </a:t>
            </a: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Smart endpoints and dumb pipes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Существует две основные формы связи между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микросервисами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которые необходимо решить для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Публикация / подписка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архитектура на основе событий, в которой одна служба неявно вызывает другую службу, которая отслеживала событие. Например, когда новый пользователь создает учетную запись, пользовательская служба публикует это событие регистрации нового пользователя, и служба электронной почты, которая его отслеживает, отправляет электронное письмо пользователю с просьбой подтвердить свою электронную почту.</a:t>
            </a:r>
          </a:p>
        </p:txBody>
      </p:sp>
    </p:spTree>
    <p:extLst>
      <p:ext uri="{BB962C8B-B14F-4D97-AF65-F5344CB8AC3E}">
        <p14:creationId xmlns:p14="http://schemas.microsoft.com/office/powerpoint/2010/main" val="172506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3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. </a:t>
            </a: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Smart endpoints and dumb </a:t>
            </a: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pipes</a:t>
            </a: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. Пример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pic>
        <p:nvPicPr>
          <p:cNvPr id="1026" name="Picture 2" descr="https://miro.medium.com/max/700/1*RiyNOzdq2ly9TTibRsxmp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250" y="1980000"/>
            <a:ext cx="6667500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496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err="1" smtClean="0">
                <a:solidFill>
                  <a:srgbClr val="004892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. </a:t>
            </a: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Smart endpoints and dumb </a:t>
            </a: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pipes</a:t>
            </a: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. </a:t>
            </a: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Пример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Когда пользователь регистрируется для создания учетной записи, его клиент отправляет запрос POST к конечной точке API, чтобы отправить серверному API базовую информацию о профиле, такую ​​как имя, пароль, адрес электронной почты и т. д. Поскольку это архитектура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микросервисов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этот первоначальный запрос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создает исходящие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вызовы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 нескольким серверным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микросервисам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,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которые обрабатывают базовые функции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Существует основная служба метаданных пользователя, в которой хранится основная информация о профиле, и служба паролей, которая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хеширует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открытый текст пароля и сохраняет его для последующего сравнения при входе пользователя в систему. зарегистрироваться. Один отправляет пользователю электронное письмо с просьбой щелкнуть ссылку, чтобы подтвердить свой адрес электронной почты, а другой начинает поиск друзей, которых можно порекомендовать пользователю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228141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err="1" smtClean="0">
                <a:solidFill>
                  <a:srgbClr val="004892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. </a:t>
            </a: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Smart endpoints and dumb </a:t>
            </a: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pipes</a:t>
            </a: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. </a:t>
            </a: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Пример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Два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первоначальных запроса на сохранение информации о профиле и пароля являются явным обменом запросами и ответами. Конечная точка регистрации пользователя не может вернуть клиенту ответ 200 OK, пока обе эти части данных не будут сохранены в серверной части. С другой стороны, клиенту не нужно ждать, пока будет отправлено письмо с подтверждением или будут созданы рекомендации друзей. Для этих двух функций лучше иметь шаблон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подписки,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 котором серверные службы отслеживают событие регистрации пользователя и запускаются асинхронно.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Понимание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того, где и когда использовать модель «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запрос/ответ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» по сравнению с моделью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«публикация/подписка»,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является ключом к разработке эффективного взаимодействия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микросервисов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57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err="1" smtClean="0">
                <a:solidFill>
                  <a:srgbClr val="004892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. </a:t>
            </a: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Smart endpoints and dumb </a:t>
            </a: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pipes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Построение сложной централизованной коммуникационной шины, которая запускает логику для маршрутизации сообщений и управления ими, является архитектурной ловушкой, которая впоследствии может вызвать проблемы. Вместо этого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предпочитают децентрализованный подход: сервисы используют тупые каналы для передачи сообщений от одной конечной точки к другой конечной точке.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На первый взгляд схема центральной шины может показаться менее пугающей, чем сеть множества прямых соединений, возникающих при децентрализованном взаимодействии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микросервисов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Однако важно учитывать, что тот же самый клубок соединений все еще существует в центральной шине. Фактически, все эти коммуникационные пути теперь встроены в один монолитный компонент. Этот центральный монолит имеет тенденцию становиться чрезмерно сложным и может стать узким местом как с точки зрения производительности, так и с инженерной точки зрения.</a:t>
            </a:r>
          </a:p>
        </p:txBody>
      </p:sp>
    </p:spTree>
    <p:extLst>
      <p:ext uri="{BB962C8B-B14F-4D97-AF65-F5344CB8AC3E}">
        <p14:creationId xmlns:p14="http://schemas.microsoft.com/office/powerpoint/2010/main" val="2197949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err="1" smtClean="0">
                <a:solidFill>
                  <a:srgbClr val="004892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. </a:t>
            </a: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Smart endpoints and dumb </a:t>
            </a:r>
            <a:r>
              <a:rPr lang="en-US" sz="2000" spc="-1" dirty="0" smtClean="0">
                <a:solidFill>
                  <a:srgbClr val="004892"/>
                </a:solidFill>
                <a:latin typeface="Montserrat"/>
              </a:rPr>
              <a:t>pipes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Децентрализованные коммуникации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микросервисов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позволяют командам инженеров выполнять параллельную работу на разных границах архитектуры, не нарушая работу других компонентов. Если каждая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микрослужба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рассматривает другие службы как внешние ресурсы без различия между внутренними службами и сторонними ресурсами, это означает, что каждая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микрослужба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инкапсулирует собственную логику для форматирования своих исходящих ответов или дополнения своих входящих запросов. Это позволяет командам независимо добавлять функции или изменять существующие функции без необходимости изменения центральной шины. Масштабирование связи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микрослужбы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также децентрализовано, поэтому каждая служба может иметь собственный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балансировщик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нагрузки и логику масштабирования.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258614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err="1" smtClean="0">
                <a:solidFill>
                  <a:srgbClr val="004892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. </a:t>
            </a: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Design for failure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Концепция «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Design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for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failure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» часто используется для описания подхода, который предполагает, что где-то и когда-то произойдет сбой оборудования или системы, и вместо того, чтобы проектировать аппаратную и серверную кластеризацию и доступность, проектировать приложения так, чтобы восстановление могло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выполняется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быстро.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Приложения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могли аккуратно обрабатывать перерывы в обслуживании и восстанавливать для продолжения обслуживания клиентов.</a:t>
            </a:r>
          </a:p>
        </p:txBody>
      </p:sp>
    </p:spTree>
    <p:extLst>
      <p:ext uri="{BB962C8B-B14F-4D97-AF65-F5344CB8AC3E}">
        <p14:creationId xmlns:p14="http://schemas.microsoft.com/office/powerpoint/2010/main" val="2890979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err="1" smtClean="0">
                <a:solidFill>
                  <a:srgbClr val="004892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. Децентрализация данных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микросервисной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архитектуре общей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базы данных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нет. Как правило, каждый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микросервис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имеет собственную БД.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Преимущества: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разные типы БД под разные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микросервисы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Недостатки: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необходимость в постоянной синхронизации данных.</a:t>
            </a:r>
          </a:p>
          <a:p>
            <a:pPr algn="just">
              <a:lnSpc>
                <a:spcPct val="100000"/>
              </a:lnSpc>
            </a:pPr>
            <a:endParaRPr lang="ru-RU" sz="2000" spc="-1" dirty="0" smtClean="0">
              <a:solidFill>
                <a:srgbClr val="262626"/>
              </a:solidFill>
              <a:latin typeface="Montserrat"/>
            </a:endParaRP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Процесс синхронизации сложен и долог, поэтому, зачастую, идет частичный или полный отказ от согласованности.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algn="just">
              <a:lnSpc>
                <a:spcPct val="100000"/>
              </a:lnSpc>
            </a:pP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727865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err="1" smtClean="0">
                <a:solidFill>
                  <a:srgbClr val="004892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. </a:t>
            </a: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Преимущества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не являются волшебной палочкой, но они решают ряд проблем, с которыми сталкиваются растущие компании при развитии ПО. Поскольку архитектура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микросервисов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состоит из независимо работающих модулей, каждую службу можно разрабатывать, обновлять, развертывать и масштабировать отдельно от остальных. Обновления можно выполнять чаще, повышая надежность, время бесперебойной работы и производительность программного обеспечения.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Например, если для монолитного решения обновления выпускались, скажем, раз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 неделю,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то для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микросерверного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приложения можно и до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двух-трех раз в день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Кроме того,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упрощают для команд обновление кода и ускоряют циклы релиза благодаря </a:t>
            </a:r>
            <a:r>
              <a:rPr lang="ru-RU" sz="2000" i="1" spc="-1" dirty="0">
                <a:solidFill>
                  <a:srgbClr val="262626"/>
                </a:solidFill>
                <a:latin typeface="Montserrat"/>
              </a:rPr>
              <a:t>непрерывной интеграции и непрерывной поставке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(CI/CD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).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96768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err="1" smtClean="0">
                <a:solidFill>
                  <a:srgbClr val="004892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. </a:t>
            </a: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могут сделать процесс разработки сложнее и привести к его разрастанию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быстрому и неуправляемому росту. Иногда бывает сложно определить, как различные компоненты связаны друг с другом, кто владеет конкретным программным компонентом или как избежать вмешательства в работу зависимых компонентов.</a:t>
            </a:r>
          </a:p>
        </p:txBody>
      </p:sp>
    </p:spTree>
    <p:extLst>
      <p:ext uri="{BB962C8B-B14F-4D97-AF65-F5344CB8AC3E}">
        <p14:creationId xmlns:p14="http://schemas.microsoft.com/office/powerpoint/2010/main" val="1088744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 err="1">
                <a:solidFill>
                  <a:srgbClr val="004892"/>
                </a:solidFill>
                <a:latin typeface="Montserrat"/>
              </a:rPr>
              <a:t>Микросервисы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 err="1" smtClean="0">
                <a:solidFill>
                  <a:srgbClr val="004892"/>
                </a:solidFill>
                <a:latin typeface="Montserrat"/>
              </a:rPr>
              <a:t>Микросервисы</a:t>
            </a: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. </a:t>
            </a:r>
            <a:r>
              <a:rPr lang="ru-RU" sz="2000" spc="-1" dirty="0" smtClean="0">
                <a:solidFill>
                  <a:srgbClr val="004892"/>
                </a:solidFill>
                <a:latin typeface="Montserrat"/>
              </a:rPr>
              <a:t>Недостатки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Выделяют следующие недостатки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микросервисов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Высокая сложность эксплуатации: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нужно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много вложить в сильную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DevOps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-культуру;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использование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многочисленных технологий и библиотек может выйти из-под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контроля;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нужно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аккуратно управлять изменениями входных/выходных API, потому что эти интерфейсы будут использовать многие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приложения;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использование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«согласованности в конечном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счете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» 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eventual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consistency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 может привести к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серьезным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последствиям, которые нужно учитывать при разработке приложения, от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бэкенда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до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UX;</a:t>
            </a:r>
            <a:endParaRPr lang="ru-RU" sz="2000" spc="-1" dirty="0">
              <a:solidFill>
                <a:srgbClr val="262626"/>
              </a:solidFill>
              <a:latin typeface="Montserrat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тестирование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усложняется, потому что изменения в интерфейсе могут непредсказуемо влиять на другие сервисы.</a:t>
            </a:r>
          </a:p>
        </p:txBody>
      </p:sp>
    </p:spTree>
    <p:extLst>
      <p:ext uri="{BB962C8B-B14F-4D97-AF65-F5344CB8AC3E}">
        <p14:creationId xmlns:p14="http://schemas.microsoft.com/office/powerpoint/2010/main" val="229384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2160000"/>
            <a:ext cx="10080000" cy="9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DevOps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998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DevOps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DevOps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DevOps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(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development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&amp;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operations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методология автоматизации технологических процессов сборки, настройки 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развертывания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программного обеспечения. Методология предполагает активное взаимодействие специалистов по разработке со специалистами по информационно-технологическому обслуживанию и взаимную интеграцию их технологических процессов друг в друга для обеспечения высокого качества программного продукта. Предназначена для </a:t>
            </a:r>
            <a:r>
              <a:rPr lang="ru-RU" sz="2000" b="1" spc="-1" dirty="0">
                <a:solidFill>
                  <a:srgbClr val="262626"/>
                </a:solidFill>
                <a:latin typeface="Montserrat"/>
              </a:rPr>
              <a:t>эффективной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организации создания и обновления программных продуктов и услуг. Основана на идее тесной взаимозависимости создания продукта и эксплуатации программного обеспечения, которая прививается команде как культура создания продукта.</a:t>
            </a:r>
            <a:endParaRPr lang="ru-RU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32253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DevOps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DevOps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DevOps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-движение возникло в 2008 году и было призвано решить накопившиеся проблемы. Очень много компаний видели проблему во взаимодействиях команд разработки и эксплуатации.</a:t>
            </a:r>
          </a:p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Разработчики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считали, что если код запустился у них локально, то нет проблем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можно запускать в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продакшен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Если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все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же проблемы возникали, то со стороны команды эксплуатации звучало: «Да это проблемы с кодом, пусть разработчики разбираются». Из-за такого подхода релизы продуктов постоянно затягивались и зачастую страдало качество конечного продукта. Сильно накладывало отпечаток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еще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 то, что за один релиз выкатывалось очень много изменений и было очень трудно разобраться, что же породило проблемы на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продакшене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72320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DevOps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DevOps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DevOps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был призван решить эти проблемы. Он должен был стать связующим звеном между командой разработки и командой эксплуатации. Условно, в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DevOps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культуре можно выделить несколько ролей, которые очень хорошо соотносятся с профессиями: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Build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Engineer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человек, отвечающий за сборку кода. Подтягивание зависимостей, разбор конфликтов в коде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это все про него.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Release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Engineer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отвечает за доставку кода от разработки в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продакшн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Какая ветка пойдет в тестирование, какой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билд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попадет на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продакшн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релиз-инженер занимается именно этим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Automation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Engineer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инженер по автоматизации. Автоматизирует все, что движется. А что не движется, двигает и тоже автоматизирует. Автоматическая сборка при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пуше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в гит, прогон тестов,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деплой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на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staging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деплой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в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продакшн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это все его задачи. Ключевая роль в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DevOps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подходе.</a:t>
            </a:r>
            <a:endParaRPr lang="ru-RU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813907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DevOps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DevOps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Какими стартовыми знаниями должен обладать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DevOps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-специалист: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Senior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Middle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)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System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 smtClean="0">
                <a:solidFill>
                  <a:srgbClr val="262626"/>
                </a:solidFill>
                <a:latin typeface="Montserrat"/>
              </a:rPr>
              <a:t>Administrator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 Идея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 том, что вы должны на хорошем уровне разбираться в среде, в которой будут работать ваши приложения. Как они стартуют (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init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systemd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), что делать, если вы видите ошибку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too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many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open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files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, использовать или не использовать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swap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 Все это очень сильно пригодится, когда вы будете запускать реальные проекты.</a:t>
            </a:r>
            <a:endParaRPr lang="ru-RU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444530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DevOps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DevOps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Какими стартовыми знаниями должен обладать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DevOps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-специалист: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Networking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CCNA. Очень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важная вещь, хотя про это забывают многие разработчики.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Нельзя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писать онлайн-сервисы, не понимая, как работает сеть. Никто не говорит, что надо заучивать семь уровней модели OSI, но точно потребуется знать, как работает IP, TCP/UDP и, конечно, протокол уровня приложения –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например, HTTP, HTTP/2. Это сохранит вам кучу нервов выискивая причины ошибки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Connection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Refused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.</a:t>
            </a:r>
            <a:endParaRPr lang="ru-RU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79511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DevOps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DevOps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Какими стартовыми знаниями должен обладать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DevOps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-специалист: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262626"/>
                </a:solidFill>
                <a:latin typeface="Montserrat"/>
              </a:rPr>
              <a:t>Junior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Developer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 Вы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должны представлять, как пишется код, что такое ООП, что такое потоки 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еще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кучу разных вещей. В общем, чем больше у вас знаний в этом пункте, тем легче вам будет собрать и выкатить приложение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. </a:t>
            </a:r>
            <a:r>
              <a:rPr lang="ru-RU" sz="2000" spc="-1" smtClean="0">
                <a:solidFill>
                  <a:srgbClr val="262626"/>
                </a:solidFill>
                <a:latin typeface="Montserrat"/>
              </a:rPr>
              <a:t>И тут может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возникнуть возражение,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типа «код должен писать разработчик». Но,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если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вы не понимаете, как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создается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программный продукт, то как вы будете автоматизировать его сборку, тестирование и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депплой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? Сможете ли вы заметить узкое место в архитектурном решении до того, как оно попадет на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продакшн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?</a:t>
            </a:r>
            <a:endParaRPr lang="ru-RU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112318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0000" y="360000"/>
            <a:ext cx="10080000" cy="72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4892"/>
                </a:solidFill>
                <a:latin typeface="Montserrat"/>
              </a:rPr>
              <a:t>DevOps</a:t>
            </a:r>
            <a:endParaRPr lang="en-US" sz="3600" spc="-1" dirty="0"/>
          </a:p>
        </p:txBody>
      </p:sp>
      <p:pic>
        <p:nvPicPr>
          <p:cNvPr id="87" name="Рисунок 7"/>
          <p:cNvPicPr/>
          <p:nvPr/>
        </p:nvPicPr>
        <p:blipFill>
          <a:blip r:embed="rId2"/>
          <a:stretch/>
        </p:blipFill>
        <p:spPr>
          <a:xfrm>
            <a:off x="467280" y="6534000"/>
            <a:ext cx="1273680" cy="813960"/>
          </a:xfrm>
          <a:prstGeom prst="rect">
            <a:avLst/>
          </a:prstGeom>
          <a:ln>
            <a:noFill/>
          </a:ln>
        </p:spPr>
      </p:pic>
      <p:sp>
        <p:nvSpPr>
          <p:cNvPr id="88" name="CustomShape 2"/>
          <p:cNvSpPr/>
          <p:nvPr/>
        </p:nvSpPr>
        <p:spPr>
          <a:xfrm>
            <a:off x="2124000" y="6795720"/>
            <a:ext cx="566712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04892"/>
                </a:solidFill>
                <a:latin typeface="Montserrat"/>
              </a:rPr>
              <a:t>Ульяновский государственный технический университет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9086760" y="6795720"/>
            <a:ext cx="1275840" cy="357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4892"/>
                </a:solidFill>
                <a:latin typeface="Montserrat"/>
              </a:rPr>
              <a:t>ULSTU.RU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60000" y="1260000"/>
            <a:ext cx="10080000" cy="5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004892"/>
                </a:solidFill>
                <a:latin typeface="Montserrat"/>
              </a:rPr>
              <a:t>DevOps</a:t>
            </a:r>
            <a:endParaRPr lang="ru-RU" sz="2000" spc="-1" dirty="0">
              <a:solidFill>
                <a:srgbClr val="004892"/>
              </a:solidFill>
              <a:latin typeface="Montserrat Bold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360000" y="1980000"/>
            <a:ext cx="10080000" cy="324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Какими стартовыми знаниями должен обладать </a:t>
            </a:r>
            <a:r>
              <a:rPr lang="en-US" sz="2000" spc="-1" dirty="0" smtClean="0">
                <a:solidFill>
                  <a:srgbClr val="262626"/>
                </a:solidFill>
                <a:latin typeface="Montserrat"/>
              </a:rPr>
              <a:t>DevOps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-специалист: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Junior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DBA (администратор баз данных). Поскольку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все текущие проекты в любом случае используют базы данных, было бы неплохо уметь писать SQL запросы, использовать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explain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 и понимать, как работают и зачем нужны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индексы. </a:t>
            </a:r>
            <a:r>
              <a:rPr lang="ru-RU" sz="2000" spc="-1" dirty="0">
                <a:solidFill>
                  <a:srgbClr val="262626"/>
                </a:solidFill>
                <a:latin typeface="Montserrat"/>
              </a:rPr>
              <a:t>Ну и до кучи </a:t>
            </a:r>
            <a:r>
              <a:rPr lang="ru-RU" sz="2000" spc="-1" dirty="0" smtClean="0">
                <a:solidFill>
                  <a:srgbClr val="262626"/>
                </a:solidFill>
                <a:latin typeface="Montserrat"/>
              </a:rPr>
              <a:t>знать о популярных </a:t>
            </a:r>
            <a:r>
              <a:rPr lang="ru-RU" sz="2000" spc="-1" dirty="0" err="1">
                <a:solidFill>
                  <a:srgbClr val="262626"/>
                </a:solidFill>
                <a:latin typeface="Montserrat"/>
              </a:rPr>
              <a:t>NoSQL</a:t>
            </a:r>
            <a:r>
              <a:rPr lang="ru-RU" sz="2000" spc="-1">
                <a:solidFill>
                  <a:srgbClr val="262626"/>
                </a:solidFill>
                <a:latin typeface="Montserrat"/>
              </a:rPr>
              <a:t> </a:t>
            </a:r>
            <a:r>
              <a:rPr lang="ru-RU" sz="2000" spc="-1" smtClean="0">
                <a:solidFill>
                  <a:srgbClr val="262626"/>
                </a:solidFill>
                <a:latin typeface="Montserrat"/>
              </a:rPr>
              <a:t>решениях.</a:t>
            </a:r>
            <a:endParaRPr lang="ru-RU" sz="2000" spc="-1" dirty="0" smtClean="0">
              <a:solidFill>
                <a:srgbClr val="262626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986427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581040" y="800280"/>
            <a:ext cx="8048160" cy="2297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>
                <a:solidFill>
                  <a:srgbClr val="004892"/>
                </a:solidFill>
                <a:latin typeface="Montserrat Bold"/>
              </a:rPr>
              <a:t>Спасибо за внимание!</a:t>
            </a:r>
            <a:endParaRPr lang="en-US" sz="4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173277"/>
                </a:solidFill>
                <a:latin typeface="Montserrat"/>
              </a:rPr>
              <a:t>2022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104" name="Рисунок 2"/>
          <p:cNvPicPr/>
          <p:nvPr/>
        </p:nvPicPr>
        <p:blipFill>
          <a:blip r:embed="rId2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105" name="CustomShape 3"/>
          <p:cNvSpPr/>
          <p:nvPr/>
        </p:nvSpPr>
        <p:spPr>
          <a:xfrm>
            <a:off x="581040" y="1833480"/>
            <a:ext cx="8048160" cy="22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b="0" strike="noStrike" spc="-1" dirty="0">
                <a:solidFill>
                  <a:srgbClr val="004892"/>
                </a:solidFill>
                <a:latin typeface="Montserrat"/>
              </a:rPr>
              <a:t>Рады видеть Вас на наших мероприятиях!</a:t>
            </a:r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noFill/>
        </a:ln>
      </a:spPr>
      <a:bodyPr>
        <a:noAutofit/>
      </a:bodyPr>
      <a:lstStyle>
        <a:defPPr>
          <a:lnSpc>
            <a:spcPct val="100000"/>
          </a:lnSpc>
          <a:defRPr sz="1400" b="0" strike="noStrike" spc="-1">
            <a:solidFill>
              <a:srgbClr val="004892"/>
            </a:solidFill>
            <a:latin typeface="Montserrat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6328</TotalTime>
  <Words>5596</Words>
  <Application>Microsoft Office PowerPoint</Application>
  <PresentationFormat>Custom</PresentationFormat>
  <Paragraphs>497</Paragraphs>
  <Slides>75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6" baseType="lpstr">
      <vt:lpstr>Arial</vt:lpstr>
      <vt:lpstr>Calibri</vt:lpstr>
      <vt:lpstr>DejaVu Sans</vt:lpstr>
      <vt:lpstr>Geometria  bold</vt:lpstr>
      <vt:lpstr>Geometria light</vt:lpstr>
      <vt:lpstr>Montserrat</vt:lpstr>
      <vt:lpstr>Montserrat Bold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Результаты приемной  кампании - 2019</dc:title>
  <dc:subject/>
  <dc:creator>afsafasfasfa afafaf</dc:creator>
  <dc:description/>
  <cp:lastModifiedBy>Evgenii Egov</cp:lastModifiedBy>
  <cp:revision>568</cp:revision>
  <dcterms:created xsi:type="dcterms:W3CDTF">2019-09-16T12:04:13Z</dcterms:created>
  <dcterms:modified xsi:type="dcterms:W3CDTF">2022-10-20T08:23:06Z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Произвольный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5</vt:i4>
  </property>
</Properties>
</file>