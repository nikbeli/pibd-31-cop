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69" r:id="rId3"/>
    <p:sldId id="271" r:id="rId4"/>
    <p:sldId id="318" r:id="rId5"/>
    <p:sldId id="321" r:id="rId6"/>
    <p:sldId id="322" r:id="rId7"/>
    <p:sldId id="323" r:id="rId8"/>
    <p:sldId id="342" r:id="rId9"/>
    <p:sldId id="324" r:id="rId10"/>
    <p:sldId id="326" r:id="rId11"/>
    <p:sldId id="325" r:id="rId12"/>
    <p:sldId id="327" r:id="rId13"/>
    <p:sldId id="343" r:id="rId14"/>
    <p:sldId id="344" r:id="rId15"/>
    <p:sldId id="345" r:id="rId16"/>
    <p:sldId id="349" r:id="rId17"/>
    <p:sldId id="347" r:id="rId18"/>
    <p:sldId id="348" r:id="rId19"/>
    <p:sldId id="346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6" r:id="rId44"/>
    <p:sldId id="374" r:id="rId45"/>
    <p:sldId id="375" r:id="rId46"/>
    <p:sldId id="373" r:id="rId47"/>
    <p:sldId id="377" r:id="rId48"/>
    <p:sldId id="378" r:id="rId49"/>
    <p:sldId id="379" r:id="rId50"/>
    <p:sldId id="380" r:id="rId51"/>
    <p:sldId id="381" r:id="rId52"/>
    <p:sldId id="382" r:id="rId53"/>
    <p:sldId id="260" r:id="rId54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9F7A72-7903-4791-9B02-03B0CC4EBD96}">
          <p14:sldIdLst>
            <p14:sldId id="256"/>
          </p14:sldIdLst>
        </p14:section>
        <p14:section name="Порождающие паттерны" id="{E08CC9DD-223C-4625-B723-68B607D9346D}">
          <p14:sldIdLst>
            <p14:sldId id="269"/>
            <p14:sldId id="271"/>
            <p14:sldId id="318"/>
          </p14:sldIdLst>
        </p14:section>
        <p14:section name="Abstract Factory" id="{050786E3-E017-40FE-A3B2-D2F9F983019C}">
          <p14:sldIdLst>
            <p14:sldId id="321"/>
            <p14:sldId id="322"/>
            <p14:sldId id="323"/>
            <p14:sldId id="342"/>
            <p14:sldId id="324"/>
            <p14:sldId id="326"/>
            <p14:sldId id="325"/>
            <p14:sldId id="327"/>
            <p14:sldId id="343"/>
          </p14:sldIdLst>
        </p14:section>
        <p14:section name="Builder" id="{B1116924-06E3-48B5-9F0E-BBE140DC726D}">
          <p14:sldIdLst>
            <p14:sldId id="344"/>
            <p14:sldId id="345"/>
            <p14:sldId id="349"/>
            <p14:sldId id="347"/>
            <p14:sldId id="348"/>
            <p14:sldId id="346"/>
            <p14:sldId id="350"/>
            <p14:sldId id="351"/>
            <p14:sldId id="352"/>
          </p14:sldIdLst>
        </p14:section>
        <p14:section name="Factory Method" id="{FFBDFD64-0215-427B-9528-B2433F264553}">
          <p14:sldIdLst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  <p14:section name="Prototype" id="{9E6DCAF6-0312-4360-B9D0-D4E60FC75171}">
          <p14:sldIdLst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Singleton" id="{21682C70-E0BB-48DE-85D8-6F9F387AD6B6}">
          <p14:sldIdLst>
            <p14:sldId id="371"/>
            <p14:sldId id="372"/>
            <p14:sldId id="376"/>
            <p14:sldId id="374"/>
            <p14:sldId id="375"/>
            <p14:sldId id="373"/>
            <p14:sldId id="377"/>
            <p14:sldId id="378"/>
            <p14:sldId id="379"/>
          </p14:sldIdLst>
        </p14:section>
        <p14:section name="ObjectPool" id="{78B2A1B6-1F3A-4755-8657-1DB834281A60}">
          <p14:sldIdLst>
            <p14:sldId id="380"/>
            <p14:sldId id="381"/>
            <p14:sldId id="382"/>
          </p14:sldIdLst>
        </p14:section>
        <p14:section name="Завершение" id="{57706748-57AD-45AB-9FB3-1B9A00E91AB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9156D-793D-4199-AAB2-E661653C6D60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22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884F-4143-43AF-878B-33CC48EE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9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1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6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46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3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8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03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27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54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18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71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4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62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60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21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03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37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85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06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8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07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17.11.2022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60000" y="719999"/>
            <a:ext cx="10080000" cy="9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800" spc="-1" dirty="0">
                <a:solidFill>
                  <a:srgbClr val="004892"/>
                </a:solidFill>
                <a:latin typeface="Montserrat Bold"/>
              </a:rPr>
              <a:t>Лекция </a:t>
            </a:r>
            <a:r>
              <a:rPr lang="en-US" sz="4800" spc="-1" dirty="0" smtClean="0">
                <a:solidFill>
                  <a:srgbClr val="004892"/>
                </a:solidFill>
                <a:latin typeface="Montserrat Bold"/>
              </a:rPr>
              <a:t>06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3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Порождающие паттерны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Abstract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Factory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Builder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Factory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Method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Prototype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Singleton</a:t>
            </a: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Object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Pool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*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Порождающие паттерны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9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Порождающие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Порождающие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Порождающие паттерны проектирования предназначены для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создания объектов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позволяя системе оставаться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независимой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как от самого процесса порождения, так и от типов порождаемых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40595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Порождающие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Порождающие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Abstract Factory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Builder </a:t>
            </a:r>
            <a:endParaRPr lang="en-US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Factory Method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Prototype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Singleton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Object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Pool*</a:t>
            </a:r>
            <a:endParaRPr lang="en-US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3281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487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Абстрактная фабрика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предоставляет интерфейс для создания семейств взаимосвязанных объектов с определенными интерфейсами без указания конкретных типов данных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Абстрактная фабрика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система не должна зависеть от способа создания и компоновки новых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создаваемые объекты должны использоваться вместе и являются взаимосвязанными.</a:t>
            </a:r>
          </a:p>
        </p:txBody>
      </p:sp>
    </p:spTree>
    <p:extLst>
      <p:ext uri="{BB962C8B-B14F-4D97-AF65-F5344CB8AC3E}">
        <p14:creationId xmlns:p14="http://schemas.microsoft.com/office/powerpoint/2010/main" val="229847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AbstractProductA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AbstractProductB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абстрактные классы, определяющие интерфейс для классов, объекты которых будут создаваться в программе.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ProductA1 / ProductA2 и ProductB1 / ProductB2: конкретные классы, представляющие конкретную реализацию абстрактных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абстрактный класс фабрики, определяющий методы для создания объектов. Причем методы возвращают абстрактные продукты, а не их конкретные реализации.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ConcreteFactory1 и ConcreteFactory2: конкретные классы фабрик, реализующие абстрактные методы базового класса и непосредственно определяют какие конкретные продукты использовать.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класс клиента, использующий класс фабрики для создания объектов. При этом он использует исключительно абстрактный класс фабрики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абстрактные классы продуктов AbstractProductA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AbstractProductB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никак не зависит от их конкретных реализаций.</a:t>
            </a:r>
          </a:p>
        </p:txBody>
      </p:sp>
    </p:spTree>
    <p:extLst>
      <p:ext uri="{BB962C8B-B14F-4D97-AF65-F5344CB8AC3E}">
        <p14:creationId xmlns:p14="http://schemas.microsoft.com/office/powerpoint/2010/main" val="346648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60" y="1703761"/>
            <a:ext cx="7407460" cy="462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8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882" y="1337133"/>
            <a:ext cx="8326012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9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AbstractProductA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AbstractProductB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AbstractWeapon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AbstractMovement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Абстрактный класс, описывающий оружие в игре. Абстрактный класс, описывающий перемещение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игре.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ProductA1 / ProductA2 и ProductB1 / ProductB2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Arbalet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/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Sword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FlyMovement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/  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RunMovement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Класс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описывающий оружие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арбалет. Класс, описывающий оружие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меч. Класс, описывающий перемещение по воздуху. Класс, описывающий перемещение по земле (бег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AbstractFactory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AbstractHeroFactory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Абстрактный класс, описывающий героя.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ConcreteFactory1 и ConcreteFactory2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AngelFactory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WarriorFactory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перемещение героя-ангела, умеющего летать и стрелять из арбалета. Класс, описывающий перемещение героя-воина, умеющего бегать и драться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мечом.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Hero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героя игры.</a:t>
            </a:r>
          </a:p>
        </p:txBody>
      </p:sp>
    </p:spTree>
    <p:extLst>
      <p:ext uri="{BB962C8B-B14F-4D97-AF65-F5344CB8AC3E}">
        <p14:creationId xmlns:p14="http://schemas.microsoft.com/office/powerpoint/2010/main" val="287347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65" y="1709206"/>
            <a:ext cx="2343415" cy="9273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65" y="2701525"/>
            <a:ext cx="2817873" cy="935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65" y="3766643"/>
            <a:ext cx="2677055" cy="10624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283" y="1696297"/>
            <a:ext cx="2622782" cy="9531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7498" y="2830894"/>
            <a:ext cx="3858195" cy="1014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2462" y="3965748"/>
            <a:ext cx="3846603" cy="1015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241" y="4959033"/>
            <a:ext cx="1380960" cy="1595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6296" y="1552983"/>
            <a:ext cx="2426304" cy="15249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3073" y="3225475"/>
            <a:ext cx="3740839" cy="13603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0878" y="4945535"/>
            <a:ext cx="3612896" cy="1429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5794" y="5268553"/>
            <a:ext cx="802391" cy="807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88499" y="2008158"/>
            <a:ext cx="3655032" cy="4525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586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1"/>
            <a:ext cx="2874088" cy="17273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123" y="1337495"/>
            <a:ext cx="2980810" cy="17914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55" y="2474331"/>
            <a:ext cx="2980810" cy="1791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3388" y="3739296"/>
            <a:ext cx="2980810" cy="17914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9886" y="1337494"/>
            <a:ext cx="2980810" cy="17914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1901" y="2474331"/>
            <a:ext cx="2980810" cy="17914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9933" y="3739296"/>
            <a:ext cx="2980810" cy="179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Abstract Factory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Гарантирует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сочетаемость создаваемых продуктов.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Избавляет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клиентский код от привязки к конкретным классам продуктов.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Выделяет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производства продуктов в одно место, упрощая поддержку кода.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добавление новых продуктов в программу.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множества дополнительных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Требует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наличия всех типов продуктов в каждой вариации.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0815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729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Строитель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шаблон проектирования, который инкапсулирует создание объекта и позволяет разделить его на различные этапы.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Строитель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процесс создания нового объекта не должен зависеть от того, из каких частей этот объект состоит и как эти части связаны между собой.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обеспечить получение различных вариаций объекта в процессе его создания.</a:t>
            </a:r>
          </a:p>
        </p:txBody>
      </p:sp>
    </p:spTree>
    <p:extLst>
      <p:ext uri="{BB962C8B-B14F-4D97-AF65-F5344CB8AC3E}">
        <p14:creationId xmlns:p14="http://schemas.microsoft.com/office/powerpoint/2010/main" val="61442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Product: представляет объект, который должен быть создан. В данном случае все части объекта заключены в списке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parts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определяет интерфейс для создания различных частей объекта Product.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конкретная реализация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Buildera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Создает объект Product и определяет интерфейс для доступа к нему.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Director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распорядитель - создает объект, используя объекты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60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00" y="1653456"/>
            <a:ext cx="7210739" cy="450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875" y="1755492"/>
            <a:ext cx="5992061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8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Product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Robot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Класс, описывающий робота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ComponentA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,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ComponentB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: Body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,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Foot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Hand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тело с батареей и местом для перевоза груза. Класс, описывающий ногу, которая может перемещаться вперед/назад. Класс, описывающий руку, которая может брать и отдавать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предмет.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RobotBuilder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Класс-построитель робота.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ConcreteBuilder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ScoutRobotBuilder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TransporterRobotBuilder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создающий робота-разведчика. Класс, создающий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робота-перевозчика.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Director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RobotFactory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Класс, описывающий завод, производящий роботов.</a:t>
            </a:r>
          </a:p>
        </p:txBody>
      </p:sp>
    </p:spTree>
    <p:extLst>
      <p:ext uri="{BB962C8B-B14F-4D97-AF65-F5344CB8AC3E}">
        <p14:creationId xmlns:p14="http://schemas.microsoft.com/office/powerpoint/2010/main" val="323964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567" y="808907"/>
            <a:ext cx="3365034" cy="59088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669" y="1891682"/>
            <a:ext cx="2401526" cy="16861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844" y="3817323"/>
            <a:ext cx="2349571" cy="2660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97" y="1883115"/>
            <a:ext cx="3076374" cy="42111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3214" y="1080000"/>
            <a:ext cx="2646455" cy="3421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0751" y="4344274"/>
            <a:ext cx="2489129" cy="1917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088" y="4297860"/>
            <a:ext cx="2751006" cy="19185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3919" y="1439558"/>
            <a:ext cx="2718169" cy="11829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36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1800000"/>
            <a:ext cx="3411701" cy="20763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8316" y="2340000"/>
            <a:ext cx="3621330" cy="22039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87" y="2943022"/>
            <a:ext cx="3409574" cy="20750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8614" y="3763961"/>
            <a:ext cx="3494520" cy="21267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1095" y="4731164"/>
            <a:ext cx="3433717" cy="2089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5061" y="1424996"/>
            <a:ext cx="4008532" cy="24395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4170" y="2724684"/>
            <a:ext cx="3813835" cy="23210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7591" y="4144203"/>
            <a:ext cx="3613267" cy="21990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1391" y="4721981"/>
            <a:ext cx="3419461" cy="208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1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Builder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создавать продукты пошагово.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использовать один и тот же код для создания различных продуктов.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Изолирует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сложный код сборки продукта от его основной бизнес-логики.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дополнительных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Клиент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будет привязан к конкретным классам строителей, так как в интерфейсе директора может не быть метода получения результата.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670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59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Фабричный метод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Factory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Method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паттерн, который определяет интерфейс для создания объектов некоторого класса, но непосредственное решение о том, объект какого класса создавать происходит в подклассах. То есть паттерн предполагает, что базовый класс делегирует создание объектов классам-наследникам.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Фабричный метод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заранее неизвестно, объекты каких типов необходимо создавать.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система должна быть независимой от процесса создания новых объектов и расширяемой: в нее можно легко вводить новые классы, объекты которых система должна создавать.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создание новых объектов необходимо делегировать из базового класса классам наследникам.</a:t>
            </a:r>
          </a:p>
        </p:txBody>
      </p:sp>
    </p:spTree>
    <p:extLst>
      <p:ext uri="{BB962C8B-B14F-4D97-AF65-F5344CB8AC3E}">
        <p14:creationId xmlns:p14="http://schemas.microsoft.com/office/powerpoint/2010/main" val="73081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Product: абстрактный класс, определяющий интерфейс класса, объекты которого надо создавать.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ConcreteProductA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ConcreteProductB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конкретные классы, представляющие реализацию класса Product. Таких классов может быть множество.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Creator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абстрактный класс, определяющий абстрактный фабричный метод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FactoryMethod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(), который возвращает объект Product.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ConcreteCreatorA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ConcreteCreatorB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конкретные классы-наследники класса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Creator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определяющие свою реализацию метода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FactoryMethod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(). Причем метод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FactoryMethod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 каждого отдельного класса-создателя возвращает определенный конкретный тип продукта. Для каждого конкретного класса продукта определяется свой конкретный класс создателя.</a:t>
            </a:r>
          </a:p>
        </p:txBody>
      </p:sp>
    </p:spTree>
    <p:extLst>
      <p:ext uri="{BB962C8B-B14F-4D97-AF65-F5344CB8AC3E}">
        <p14:creationId xmlns:p14="http://schemas.microsoft.com/office/powerpoint/2010/main" val="281202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60" y="1879815"/>
            <a:ext cx="6900240" cy="43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0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643" y="1800000"/>
            <a:ext cx="5525271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2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Product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ITransport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Интерфейс, описывающий транспорт для перевозки грузов.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ConcreteProductA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ConcreteProductB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Truck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Ship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описывающий грузовик для перевозки грузов. Класс, описывающий корабль для перевозки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грузов.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Creator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AbstractDeliveryService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описывающий доставку заказов.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ConcreteCreatorA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ConcreteCreatorB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DeliveryByLand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DeliveryByWater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описывающий доставку заказов по земле грузовиками. Класс, описывающий доставку заказов по воде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кораблями.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627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46" y="1823146"/>
            <a:ext cx="2938931" cy="16498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2" y="2534477"/>
            <a:ext cx="2339061" cy="4244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91" y="1096280"/>
            <a:ext cx="2718392" cy="3996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983" y="901338"/>
            <a:ext cx="3497017" cy="4386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1012" y="4615016"/>
            <a:ext cx="4860479" cy="13609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5562" y="5488769"/>
            <a:ext cx="4330496" cy="1206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41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4" y="1808312"/>
            <a:ext cx="4624162" cy="23524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088" y="2682403"/>
            <a:ext cx="4893670" cy="24895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354" y="3835271"/>
            <a:ext cx="4838741" cy="246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3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Factory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Избавляет класс от привязки к конкретным классам продуктов.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Выделяет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производства продуктов в одно место, упрощая поддержку кода.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добавление новых продуктов в программу.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 привести к созданию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больших параллельных иерархий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классов, так как для каждого класса продукта надо создать свой подкласс создателя.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1827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619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Прототип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Prototype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позволяет создавать объекты на основе уже ранее созданных объектов-прототипов. То есть по сути данный паттерн предлагает технику клонирования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Прототип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конкретный тип создаваемого объекта должен определяться динамически во время выполнения.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нежелательно создание отдельной иерархии классов фабрик для создания объектов-продуктов из параллельной иерархии классов (как это делается, например, при использовании паттерна Абстрактная фабрика).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клонирование объекта является более предпочтительным вариантом нежели его создание и инициализация с помощью конструктора. Особенно когда известно, что объект может принимать небольшое ограниченное число возможных состояний.</a:t>
            </a:r>
          </a:p>
        </p:txBody>
      </p:sp>
    </p:spTree>
    <p:extLst>
      <p:ext uri="{BB962C8B-B14F-4D97-AF65-F5344CB8AC3E}">
        <p14:creationId xmlns:p14="http://schemas.microsoft.com/office/powerpoint/2010/main" val="131813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Prototype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определяет интерфейс для клонирования самого себя, который, как правило, представляет метод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Clone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ConcretePrototype1 и ConcretePrototype2: конкретные реализации прототипа. Реализуют метод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Clone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создает объекты прототипов с помощью метода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Clone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82205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216" y="1800000"/>
            <a:ext cx="7318544" cy="4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2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586" y="2303256"/>
            <a:ext cx="5296639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1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Prototype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IFigure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Интерфейс, описывающий фигуру.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ConcretePrototype1 и ConcretePrototype2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Circle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Rectangle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описывающий окружность. Класс, описывающий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прямоугольник.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Client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 </a:t>
            </a:r>
            <a:r>
              <a:rPr lang="en-US" sz="2000" spc="-1" dirty="0" err="1" smtClean="0">
                <a:solidFill>
                  <a:srgbClr val="262626"/>
                </a:solidFill>
                <a:latin typeface="Montserrat"/>
              </a:rPr>
              <a:t>FigureProvider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Класс, отвечающий за создание фигур.</a:t>
            </a:r>
          </a:p>
        </p:txBody>
      </p:sp>
    </p:spTree>
    <p:extLst>
      <p:ext uri="{BB962C8B-B14F-4D97-AF65-F5344CB8AC3E}">
        <p14:creationId xmlns:p14="http://schemas.microsoft.com/office/powerpoint/2010/main" val="172353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82" y="1899422"/>
            <a:ext cx="3595504" cy="46162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247" y="1558354"/>
            <a:ext cx="3700636" cy="49756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5987" y="2080037"/>
            <a:ext cx="1790429" cy="22787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8202" y="1190429"/>
            <a:ext cx="4131798" cy="41034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942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02" y="3524868"/>
            <a:ext cx="4566411" cy="27444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80" y="2141470"/>
            <a:ext cx="4344542" cy="261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3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Prototype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Позволяет клонировать объекты, не привязываясь к их конкретным классам.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Меньше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повторяющегося кода инициализации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Ускоряет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создание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Альтернатива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созданию подклассов для конструирования сложных объектов.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Сложно клонировать составные объекты, имеющие ссылки на другие объекты.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050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54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Одиночка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Singleton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Синглтон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порождающий паттерн, который гарантирует, что для определенного класса будет создан только один объект, а также предоставит к этому объекту точку доступа.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Одиночка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необходимо, чтобы для класса существовал только один экземпляр.</a:t>
            </a:r>
          </a:p>
          <a:p>
            <a:pPr algn="just">
              <a:lnSpc>
                <a:spcPct val="100000"/>
              </a:lnSpc>
            </a:pP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Синглтон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позволяет создать объект только при его необходимости. Если объект не нужен, то он не будет создан. В этом отличие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синглтона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от глобальных 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86967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Singleton</a:t>
            </a:r>
            <a:r>
              <a:rPr lang="ru-RU" sz="2000" spc="-1" dirty="0">
                <a:latin typeface="Montserrat"/>
              </a:rPr>
              <a:t>: класс, для которого необходимо создать только один экземпляр. У такого класса только приватные конструкторы и статичный метод, который возвращает экземпляр </a:t>
            </a:r>
            <a:r>
              <a:rPr lang="en-US" sz="2000" spc="-1" dirty="0">
                <a:latin typeface="Montserrat"/>
              </a:rPr>
              <a:t>Singleton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через вызов статичного метода получает экземпляр класса </a:t>
            </a:r>
            <a:r>
              <a:rPr lang="en-US" sz="2000" spc="-1" dirty="0">
                <a:latin typeface="Montserrat"/>
              </a:rPr>
              <a:t>Singleton</a:t>
            </a:r>
            <a:r>
              <a:rPr lang="ru-RU" sz="2000" spc="-1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84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60" y="1878872"/>
            <a:ext cx="6864025" cy="429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034" y="2165124"/>
            <a:ext cx="4429743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6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Singleton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DataListSingleton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Класс-одиночка, хранящий список объектов класса </a:t>
            </a:r>
            <a:r>
              <a:rPr lang="ru-RU" sz="2000" spc="-1" dirty="0" err="1">
                <a:latin typeface="Montserrat"/>
              </a:rPr>
              <a:t>Data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latin typeface="Montserrat"/>
              </a:rPr>
              <a:t>Client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DataStorage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описывающий работу со списком объектов класса </a:t>
            </a:r>
            <a:r>
              <a:rPr lang="ru-RU" sz="2000" spc="-1" dirty="0" err="1">
                <a:latin typeface="Montserrat"/>
              </a:rPr>
              <a:t>Data</a:t>
            </a:r>
            <a:r>
              <a:rPr lang="ru-RU" sz="2000" spc="-1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71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1980000"/>
            <a:ext cx="1889410" cy="12491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745" y="2154276"/>
            <a:ext cx="2945285" cy="402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084" y="720000"/>
            <a:ext cx="3193178" cy="59073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105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06" y="1745139"/>
            <a:ext cx="4689173" cy="2818181"/>
          </a:xfrm>
          <a:prstGeom prst="rect">
            <a:avLst/>
          </a:prstGeom>
        </p:spPr>
      </p:pic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4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589" y="3523487"/>
            <a:ext cx="4571806" cy="27225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654" y="925302"/>
            <a:ext cx="4432190" cy="26637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3406" y="2718526"/>
            <a:ext cx="4316154" cy="2593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267" y="3451971"/>
            <a:ext cx="4268560" cy="25441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1945" y="4473598"/>
            <a:ext cx="4345030" cy="26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Singleton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Гарантирует наличие единственного экземпляра класса.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Предоставляет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нему глобальную точку доступа.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отложенную инициализацию объекта-одиночки.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Нарушает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единственной ответственности класса.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Маскирует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плохой дизайн.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Проблемы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мультипоточности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Требует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постоянного создания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Mock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-объектов при юнит-тестировании.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3496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 smtClean="0">
                <a:solidFill>
                  <a:srgbClr val="004892"/>
                </a:solidFill>
                <a:latin typeface="Montserrat"/>
              </a:rPr>
              <a:t>ObjectPool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982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 smtClean="0">
                <a:solidFill>
                  <a:srgbClr val="004892"/>
                </a:solidFill>
                <a:latin typeface="Montserrat"/>
              </a:rPr>
              <a:t>ObjectPool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Пулы объектов (известны также как пулы ресурсов) используются для управления кэшированием объектов. Клиент, имеющий доступ к пулу объектов может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избежать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создания новых объектов, просто запрашивая в пуле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уже созданный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экземпляр. Пул объектов может быть растущим, когда при отсутствии свободных создаются новые объекты или c ограничением количества создаваемых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Желательно, чтобы все многократно используемые объекты, свободные в некоторый момент времени, хранились в одном и том же пуле объектов. Тогда ими можно управлять на основе единой политики. Для этого класс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Object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Pool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проектируется с помощью паттерна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Singleton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02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 smtClean="0">
                <a:solidFill>
                  <a:srgbClr val="004892"/>
                </a:solidFill>
                <a:latin typeface="Montserrat"/>
              </a:rPr>
              <a:t>ObjectPool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Применение паттерна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ObjectPool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 значительно повысить производительность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системы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Его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использование наиболее эффективно в ситуациях, когда создание экземпляров некоторого класса требует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больших затрат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объекты в системе создаются часто, но число создаваемых объектов в единицу времени ограничено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Применение паттерна оправдано, когда у объекта выделяется </a:t>
            </a:r>
            <a:r>
              <a:rPr lang="ru-RU" sz="2000" b="1" spc="-1" dirty="0" smtClean="0">
                <a:solidFill>
                  <a:srgbClr val="262626"/>
                </a:solidFill>
                <a:latin typeface="Montserrat"/>
              </a:rPr>
              <a:t>внутреннее состояние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 затраты уходят на создание именно этой части объекта.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6126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</a:spPr>
      <a:bodyPr>
        <a:noAutofit/>
      </a:bodyPr>
      <a:lstStyle>
        <a:defPPr>
          <a:lnSpc>
            <a:spcPct val="100000"/>
          </a:lnSpc>
          <a:defRPr sz="1400" b="0" strike="noStrike" spc="-1">
            <a:solidFill>
              <a:srgbClr val="004892"/>
            </a:solidFill>
            <a:latin typeface="Montserra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8873</TotalTime>
  <Words>1971</Words>
  <Application>Microsoft Office PowerPoint</Application>
  <PresentationFormat>Custom</PresentationFormat>
  <Paragraphs>342</Paragraphs>
  <Slides>53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Evgenii Egov</cp:lastModifiedBy>
  <cp:revision>721</cp:revision>
  <dcterms:created xsi:type="dcterms:W3CDTF">2019-09-16T12:04:13Z</dcterms:created>
  <dcterms:modified xsi:type="dcterms:W3CDTF">2022-11-17T16:20:58Z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